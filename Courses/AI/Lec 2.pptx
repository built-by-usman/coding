
<file path=[Content_Types].xml><?xml version="1.0" encoding="utf-8"?>
<Types xmlns="http://schemas.openxmlformats.org/package/2006/content-types">
  <Default Extension="bin" ContentType="image/unknown"/>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40"/>
  </p:notesMasterIdLst>
  <p:sldIdLst>
    <p:sldId id="315" r:id="rId2"/>
    <p:sldId id="264" r:id="rId3"/>
    <p:sldId id="316" r:id="rId4"/>
    <p:sldId id="274" r:id="rId5"/>
    <p:sldId id="276" r:id="rId6"/>
    <p:sldId id="265" r:id="rId7"/>
    <p:sldId id="317" r:id="rId8"/>
    <p:sldId id="270" r:id="rId9"/>
    <p:sldId id="342" r:id="rId10"/>
    <p:sldId id="343" r:id="rId11"/>
    <p:sldId id="321" r:id="rId12"/>
    <p:sldId id="320" r:id="rId13"/>
    <p:sldId id="319" r:id="rId14"/>
    <p:sldId id="322" r:id="rId15"/>
    <p:sldId id="323" r:id="rId16"/>
    <p:sldId id="332" r:id="rId17"/>
    <p:sldId id="324" r:id="rId18"/>
    <p:sldId id="325" r:id="rId19"/>
    <p:sldId id="333" r:id="rId20"/>
    <p:sldId id="326" r:id="rId21"/>
    <p:sldId id="327" r:id="rId22"/>
    <p:sldId id="328" r:id="rId23"/>
    <p:sldId id="329" r:id="rId24"/>
    <p:sldId id="334" r:id="rId25"/>
    <p:sldId id="335" r:id="rId26"/>
    <p:sldId id="336" r:id="rId27"/>
    <p:sldId id="337" r:id="rId28"/>
    <p:sldId id="338" r:id="rId29"/>
    <p:sldId id="339" r:id="rId30"/>
    <p:sldId id="340" r:id="rId31"/>
    <p:sldId id="341" r:id="rId32"/>
    <p:sldId id="281" r:id="rId33"/>
    <p:sldId id="330" r:id="rId34"/>
    <p:sldId id="285" r:id="rId35"/>
    <p:sldId id="286" r:id="rId36"/>
    <p:sldId id="312" r:id="rId37"/>
    <p:sldId id="313" r:id="rId38"/>
    <p:sldId id="273"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9DD2E3-6ADA-4603-80A7-2400CD488A5B}" type="datetimeFigureOut">
              <a:rPr lang="en-US" smtClean="0"/>
              <a:t>3/3/2026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B7A162-E989-4691-828A-DBCAE15BDF3C}" type="slidenum">
              <a:rPr lang="en-US" smtClean="0"/>
              <a:t>‹#›</a:t>
            </a:fld>
            <a:endParaRPr lang="en-US"/>
          </a:p>
        </p:txBody>
      </p:sp>
    </p:spTree>
    <p:extLst>
      <p:ext uri="{BB962C8B-B14F-4D97-AF65-F5344CB8AC3E}">
        <p14:creationId xmlns:p14="http://schemas.microsoft.com/office/powerpoint/2010/main" val="731895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1DC99CF0-0CAA-4932-8798-4D904B003775}" type="datetimeFigureOut">
              <a:rPr lang="en-US" smtClean="0"/>
              <a:t>3/3/2026</a:t>
            </a:fld>
            <a:endParaRPr lang="en-US"/>
          </a:p>
        </p:txBody>
      </p:sp>
      <p:sp>
        <p:nvSpPr>
          <p:cNvPr id="5" name="Footer Placeholder 4"/>
          <p:cNvSpPr>
            <a:spLocks noGrp="1"/>
          </p:cNvSpPr>
          <p:nvPr>
            <p:ph type="ftr" sz="quarter" idx="11"/>
          </p:nvPr>
        </p:nvSpPr>
        <p:spPr>
          <a:xfrm>
            <a:off x="1371600" y="4323847"/>
            <a:ext cx="6400800" cy="365125"/>
          </a:xfrm>
        </p:spPr>
        <p:txBody>
          <a:bodyPr/>
          <a:lstStyle/>
          <a:p>
            <a:endParaRPr lang="en-US"/>
          </a:p>
        </p:txBody>
      </p:sp>
      <p:sp>
        <p:nvSpPr>
          <p:cNvPr id="6" name="Slide Number Placeholder 5"/>
          <p:cNvSpPr>
            <a:spLocks noGrp="1"/>
          </p:cNvSpPr>
          <p:nvPr>
            <p:ph type="sldNum" sz="quarter" idx="12"/>
          </p:nvPr>
        </p:nvSpPr>
        <p:spPr>
          <a:xfrm>
            <a:off x="8077200" y="1430868"/>
            <a:ext cx="2743200" cy="365125"/>
          </a:xfrm>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3900771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C99CF0-0CAA-4932-8798-4D904B003775}"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3222282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2" y="753535"/>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6"/>
            <a:ext cx="10490200" cy="955675"/>
          </a:xfrm>
        </p:spPr>
        <p:txBody>
          <a:bodyPr>
            <a:normAutofit/>
          </a:bodyPr>
          <a:lstStyle>
            <a:lvl1pPr marL="0" indent="0" algn="r">
              <a:buNone/>
              <a:defRPr sz="22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2"/>
            <a:ext cx="2910840" cy="365125"/>
          </a:xfrm>
        </p:spPr>
        <p:txBody>
          <a:bodyPr/>
          <a:lstStyle>
            <a:lvl1pPr algn="r">
              <a:defRPr/>
            </a:lvl1pPr>
          </a:lstStyle>
          <a:p>
            <a:fld id="{1DC99CF0-0CAA-4932-8798-4D904B003775}" type="datetimeFigureOut">
              <a:rPr lang="en-US" smtClean="0"/>
              <a:t>3/3/2026</a:t>
            </a:fld>
            <a:endParaRPr lang="en-US"/>
          </a:p>
        </p:txBody>
      </p:sp>
      <p:sp>
        <p:nvSpPr>
          <p:cNvPr id="5" name="Footer Placeholder 4"/>
          <p:cNvSpPr>
            <a:spLocks noGrp="1"/>
          </p:cNvSpPr>
          <p:nvPr>
            <p:ph type="ftr" sz="quarter" idx="11"/>
          </p:nvPr>
        </p:nvSpPr>
        <p:spPr>
          <a:xfrm>
            <a:off x="685801" y="381003"/>
            <a:ext cx="6991492" cy="364065"/>
          </a:xfrm>
        </p:spPr>
        <p:txBody>
          <a:bodyPr/>
          <a:lstStyle/>
          <a:p>
            <a:endParaRPr lang="en-US"/>
          </a:p>
        </p:txBody>
      </p:sp>
      <p:sp>
        <p:nvSpPr>
          <p:cNvPr id="6" name="Slide Number Placeholder 5"/>
          <p:cNvSpPr>
            <a:spLocks noGrp="1"/>
          </p:cNvSpPr>
          <p:nvPr>
            <p:ph type="sldNum" sz="quarter" idx="12"/>
          </p:nvPr>
        </p:nvSpPr>
        <p:spPr>
          <a:xfrm>
            <a:off x="10862453" y="381002"/>
            <a:ext cx="643748" cy="365125"/>
          </a:xfrm>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2788603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1"/>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61"/>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C99CF0-0CAA-4932-8798-4D904B003775}"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279795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10" y="2183802"/>
            <a:ext cx="5079991" cy="823912"/>
          </a:xfrm>
        </p:spPr>
        <p:txBody>
          <a:bodyPr anchor="b">
            <a:normAutofit/>
          </a:bodyPr>
          <a:lstStyle>
            <a:lvl1pPr marL="0" indent="0">
              <a:buNone/>
              <a:defRPr sz="28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2" y="3132668"/>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8"/>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C99CF0-0CAA-4932-8798-4D904B003775}" type="datetimeFigureOut">
              <a:rPr lang="en-US" smtClean="0"/>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3760805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C99CF0-0CAA-4932-8798-4D904B003775}" type="datetimeFigureOut">
              <a:rPr lang="en-US" smtClean="0"/>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510238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C99CF0-0CAA-4932-8798-4D904B003775}" type="datetimeFigureOut">
              <a:rPr lang="en-US" smtClean="0"/>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3942126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1" y="746761"/>
            <a:ext cx="6510619"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201"/>
            <a:ext cx="4114800" cy="3094485"/>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C99CF0-0CAA-4932-8798-4D904B003775}"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1969079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7" y="751243"/>
            <a:ext cx="3644963" cy="5467443"/>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201"/>
            <a:ext cx="6873240" cy="3094485"/>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C99CF0-0CAA-4932-8798-4D904B003775}"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708460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2"/>
            <a:ext cx="10822035"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41"/>
            <a:ext cx="10821840" cy="3478161"/>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7"/>
            <a:ext cx="10820400" cy="701969"/>
          </a:xfrm>
        </p:spPr>
        <p:txBody>
          <a:bodyPr/>
          <a:lstStyle>
            <a:lvl1pPr marL="0" indent="0" algn="l">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C99CF0-0CAA-4932-8798-4D904B003775}"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3961608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4"/>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5"/>
            <a:ext cx="10130516" cy="999067"/>
          </a:xfrm>
        </p:spPr>
        <p:txBody>
          <a:bodyPr anchor="ct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2"/>
            <a:ext cx="2910840" cy="365125"/>
          </a:xfrm>
        </p:spPr>
        <p:txBody>
          <a:bodyPr/>
          <a:lstStyle>
            <a:lvl1pPr algn="r">
              <a:defRPr/>
            </a:lvl1pPr>
          </a:lstStyle>
          <a:p>
            <a:fld id="{1DC99CF0-0CAA-4932-8798-4D904B003775}" type="datetimeFigureOut">
              <a:rPr lang="en-US" smtClean="0"/>
              <a:t>3/3/2026</a:t>
            </a:fld>
            <a:endParaRPr lang="en-US"/>
          </a:p>
        </p:txBody>
      </p:sp>
      <p:sp>
        <p:nvSpPr>
          <p:cNvPr id="6" name="Footer Placeholder 5"/>
          <p:cNvSpPr>
            <a:spLocks noGrp="1"/>
          </p:cNvSpPr>
          <p:nvPr>
            <p:ph type="ftr" sz="quarter" idx="11"/>
          </p:nvPr>
        </p:nvSpPr>
        <p:spPr>
          <a:xfrm>
            <a:off x="685801" y="379943"/>
            <a:ext cx="6991492" cy="365125"/>
          </a:xfrm>
        </p:spPr>
        <p:txBody>
          <a:bodyPr/>
          <a:lstStyle/>
          <a:p>
            <a:endParaRPr lang="en-US"/>
          </a:p>
        </p:txBody>
      </p:sp>
      <p:sp>
        <p:nvSpPr>
          <p:cNvPr id="7" name="Slide Number Placeholder 6"/>
          <p:cNvSpPr>
            <a:spLocks noGrp="1"/>
          </p:cNvSpPr>
          <p:nvPr>
            <p:ph type="sldNum" sz="quarter" idx="12"/>
          </p:nvPr>
        </p:nvSpPr>
        <p:spPr>
          <a:xfrm>
            <a:off x="10862453" y="381002"/>
            <a:ext cx="643748" cy="365125"/>
          </a:xfrm>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5922632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8" y="753534"/>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8"/>
            <a:ext cx="9592736" cy="444443"/>
          </a:xfrm>
        </p:spPr>
        <p:txBody>
          <a:bodyPr anchor="t">
            <a:normAutofit/>
          </a:bodyPr>
          <a:lstStyle>
            <a:lvl1pPr marL="0" indent="0">
              <a:buNone/>
              <a:defRPr sz="14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8" y="3959864"/>
            <a:ext cx="10151533" cy="679871"/>
          </a:xfrm>
        </p:spPr>
        <p:txBody>
          <a:bodyPr anchor="ctr">
            <a:normAutofit/>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2"/>
            <a:ext cx="2910840" cy="365125"/>
          </a:xfrm>
        </p:spPr>
        <p:txBody>
          <a:bodyPr/>
          <a:lstStyle>
            <a:lvl1pPr algn="r">
              <a:defRPr/>
            </a:lvl1pPr>
          </a:lstStyle>
          <a:p>
            <a:fld id="{1DC99CF0-0CAA-4932-8798-4D904B003775}" type="datetimeFigureOut">
              <a:rPr lang="en-US" smtClean="0"/>
              <a:t>3/3/2026</a:t>
            </a:fld>
            <a:endParaRPr lang="en-US"/>
          </a:p>
        </p:txBody>
      </p:sp>
      <p:sp>
        <p:nvSpPr>
          <p:cNvPr id="6" name="Footer Placeholder 5"/>
          <p:cNvSpPr>
            <a:spLocks noGrp="1"/>
          </p:cNvSpPr>
          <p:nvPr>
            <p:ph type="ftr" sz="quarter" idx="11"/>
          </p:nvPr>
        </p:nvSpPr>
        <p:spPr>
          <a:xfrm>
            <a:off x="685801" y="379943"/>
            <a:ext cx="6991492" cy="365125"/>
          </a:xfrm>
        </p:spPr>
        <p:txBody>
          <a:bodyPr/>
          <a:lstStyle/>
          <a:p>
            <a:endParaRPr lang="en-US"/>
          </a:p>
        </p:txBody>
      </p:sp>
      <p:sp>
        <p:nvSpPr>
          <p:cNvPr id="7" name="Slide Number Placeholder 6"/>
          <p:cNvSpPr>
            <a:spLocks noGrp="1"/>
          </p:cNvSpPr>
          <p:nvPr>
            <p:ph type="sldNum" sz="quarter" idx="12"/>
          </p:nvPr>
        </p:nvSpPr>
        <p:spPr>
          <a:xfrm>
            <a:off x="10862453" y="381002"/>
            <a:ext cx="643748" cy="365125"/>
          </a:xfrm>
        </p:spPr>
        <p:txBody>
          <a:bodyPr/>
          <a:lstStyle/>
          <a:p>
            <a:fld id="{389476CE-2A86-4046-B471-1E7C824B13A2}" type="slidenum">
              <a:rPr lang="en-US" smtClean="0"/>
              <a:t>‹#›</a:t>
            </a:fld>
            <a:endParaRPr lang="en-US"/>
          </a:p>
        </p:txBody>
      </p:sp>
      <p:sp>
        <p:nvSpPr>
          <p:cNvPr id="9" name="TextBox 8"/>
          <p:cNvSpPr txBox="1"/>
          <p:nvPr/>
        </p:nvSpPr>
        <p:spPr>
          <a:xfrm>
            <a:off x="476251"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1"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5897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3"/>
            <a:ext cx="10146187"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7"/>
            <a:ext cx="10144655" cy="999885"/>
          </a:xfrm>
        </p:spPr>
        <p:txBody>
          <a:bodyPr anchor="t"/>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5"/>
            <a:ext cx="2910840" cy="365125"/>
          </a:xfrm>
        </p:spPr>
        <p:txBody>
          <a:bodyPr/>
          <a:lstStyle>
            <a:lvl1pPr algn="r">
              <a:defRPr/>
            </a:lvl1pPr>
          </a:lstStyle>
          <a:p>
            <a:fld id="{1DC99CF0-0CAA-4932-8798-4D904B003775}" type="datetimeFigureOut">
              <a:rPr lang="en-US" smtClean="0"/>
              <a:t>3/3/2026</a:t>
            </a:fld>
            <a:endParaRPr lang="en-US"/>
          </a:p>
        </p:txBody>
      </p:sp>
      <p:sp>
        <p:nvSpPr>
          <p:cNvPr id="6" name="Footer Placeholder 5"/>
          <p:cNvSpPr>
            <a:spLocks noGrp="1"/>
          </p:cNvSpPr>
          <p:nvPr>
            <p:ph type="ftr" sz="quarter" idx="11"/>
          </p:nvPr>
        </p:nvSpPr>
        <p:spPr>
          <a:xfrm>
            <a:off x="685801" y="378885"/>
            <a:ext cx="6991492" cy="365125"/>
          </a:xfrm>
        </p:spPr>
        <p:txBody>
          <a:bodyPr/>
          <a:lstStyle/>
          <a:p>
            <a:endParaRPr lang="en-US"/>
          </a:p>
        </p:txBody>
      </p:sp>
      <p:sp>
        <p:nvSpPr>
          <p:cNvPr id="7" name="Slide Number Placeholder 6"/>
          <p:cNvSpPr>
            <a:spLocks noGrp="1"/>
          </p:cNvSpPr>
          <p:nvPr>
            <p:ph type="sldNum" sz="quarter" idx="12"/>
          </p:nvPr>
        </p:nvSpPr>
        <p:spPr>
          <a:xfrm>
            <a:off x="10862453" y="381002"/>
            <a:ext cx="643748" cy="365125"/>
          </a:xfrm>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3658598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2" y="762001"/>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9" y="2904067"/>
            <a:ext cx="3456432" cy="3314618"/>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DC99CF0-0CAA-4932-8798-4D904B003775}" type="datetimeFigureOut">
              <a:rPr lang="en-US" smtClean="0"/>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21952385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2"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2"/>
            <a:ext cx="3451583" cy="682765"/>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6"/>
            <a:ext cx="3451583" cy="1344921"/>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5" y="4191002"/>
            <a:ext cx="3448935" cy="682765"/>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6" y="4873765"/>
            <a:ext cx="3448935" cy="1344921"/>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2" y="4191002"/>
            <a:ext cx="3456469" cy="682765"/>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9"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2" y="4873763"/>
            <a:ext cx="3452445" cy="1344921"/>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DC99CF0-0CAA-4932-8798-4D904B003775}" type="datetimeFigureOut">
              <a:rPr lang="en-US" smtClean="0"/>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2145106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61"/>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C99CF0-0CAA-4932-8798-4D904B003775}"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37371490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8"/>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8" y="745069"/>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3"/>
            <a:ext cx="2910840" cy="365125"/>
          </a:xfrm>
        </p:spPr>
        <p:txBody>
          <a:bodyPr/>
          <a:lstStyle>
            <a:lvl1pPr algn="r">
              <a:defRPr/>
            </a:lvl1pPr>
          </a:lstStyle>
          <a:p>
            <a:fld id="{1DC99CF0-0CAA-4932-8798-4D904B003775}" type="datetimeFigureOut">
              <a:rPr lang="en-US" smtClean="0"/>
              <a:t>3/3/2026</a:t>
            </a:fld>
            <a:endParaRPr lang="en-US"/>
          </a:p>
        </p:txBody>
      </p:sp>
      <p:sp>
        <p:nvSpPr>
          <p:cNvPr id="5" name="Footer Placeholder 4"/>
          <p:cNvSpPr>
            <a:spLocks noGrp="1"/>
          </p:cNvSpPr>
          <p:nvPr>
            <p:ph type="ftr" sz="quarter" idx="11"/>
          </p:nvPr>
        </p:nvSpPr>
        <p:spPr>
          <a:xfrm>
            <a:off x="685801" y="381002"/>
            <a:ext cx="6991492" cy="365125"/>
          </a:xfrm>
        </p:spPr>
        <p:txBody>
          <a:bodyPr/>
          <a:lstStyle/>
          <a:p>
            <a:endParaRPr lang="en-US"/>
          </a:p>
        </p:txBody>
      </p:sp>
      <p:sp>
        <p:nvSpPr>
          <p:cNvPr id="6" name="Slide Number Placeholder 5"/>
          <p:cNvSpPr>
            <a:spLocks noGrp="1"/>
          </p:cNvSpPr>
          <p:nvPr>
            <p:ph type="sldNum" sz="quarter" idx="12"/>
          </p:nvPr>
        </p:nvSpPr>
        <p:spPr>
          <a:xfrm>
            <a:off x="10862453" y="381002"/>
            <a:ext cx="643748" cy="365125"/>
          </a:xfrm>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7682094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1"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C99CF0-0CAA-4932-8798-4D904B003775}"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2193152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2"/>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2"/>
            <a:ext cx="2910840" cy="365125"/>
          </a:xfrm>
          <a:prstGeom prst="rect">
            <a:avLst/>
          </a:prstGeom>
        </p:spPr>
        <p:txBody>
          <a:bodyPr vert="horz" lIns="91440" tIns="45720" rIns="91440" bIns="45720" rtlCol="0" anchor="ctr"/>
          <a:lstStyle>
            <a:lvl1pPr algn="r">
              <a:defRPr sz="1051">
                <a:solidFill>
                  <a:schemeClr val="tx1">
                    <a:tint val="75000"/>
                  </a:schemeClr>
                </a:solidFill>
              </a:defRPr>
            </a:lvl1pPr>
          </a:lstStyle>
          <a:p>
            <a:fld id="{1DC99CF0-0CAA-4932-8798-4D904B003775}" type="datetimeFigureOut">
              <a:rPr lang="en-US" smtClean="0"/>
              <a:t>3/3/2026</a:t>
            </a:fld>
            <a:endParaRPr lang="en-US"/>
          </a:p>
        </p:txBody>
      </p:sp>
      <p:sp>
        <p:nvSpPr>
          <p:cNvPr id="5" name="Footer Placeholder 4"/>
          <p:cNvSpPr>
            <a:spLocks noGrp="1"/>
          </p:cNvSpPr>
          <p:nvPr>
            <p:ph type="ftr" sz="quarter" idx="3"/>
          </p:nvPr>
        </p:nvSpPr>
        <p:spPr>
          <a:xfrm>
            <a:off x="685800" y="6355847"/>
            <a:ext cx="7772400" cy="365125"/>
          </a:xfrm>
          <a:prstGeom prst="rect">
            <a:avLst/>
          </a:prstGeom>
        </p:spPr>
        <p:txBody>
          <a:bodyPr vert="horz" lIns="91440" tIns="45720" rIns="91440" bIns="45720" rtlCol="0" anchor="ctr"/>
          <a:lstStyle>
            <a:lvl1pPr algn="l">
              <a:defRPr sz="1051">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2"/>
            <a:ext cx="2743200" cy="365125"/>
          </a:xfrm>
          <a:prstGeom prst="rect">
            <a:avLst/>
          </a:prstGeom>
        </p:spPr>
        <p:txBody>
          <a:bodyPr vert="horz" lIns="91440" tIns="45720" rIns="91440" bIns="45720" rtlCol="0" anchor="ctr"/>
          <a:lstStyle>
            <a:lvl1pPr algn="r">
              <a:defRPr sz="1051">
                <a:solidFill>
                  <a:schemeClr val="tx1">
                    <a:tint val="75000"/>
                  </a:schemeClr>
                </a:solidFill>
              </a:defRPr>
            </a:lvl1pPr>
          </a:lstStyle>
          <a:p>
            <a:fld id="{389476CE-2A86-4046-B471-1E7C824B13A2}" type="slidenum">
              <a:rPr lang="en-US" smtClean="0"/>
              <a:t>‹#›</a:t>
            </a:fld>
            <a:endParaRPr lang="en-US"/>
          </a:p>
        </p:txBody>
      </p:sp>
    </p:spTree>
    <p:extLst>
      <p:ext uri="{BB962C8B-B14F-4D97-AF65-F5344CB8AC3E}">
        <p14:creationId xmlns:p14="http://schemas.microsoft.com/office/powerpoint/2010/main" val="2887705812"/>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Lst>
  <p:txStyles>
    <p:titleStyle>
      <a:lvl1pPr algn="r" defTabSz="914377"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geeksforgeeks.org/engineering-mathematics/proposition-logic/"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geeksforgeeks.org/artificial-intelligence/first-order-logic-in-artificial-intelligenc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F78F8-1AA4-27AE-316A-A617FFE79EBA}"/>
              </a:ext>
            </a:extLst>
          </p:cNvPr>
          <p:cNvSpPr>
            <a:spLocks noGrp="1"/>
          </p:cNvSpPr>
          <p:nvPr>
            <p:ph type="ctrTitle"/>
          </p:nvPr>
        </p:nvSpPr>
        <p:spPr>
          <a:xfrm>
            <a:off x="2552700" y="1828800"/>
            <a:ext cx="7086600" cy="1981201"/>
          </a:xfrm>
        </p:spPr>
        <p:txBody>
          <a:bodyPr>
            <a:normAutofit/>
          </a:bodyPr>
          <a:lstStyle/>
          <a:p>
            <a:r>
              <a:rPr lang="en-US" b="1" cap="none" dirty="0">
                <a:ln w="0"/>
                <a:solidFill>
                  <a:schemeClr val="accent2">
                    <a:lumMod val="60000"/>
                    <a:lumOff val="40000"/>
                  </a:schemeClr>
                </a:solidFill>
                <a:effectLst>
                  <a:reflection blurRad="6350" stA="53000" endA="300" endPos="35500" dir="5400000" sy="-90000" algn="bl" rotWithShape="0"/>
                </a:effectLst>
                <a:latin typeface="Aptos Display" panose="020B0004020202020204" pitchFamily="34" charset="0"/>
              </a:rPr>
              <a:t>Knowledge-Based and Expert Systems</a:t>
            </a:r>
          </a:p>
        </p:txBody>
      </p:sp>
      <p:sp>
        <p:nvSpPr>
          <p:cNvPr id="3" name="Subtitle 2">
            <a:extLst>
              <a:ext uri="{FF2B5EF4-FFF2-40B4-BE49-F238E27FC236}">
                <a16:creationId xmlns:a16="http://schemas.microsoft.com/office/drawing/2014/main" id="{EC0D4A12-B52C-8447-0156-A4A701E9D70B}"/>
              </a:ext>
            </a:extLst>
          </p:cNvPr>
          <p:cNvSpPr>
            <a:spLocks noGrp="1"/>
          </p:cNvSpPr>
          <p:nvPr>
            <p:ph type="subTitle" idx="1"/>
          </p:nvPr>
        </p:nvSpPr>
        <p:spPr>
          <a:xfrm>
            <a:off x="2667001" y="3810000"/>
            <a:ext cx="3832291" cy="514350"/>
          </a:xfrm>
        </p:spPr>
        <p:txBody>
          <a:bodyPr>
            <a:normAutofit/>
          </a:bodyPr>
          <a:lstStyle/>
          <a:p>
            <a:r>
              <a:rPr lang="en-US" cap="none" dirty="0">
                <a:latin typeface="Aptos" panose="020B0004020202020204" pitchFamily="34" charset="0"/>
              </a:rPr>
              <a:t>By Umme Aeman</a:t>
            </a:r>
          </a:p>
        </p:txBody>
      </p:sp>
    </p:spTree>
    <p:extLst>
      <p:ext uri="{BB962C8B-B14F-4D97-AF65-F5344CB8AC3E}">
        <p14:creationId xmlns:p14="http://schemas.microsoft.com/office/powerpoint/2010/main" val="3972616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72200" y="762000"/>
            <a:ext cx="3533160" cy="635000"/>
          </a:xfrm>
          <a:prstGeom prst="rect">
            <a:avLst/>
          </a:prstGeom>
        </p:spPr>
        <p:txBody>
          <a:bodyPr vert="horz" wrap="square" lIns="0" tIns="12065" rIns="0" bIns="0" rtlCol="0" anchor="ctr">
            <a:spAutoFit/>
          </a:bodyPr>
          <a:lstStyle/>
          <a:p>
            <a:pPr marL="12700" algn="l">
              <a:lnSpc>
                <a:spcPct val="100000"/>
              </a:lnSpc>
              <a:spcBef>
                <a:spcPts val="95"/>
              </a:spcBef>
            </a:pPr>
            <a:r>
              <a:rPr lang="en-US" b="1" cap="none" spc="-100" dirty="0">
                <a:latin typeface="Aptos" panose="020B0004020202020204" pitchFamily="34" charset="0"/>
              </a:rPr>
              <a:t>Knowledge</a:t>
            </a:r>
            <a:endParaRPr lang="en-US" b="1" cap="none" dirty="0">
              <a:latin typeface="Aptos" panose="020B0004020202020204" pitchFamily="34" charset="0"/>
            </a:endParaRPr>
          </a:p>
        </p:txBody>
      </p:sp>
      <p:sp>
        <p:nvSpPr>
          <p:cNvPr id="3" name="object 3"/>
          <p:cNvSpPr txBox="1"/>
          <p:nvPr/>
        </p:nvSpPr>
        <p:spPr>
          <a:xfrm>
            <a:off x="2667000" y="1905000"/>
            <a:ext cx="7429500" cy="2435922"/>
          </a:xfrm>
          <a:prstGeom prst="rect">
            <a:avLst/>
          </a:prstGeom>
        </p:spPr>
        <p:txBody>
          <a:bodyPr vert="horz" wrap="square" lIns="0" tIns="65404" rIns="0" bIns="0" rtlCol="0">
            <a:spAutoFit/>
          </a:bodyPr>
          <a:lstStyle/>
          <a:p>
            <a:pPr marL="12065">
              <a:spcBef>
                <a:spcPts val="515"/>
              </a:spcBef>
              <a:buClr>
                <a:srgbClr val="D24717"/>
              </a:buClr>
              <a:buSzPct val="83928"/>
              <a:tabLst>
                <a:tab pos="287020" algn="l"/>
              </a:tabLst>
            </a:pPr>
            <a:endParaRPr sz="3600" dirty="0">
              <a:latin typeface="Aptos Display" panose="020B0004020202020204" pitchFamily="34" charset="0"/>
              <a:cs typeface="Times New Roman"/>
            </a:endParaRPr>
          </a:p>
          <a:p>
            <a:pPr marL="12065">
              <a:spcBef>
                <a:spcPts val="600"/>
              </a:spcBef>
              <a:buClr>
                <a:srgbClr val="D24717"/>
              </a:buClr>
              <a:buSzPct val="83928"/>
              <a:tabLst>
                <a:tab pos="287020" algn="l"/>
              </a:tabLst>
            </a:pPr>
            <a:r>
              <a:rPr sz="3600" spc="-120" dirty="0">
                <a:latin typeface="Aptos Display" panose="020B0004020202020204" pitchFamily="34" charset="0"/>
                <a:cs typeface="Times New Roman"/>
              </a:rPr>
              <a:t>What </a:t>
            </a:r>
            <a:r>
              <a:rPr sz="3600" spc="-185" dirty="0">
                <a:latin typeface="Aptos Display" panose="020B0004020202020204" pitchFamily="34" charset="0"/>
                <a:cs typeface="Times New Roman"/>
              </a:rPr>
              <a:t>is</a:t>
            </a:r>
            <a:r>
              <a:rPr sz="3600" spc="-35" dirty="0">
                <a:latin typeface="Aptos Display" panose="020B0004020202020204" pitchFamily="34" charset="0"/>
                <a:cs typeface="Times New Roman"/>
              </a:rPr>
              <a:t> </a:t>
            </a:r>
            <a:r>
              <a:rPr sz="3600" spc="-170" dirty="0">
                <a:latin typeface="Aptos Display" panose="020B0004020202020204" pitchFamily="34" charset="0"/>
                <a:cs typeface="Times New Roman"/>
              </a:rPr>
              <a:t>knowledge?</a:t>
            </a:r>
            <a:endParaRPr lang="en-US" sz="3600" dirty="0">
              <a:latin typeface="Aptos Display" panose="020B0004020202020204" pitchFamily="34" charset="0"/>
              <a:cs typeface="Times New Roman"/>
            </a:endParaRPr>
          </a:p>
          <a:p>
            <a:pPr marL="583565" indent="-571500">
              <a:spcBef>
                <a:spcPts val="600"/>
              </a:spcBef>
              <a:buClr>
                <a:srgbClr val="D24717"/>
              </a:buClr>
              <a:buSzPct val="83928"/>
              <a:buFont typeface="Arial" panose="020B0604020202020204" pitchFamily="34" charset="0"/>
              <a:buChar char="•"/>
              <a:tabLst>
                <a:tab pos="287020" algn="l"/>
              </a:tabLst>
            </a:pPr>
            <a:r>
              <a:rPr sz="3600" spc="-165" dirty="0">
                <a:latin typeface="Aptos Display" panose="020B0004020202020204" pitchFamily="34" charset="0"/>
                <a:cs typeface="Times New Roman"/>
              </a:rPr>
              <a:t>Knowledge </a:t>
            </a:r>
            <a:r>
              <a:rPr sz="3600" spc="-180" dirty="0">
                <a:latin typeface="Aptos Display" panose="020B0004020202020204" pitchFamily="34" charset="0"/>
                <a:cs typeface="Times New Roman"/>
              </a:rPr>
              <a:t>is </a:t>
            </a:r>
            <a:r>
              <a:rPr sz="3600" spc="-85" dirty="0">
                <a:latin typeface="Aptos Display" panose="020B0004020202020204" pitchFamily="34" charset="0"/>
                <a:cs typeface="Times New Roman"/>
              </a:rPr>
              <a:t>the </a:t>
            </a:r>
            <a:r>
              <a:rPr sz="3600" spc="-45" dirty="0">
                <a:latin typeface="Aptos Display" panose="020B0004020202020204" pitchFamily="34" charset="0"/>
                <a:cs typeface="Times New Roman"/>
              </a:rPr>
              <a:t>sort </a:t>
            </a:r>
            <a:r>
              <a:rPr sz="3600" spc="-165" dirty="0">
                <a:latin typeface="Aptos Display" panose="020B0004020202020204" pitchFamily="34" charset="0"/>
                <a:cs typeface="Times New Roman"/>
              </a:rPr>
              <a:t>of </a:t>
            </a:r>
            <a:r>
              <a:rPr sz="3600" spc="-114" dirty="0">
                <a:latin typeface="Aptos Display" panose="020B0004020202020204" pitchFamily="34" charset="0"/>
                <a:cs typeface="Times New Roman"/>
              </a:rPr>
              <a:t>information </a:t>
            </a:r>
            <a:r>
              <a:rPr sz="3600" spc="-90" dirty="0">
                <a:latin typeface="Aptos Display" panose="020B0004020202020204" pitchFamily="34" charset="0"/>
                <a:cs typeface="Times New Roman"/>
              </a:rPr>
              <a:t>that </a:t>
            </a:r>
            <a:r>
              <a:rPr sz="3600" spc="-114" dirty="0">
                <a:latin typeface="Aptos Display" panose="020B0004020202020204" pitchFamily="34" charset="0"/>
                <a:cs typeface="Times New Roman"/>
              </a:rPr>
              <a:t>people </a:t>
            </a:r>
            <a:r>
              <a:rPr sz="3600" spc="-285" dirty="0">
                <a:latin typeface="Aptos Display" panose="020B0004020202020204" pitchFamily="34" charset="0"/>
                <a:cs typeface="Times New Roman"/>
              </a:rPr>
              <a:t>use  </a:t>
            </a:r>
            <a:r>
              <a:rPr sz="3600" spc="-40" dirty="0">
                <a:latin typeface="Aptos Display" panose="020B0004020202020204" pitchFamily="34" charset="0"/>
                <a:cs typeface="Times New Roman"/>
              </a:rPr>
              <a:t>to </a:t>
            </a:r>
            <a:r>
              <a:rPr sz="3600" spc="-170" dirty="0">
                <a:latin typeface="Aptos Display" panose="020B0004020202020204" pitchFamily="34" charset="0"/>
                <a:cs typeface="Times New Roman"/>
              </a:rPr>
              <a:t>solve</a:t>
            </a:r>
            <a:r>
              <a:rPr sz="3600" spc="-105" dirty="0">
                <a:latin typeface="Aptos Display" panose="020B0004020202020204" pitchFamily="34" charset="0"/>
                <a:cs typeface="Times New Roman"/>
              </a:rPr>
              <a:t> </a:t>
            </a:r>
            <a:r>
              <a:rPr sz="3600" spc="-110" dirty="0">
                <a:latin typeface="Aptos Display" panose="020B0004020202020204" pitchFamily="34" charset="0"/>
                <a:cs typeface="Times New Roman"/>
              </a:rPr>
              <a:t>problems.</a:t>
            </a:r>
            <a:endParaRPr sz="3600" dirty="0">
              <a:latin typeface="Aptos Display" panose="020B0004020202020204" pitchFamily="34" charset="0"/>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CCA51-9FE7-5479-D028-18B578AD9B28}"/>
              </a:ext>
            </a:extLst>
          </p:cNvPr>
          <p:cNvSpPr>
            <a:spLocks noGrp="1"/>
          </p:cNvSpPr>
          <p:nvPr>
            <p:ph type="title"/>
          </p:nvPr>
        </p:nvSpPr>
        <p:spPr/>
        <p:txBody>
          <a:bodyPr/>
          <a:lstStyle/>
          <a:p>
            <a:r>
              <a:rPr lang="en-US" b="1" cap="none" dirty="0">
                <a:latin typeface="Aptos" panose="020B0004020202020204" pitchFamily="34" charset="0"/>
              </a:rPr>
              <a:t>Knowledge-based system (KBS) </a:t>
            </a:r>
          </a:p>
        </p:txBody>
      </p:sp>
      <p:sp>
        <p:nvSpPr>
          <p:cNvPr id="3" name="Content Placeholder 2">
            <a:extLst>
              <a:ext uri="{FF2B5EF4-FFF2-40B4-BE49-F238E27FC236}">
                <a16:creationId xmlns:a16="http://schemas.microsoft.com/office/drawing/2014/main" id="{B118867C-0832-0D16-0588-F4D60DBC5109}"/>
              </a:ext>
            </a:extLst>
          </p:cNvPr>
          <p:cNvSpPr>
            <a:spLocks noGrp="1"/>
          </p:cNvSpPr>
          <p:nvPr>
            <p:ph idx="1"/>
          </p:nvPr>
        </p:nvSpPr>
        <p:spPr>
          <a:xfrm>
            <a:off x="1828800" y="2209802"/>
            <a:ext cx="8534400" cy="4495799"/>
          </a:xfrm>
        </p:spPr>
        <p:txBody>
          <a:bodyPr>
            <a:normAutofit lnSpcReduction="10000"/>
          </a:bodyPr>
          <a:lstStyle/>
          <a:p>
            <a:pPr marL="0" indent="0">
              <a:buNone/>
            </a:pPr>
            <a:r>
              <a:rPr lang="en-US" sz="2800" dirty="0">
                <a:latin typeface="Aptos" panose="020B0004020202020204" pitchFamily="34" charset="0"/>
              </a:rPr>
              <a:t>A Knowledge-Based System (KBS) is an AI system that uses </a:t>
            </a:r>
            <a:r>
              <a:rPr lang="en-US" sz="2800" dirty="0">
                <a:highlight>
                  <a:srgbClr val="FFFF00"/>
                </a:highlight>
                <a:latin typeface="Aptos" panose="020B0004020202020204" pitchFamily="34" charset="0"/>
              </a:rPr>
              <a:t>stored knowledge and logical reasoning </a:t>
            </a:r>
            <a:r>
              <a:rPr lang="en-US" sz="2800" dirty="0">
                <a:latin typeface="Aptos" panose="020B0004020202020204" pitchFamily="34" charset="0"/>
              </a:rPr>
              <a:t>to solve complex problems similar to a human expert.</a:t>
            </a:r>
          </a:p>
          <a:p>
            <a:pPr marL="0" indent="0">
              <a:buNone/>
            </a:pPr>
            <a:r>
              <a:rPr lang="en-US" sz="2800" dirty="0">
                <a:latin typeface="Aptos" panose="020B0004020202020204" pitchFamily="34" charset="0"/>
              </a:rPr>
              <a:t>A system which is built around a knowledge base. i.e. </a:t>
            </a:r>
            <a:r>
              <a:rPr lang="en-US" sz="2800" b="1" dirty="0">
                <a:latin typeface="Aptos" panose="020B0004020202020204" pitchFamily="34" charset="0"/>
              </a:rPr>
              <a:t>a collection of knowledge, taken from a human, and  stored in such a way that the system can reason with it.</a:t>
            </a:r>
          </a:p>
          <a:p>
            <a:pPr marL="0" indent="0">
              <a:buNone/>
            </a:pPr>
            <a:r>
              <a:rPr lang="en-US" sz="2800" dirty="0">
                <a:latin typeface="Aptos" panose="020B0004020202020204" pitchFamily="34" charset="0"/>
              </a:rPr>
              <a:t>It is designed to:</a:t>
            </a:r>
          </a:p>
          <a:p>
            <a:pPr>
              <a:buFont typeface="Arial" panose="020B0604020202020204" pitchFamily="34" charset="0"/>
              <a:buChar char="•"/>
            </a:pPr>
            <a:r>
              <a:rPr lang="en-US" sz="2800" dirty="0">
                <a:latin typeface="Aptos" panose="020B0004020202020204" pitchFamily="34" charset="0"/>
              </a:rPr>
              <a:t>Store expert knowledge</a:t>
            </a:r>
          </a:p>
          <a:p>
            <a:pPr>
              <a:buFont typeface="Arial" panose="020B0604020202020204" pitchFamily="34" charset="0"/>
              <a:buChar char="•"/>
            </a:pPr>
            <a:r>
              <a:rPr lang="en-US" sz="2800" dirty="0">
                <a:latin typeface="Aptos" panose="020B0004020202020204" pitchFamily="34" charset="0"/>
              </a:rPr>
              <a:t>Apply reasoning techniques</a:t>
            </a:r>
          </a:p>
          <a:p>
            <a:pPr>
              <a:buFont typeface="Arial" panose="020B0604020202020204" pitchFamily="34" charset="0"/>
              <a:buChar char="•"/>
            </a:pPr>
            <a:r>
              <a:rPr lang="en-US" sz="2800" dirty="0">
                <a:latin typeface="Aptos" panose="020B0004020202020204" pitchFamily="34" charset="0"/>
              </a:rPr>
              <a:t>Provide decisions or recommendations</a:t>
            </a:r>
          </a:p>
        </p:txBody>
      </p:sp>
    </p:spTree>
    <p:extLst>
      <p:ext uri="{BB962C8B-B14F-4D97-AF65-F5344CB8AC3E}">
        <p14:creationId xmlns:p14="http://schemas.microsoft.com/office/powerpoint/2010/main" val="34219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B3B4A-CF84-1F80-C203-F587EC4165A7}"/>
              </a:ext>
            </a:extLst>
          </p:cNvPr>
          <p:cNvSpPr>
            <a:spLocks noGrp="1"/>
          </p:cNvSpPr>
          <p:nvPr>
            <p:ph type="title"/>
          </p:nvPr>
        </p:nvSpPr>
        <p:spPr/>
        <p:txBody>
          <a:bodyPr/>
          <a:lstStyle/>
          <a:p>
            <a:r>
              <a:rPr lang="en-US" cap="none" dirty="0">
                <a:latin typeface="Aptos" panose="020B0004020202020204" pitchFamily="34" charset="0"/>
              </a:rPr>
              <a:t>Knowledge-based Systems (KBS)</a:t>
            </a:r>
          </a:p>
        </p:txBody>
      </p:sp>
      <p:sp>
        <p:nvSpPr>
          <p:cNvPr id="3" name="Content Placeholder 2">
            <a:extLst>
              <a:ext uri="{FF2B5EF4-FFF2-40B4-BE49-F238E27FC236}">
                <a16:creationId xmlns:a16="http://schemas.microsoft.com/office/drawing/2014/main" id="{17148BE1-059C-4E33-1137-2C5E19EBE5A4}"/>
              </a:ext>
            </a:extLst>
          </p:cNvPr>
          <p:cNvSpPr>
            <a:spLocks noGrp="1"/>
          </p:cNvSpPr>
          <p:nvPr>
            <p:ph idx="1"/>
          </p:nvPr>
        </p:nvSpPr>
        <p:spPr>
          <a:xfrm>
            <a:off x="685800" y="1984443"/>
            <a:ext cx="10820400" cy="4747097"/>
          </a:xfrm>
        </p:spPr>
        <p:txBody>
          <a:bodyPr>
            <a:normAutofit/>
          </a:bodyPr>
          <a:lstStyle/>
          <a:p>
            <a:r>
              <a:rPr lang="en-US" b="0" i="0" dirty="0">
                <a:solidFill>
                  <a:srgbClr val="0A0A0A"/>
                </a:solidFill>
                <a:effectLst/>
                <a:latin typeface="Aptos" panose="020B0004020202020204" pitchFamily="34" charset="0"/>
              </a:rPr>
              <a:t>A Knowledge-Based (KB) agent in AI is </a:t>
            </a:r>
            <a:r>
              <a:rPr lang="en-US" dirty="0">
                <a:latin typeface="Aptos" panose="020B0004020202020204" pitchFamily="34" charset="0"/>
              </a:rPr>
              <a:t>an intelligent system that uses a curated repository of facts and </a:t>
            </a:r>
            <a:r>
              <a:rPr lang="en-US" b="1" dirty="0">
                <a:latin typeface="Aptos" panose="020B0004020202020204" pitchFamily="34" charset="0"/>
              </a:rPr>
              <a:t>domain-specific rules </a:t>
            </a:r>
            <a:r>
              <a:rPr lang="en-US" dirty="0">
                <a:latin typeface="Aptos" panose="020B0004020202020204" pitchFamily="34" charset="0"/>
              </a:rPr>
              <a:t>(the Knowledge Base) combined with an </a:t>
            </a:r>
            <a:r>
              <a:rPr lang="en-US" b="1" dirty="0">
                <a:latin typeface="Aptos" panose="020B0004020202020204" pitchFamily="34" charset="0"/>
              </a:rPr>
              <a:t>inference engine to reason, make decisions, and take actions</a:t>
            </a:r>
            <a:r>
              <a:rPr lang="en-US" b="0" i="0" dirty="0">
                <a:solidFill>
                  <a:srgbClr val="0A0A0A"/>
                </a:solidFill>
                <a:effectLst/>
                <a:latin typeface="Aptos" panose="020B0004020202020204" pitchFamily="34" charset="0"/>
              </a:rPr>
              <a:t>. </a:t>
            </a:r>
          </a:p>
          <a:p>
            <a:r>
              <a:rPr lang="en-US" b="0" i="0" dirty="0">
                <a:solidFill>
                  <a:srgbClr val="0A0A0A"/>
                </a:solidFill>
                <a:effectLst/>
                <a:latin typeface="Aptos" panose="020B0004020202020204" pitchFamily="34" charset="0"/>
              </a:rPr>
              <a:t>Unlike data-driven models, KB agents explicitly store knowledge, allowing for transparent, reliable, and logical decision-making. </a:t>
            </a:r>
          </a:p>
          <a:p>
            <a:r>
              <a:rPr lang="en-US" dirty="0">
                <a:latin typeface="Aptos" panose="020B0004020202020204" pitchFamily="34" charset="0"/>
              </a:rPr>
              <a:t>A </a:t>
            </a:r>
            <a:r>
              <a:rPr lang="en-US" b="1" dirty="0">
                <a:latin typeface="Aptos" panose="020B0004020202020204" pitchFamily="34" charset="0"/>
              </a:rPr>
              <a:t>Knowledge-Based System (KBS)</a:t>
            </a:r>
            <a:r>
              <a:rPr lang="en-US" dirty="0">
                <a:latin typeface="Aptos" panose="020B0004020202020204" pitchFamily="34" charset="0"/>
              </a:rPr>
              <a:t> is an AI system that uses stored knowledge and reasoning techniques to solve complex problems in a specific domain.</a:t>
            </a:r>
          </a:p>
          <a:p>
            <a:r>
              <a:rPr lang="en-US" dirty="0">
                <a:latin typeface="Aptos" panose="020B0004020202020204" pitchFamily="34" charset="0"/>
              </a:rPr>
              <a:t>It mimics the decision-making ability of a human expert.</a:t>
            </a:r>
          </a:p>
          <a:p>
            <a:pPr marL="0" indent="0">
              <a:buNone/>
            </a:pPr>
            <a:r>
              <a:rPr lang="en-US" b="1" dirty="0">
                <a:latin typeface="Aptos" panose="020B0004020202020204" pitchFamily="34" charset="0"/>
              </a:rPr>
              <a:t>Example</a:t>
            </a:r>
            <a:r>
              <a:rPr lang="en-US" dirty="0">
                <a:latin typeface="Aptos" panose="020B0004020202020204" pitchFamily="34" charset="0"/>
              </a:rPr>
              <a:t>:</a:t>
            </a:r>
          </a:p>
          <a:p>
            <a:pPr>
              <a:buFont typeface="Arial" panose="020B0604020202020204" pitchFamily="34" charset="0"/>
              <a:buChar char="•"/>
            </a:pPr>
            <a:r>
              <a:rPr lang="en-US" dirty="0">
                <a:latin typeface="Aptos" panose="020B0004020202020204" pitchFamily="34" charset="0"/>
              </a:rPr>
              <a:t>Medical diagnosis system</a:t>
            </a:r>
          </a:p>
          <a:p>
            <a:pPr>
              <a:buFont typeface="Arial" panose="020B0604020202020204" pitchFamily="34" charset="0"/>
              <a:buChar char="•"/>
            </a:pPr>
            <a:r>
              <a:rPr lang="en-US" dirty="0">
                <a:latin typeface="Aptos" panose="020B0004020202020204" pitchFamily="34" charset="0"/>
              </a:rPr>
              <a:t>Expert system for crop disease detection</a:t>
            </a:r>
          </a:p>
          <a:p>
            <a:pPr>
              <a:buFont typeface="Arial" panose="020B0604020202020204" pitchFamily="34" charset="0"/>
              <a:buChar char="•"/>
            </a:pPr>
            <a:r>
              <a:rPr lang="en-US" dirty="0">
                <a:latin typeface="Aptos" panose="020B0004020202020204" pitchFamily="34" charset="0"/>
              </a:rPr>
              <a:t>Financial advisory system</a:t>
            </a:r>
          </a:p>
        </p:txBody>
      </p:sp>
    </p:spTree>
    <p:extLst>
      <p:ext uri="{BB962C8B-B14F-4D97-AF65-F5344CB8AC3E}">
        <p14:creationId xmlns:p14="http://schemas.microsoft.com/office/powerpoint/2010/main" val="3750210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B3B4A-CF84-1F80-C203-F587EC4165A7}"/>
              </a:ext>
            </a:extLst>
          </p:cNvPr>
          <p:cNvSpPr>
            <a:spLocks noGrp="1"/>
          </p:cNvSpPr>
          <p:nvPr>
            <p:ph type="title"/>
          </p:nvPr>
        </p:nvSpPr>
        <p:spPr/>
        <p:txBody>
          <a:bodyPr/>
          <a:lstStyle/>
          <a:p>
            <a:r>
              <a:rPr lang="en-US" cap="none" dirty="0">
                <a:latin typeface="Aptos" panose="020B0004020202020204" pitchFamily="34" charset="0"/>
              </a:rPr>
              <a:t>Knowledge-based Systems (KBS)</a:t>
            </a:r>
          </a:p>
        </p:txBody>
      </p:sp>
      <p:sp>
        <p:nvSpPr>
          <p:cNvPr id="3" name="Content Placeholder 2">
            <a:extLst>
              <a:ext uri="{FF2B5EF4-FFF2-40B4-BE49-F238E27FC236}">
                <a16:creationId xmlns:a16="http://schemas.microsoft.com/office/drawing/2014/main" id="{17148BE1-059C-4E33-1137-2C5E19EBE5A4}"/>
              </a:ext>
            </a:extLst>
          </p:cNvPr>
          <p:cNvSpPr>
            <a:spLocks noGrp="1"/>
          </p:cNvSpPr>
          <p:nvPr>
            <p:ph idx="1"/>
          </p:nvPr>
        </p:nvSpPr>
        <p:spPr>
          <a:xfrm>
            <a:off x="753893" y="2480553"/>
            <a:ext cx="9693613" cy="3278221"/>
          </a:xfrm>
        </p:spPr>
        <p:txBody>
          <a:bodyPr>
            <a:normAutofit/>
          </a:bodyPr>
          <a:lstStyle/>
          <a:p>
            <a:r>
              <a:rPr lang="en-US" dirty="0">
                <a:latin typeface="Aptos" panose="020B0004020202020204" pitchFamily="34" charset="0"/>
              </a:rPr>
              <a:t>A Knowledge-Based Agent is an AI system that uses an explicit Knowledge Base (KB) made up of facts and rules to analyze situations, derive conclusions and answers queries or take appropriate actions. </a:t>
            </a:r>
          </a:p>
          <a:p>
            <a:endParaRPr lang="en-US" dirty="0">
              <a:latin typeface="Aptos" panose="020B0004020202020204" pitchFamily="34" charset="0"/>
            </a:endParaRPr>
          </a:p>
          <a:p>
            <a:r>
              <a:rPr lang="en-US" dirty="0">
                <a:latin typeface="Aptos" panose="020B0004020202020204" pitchFamily="34" charset="0"/>
              </a:rPr>
              <a:t>Instead of reacting directly to input, a knowledge-based agent reasons about what it knows, updates beliefs when new information arrives and explains its decisions.</a:t>
            </a:r>
          </a:p>
        </p:txBody>
      </p:sp>
    </p:spTree>
    <p:extLst>
      <p:ext uri="{BB962C8B-B14F-4D97-AF65-F5344CB8AC3E}">
        <p14:creationId xmlns:p14="http://schemas.microsoft.com/office/powerpoint/2010/main" val="4057486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7444" y="688974"/>
            <a:ext cx="7845756" cy="635000"/>
          </a:xfrm>
          <a:prstGeom prst="rect">
            <a:avLst/>
          </a:prstGeom>
        </p:spPr>
        <p:txBody>
          <a:bodyPr vert="horz" wrap="square" lIns="0" tIns="12065" rIns="0" bIns="0" rtlCol="0" anchor="ctr">
            <a:spAutoFit/>
          </a:bodyPr>
          <a:lstStyle/>
          <a:p>
            <a:pPr marL="12700">
              <a:lnSpc>
                <a:spcPct val="100000"/>
              </a:lnSpc>
              <a:spcBef>
                <a:spcPts val="95"/>
              </a:spcBef>
            </a:pPr>
            <a:r>
              <a:rPr lang="en-US" b="1" cap="none" spc="-95" dirty="0">
                <a:latin typeface="Aptos" panose="020B0004020202020204" pitchFamily="34" charset="0"/>
              </a:rPr>
              <a:t>Knowledge-based</a:t>
            </a:r>
            <a:r>
              <a:rPr lang="en-US" b="1" cap="none" spc="-235" dirty="0">
                <a:latin typeface="Aptos" panose="020B0004020202020204" pitchFamily="34" charset="0"/>
              </a:rPr>
              <a:t> </a:t>
            </a:r>
            <a:r>
              <a:rPr lang="en-US" b="1" cap="none" spc="-145" dirty="0">
                <a:latin typeface="Aptos" panose="020B0004020202020204" pitchFamily="34" charset="0"/>
              </a:rPr>
              <a:t>agent</a:t>
            </a:r>
            <a:endParaRPr lang="en-US" b="1" cap="none" dirty="0">
              <a:latin typeface="Aptos" panose="020B0004020202020204" pitchFamily="34" charset="0"/>
            </a:endParaRPr>
          </a:p>
        </p:txBody>
      </p:sp>
      <p:sp>
        <p:nvSpPr>
          <p:cNvPr id="3" name="object 3"/>
          <p:cNvSpPr txBox="1"/>
          <p:nvPr/>
        </p:nvSpPr>
        <p:spPr>
          <a:xfrm>
            <a:off x="1981200" y="1905001"/>
            <a:ext cx="8382000" cy="4444165"/>
          </a:xfrm>
          <a:prstGeom prst="rect">
            <a:avLst/>
          </a:prstGeom>
        </p:spPr>
        <p:txBody>
          <a:bodyPr vert="horz" wrap="square" lIns="0" tIns="12065" rIns="0" bIns="0" rtlCol="0">
            <a:spAutoFit/>
          </a:bodyPr>
          <a:lstStyle/>
          <a:p>
            <a:pPr marL="457200" indent="-457200" defTabSz="914400" eaLnBrk="0" fontAlgn="base" hangingPunct="0">
              <a:spcBef>
                <a:spcPct val="0"/>
              </a:spcBef>
              <a:spcAft>
                <a:spcPct val="0"/>
              </a:spcAft>
              <a:buFont typeface="Arial" panose="020B0604020202020204" pitchFamily="34" charset="0"/>
              <a:buChar char="•"/>
            </a:pPr>
            <a:r>
              <a:rPr lang="en-US" altLang="en-US" sz="2400" dirty="0">
                <a:solidFill>
                  <a:schemeClr val="tx1">
                    <a:lumMod val="95000"/>
                    <a:lumOff val="5000"/>
                  </a:schemeClr>
                </a:solidFill>
                <a:latin typeface="Aptos" panose="020B0004020202020204" pitchFamily="34" charset="0"/>
              </a:rPr>
              <a:t>A Knowledge-Based Agent is an intelligent agent that uses a knowledge base and reasoning to decide what actions to take.</a:t>
            </a:r>
          </a:p>
          <a:p>
            <a:pPr marL="457200" indent="-457200" defTabSz="914400" eaLnBrk="0" fontAlgn="base" hangingPunct="0">
              <a:spcBef>
                <a:spcPct val="0"/>
              </a:spcBef>
              <a:spcAft>
                <a:spcPct val="0"/>
              </a:spcAft>
              <a:buFont typeface="Arial" panose="020B0604020202020204" pitchFamily="34" charset="0"/>
              <a:buChar char="•"/>
            </a:pPr>
            <a:r>
              <a:rPr lang="en-US" altLang="en-US" sz="2400" dirty="0">
                <a:solidFill>
                  <a:schemeClr val="tx1">
                    <a:lumMod val="95000"/>
                    <a:lumOff val="5000"/>
                  </a:schemeClr>
                </a:solidFill>
                <a:latin typeface="Aptos" panose="020B0004020202020204" pitchFamily="34" charset="0"/>
              </a:rPr>
              <a:t>Instead of reacting blindly, it stores knowledge, reasons about it, and then acts.</a:t>
            </a:r>
          </a:p>
          <a:p>
            <a:pPr marL="457200" indent="-457200" defTabSz="914400" eaLnBrk="0" fontAlgn="base" hangingPunct="0">
              <a:spcBef>
                <a:spcPct val="0"/>
              </a:spcBef>
              <a:spcAft>
                <a:spcPct val="0"/>
              </a:spcAft>
              <a:buFont typeface="Arial" panose="020B0604020202020204" pitchFamily="34" charset="0"/>
              <a:buChar char="•"/>
            </a:pPr>
            <a:r>
              <a:rPr lang="en-US" sz="2400" dirty="0">
                <a:solidFill>
                  <a:schemeClr val="tx1">
                    <a:lumMod val="95000"/>
                    <a:lumOff val="5000"/>
                  </a:schemeClr>
                </a:solidFill>
                <a:latin typeface="Aptos" panose="020B0004020202020204" pitchFamily="34" charset="0"/>
                <a:cs typeface="Times New Roman"/>
              </a:rPr>
              <a:t>A Knowledge-Based Agent is an AI system that uses an explicit Knowledge Base (KB) made up of facts and rules to </a:t>
            </a:r>
            <a:r>
              <a:rPr lang="en-US" sz="2400" dirty="0">
                <a:solidFill>
                  <a:schemeClr val="tx1">
                    <a:lumMod val="95000"/>
                    <a:lumOff val="5000"/>
                  </a:schemeClr>
                </a:solidFill>
                <a:highlight>
                  <a:srgbClr val="FFFF00"/>
                </a:highlight>
                <a:latin typeface="Aptos" panose="020B0004020202020204" pitchFamily="34" charset="0"/>
                <a:cs typeface="Times New Roman"/>
              </a:rPr>
              <a:t>analyze situations, derive conclusions and answers queries</a:t>
            </a:r>
            <a:r>
              <a:rPr lang="en-US" sz="2400" dirty="0">
                <a:solidFill>
                  <a:schemeClr val="tx1">
                    <a:lumMod val="95000"/>
                    <a:lumOff val="5000"/>
                  </a:schemeClr>
                </a:solidFill>
                <a:latin typeface="Aptos" panose="020B0004020202020204" pitchFamily="34" charset="0"/>
                <a:cs typeface="Times New Roman"/>
              </a:rPr>
              <a:t> or take appropriate actions. </a:t>
            </a:r>
          </a:p>
          <a:p>
            <a:pPr marL="457200" indent="-457200" defTabSz="914400" eaLnBrk="0" fontAlgn="base" hangingPunct="0">
              <a:spcBef>
                <a:spcPct val="0"/>
              </a:spcBef>
              <a:spcAft>
                <a:spcPct val="0"/>
              </a:spcAft>
              <a:buFont typeface="Arial" panose="020B0604020202020204" pitchFamily="34" charset="0"/>
              <a:buChar char="•"/>
            </a:pPr>
            <a:r>
              <a:rPr lang="en-US" sz="2400" dirty="0">
                <a:solidFill>
                  <a:schemeClr val="tx1">
                    <a:lumMod val="95000"/>
                    <a:lumOff val="5000"/>
                  </a:schemeClr>
                </a:solidFill>
                <a:latin typeface="Aptos" panose="020B0004020202020204" pitchFamily="34" charset="0"/>
                <a:cs typeface="Times New Roman"/>
              </a:rPr>
              <a:t>Instead of reacting directly to input, a knowledge-based agent reasons about what it knows, updates beliefs when new information arrives and explains its decisions.</a:t>
            </a:r>
            <a:endParaRPr sz="2400" dirty="0">
              <a:solidFill>
                <a:schemeClr val="tx1">
                  <a:lumMod val="95000"/>
                  <a:lumOff val="5000"/>
                </a:schemeClr>
              </a:solidFill>
              <a:latin typeface="Aptos" panose="020B0004020202020204" pitchFamily="34" charset="0"/>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FB7A4-971E-1621-93F4-6AF3F7D79A02}"/>
              </a:ext>
            </a:extLst>
          </p:cNvPr>
          <p:cNvSpPr>
            <a:spLocks noGrp="1"/>
          </p:cNvSpPr>
          <p:nvPr>
            <p:ph type="title"/>
          </p:nvPr>
        </p:nvSpPr>
        <p:spPr>
          <a:xfrm>
            <a:off x="3962400" y="626786"/>
            <a:ext cx="6377940" cy="1293028"/>
          </a:xfrm>
        </p:spPr>
        <p:txBody>
          <a:bodyPr/>
          <a:lstStyle/>
          <a:p>
            <a:r>
              <a:rPr lang="en-US" b="1" cap="none" dirty="0">
                <a:latin typeface="Aptos" panose="020B0004020202020204" pitchFamily="34" charset="0"/>
              </a:rPr>
              <a:t>Why Do We Need KBS?</a:t>
            </a:r>
            <a:endParaRPr lang="en-US" cap="none" dirty="0">
              <a:latin typeface="Aptos" panose="020B0004020202020204" pitchFamily="34" charset="0"/>
            </a:endParaRPr>
          </a:p>
        </p:txBody>
      </p:sp>
      <p:sp>
        <p:nvSpPr>
          <p:cNvPr id="3" name="Content Placeholder 2">
            <a:extLst>
              <a:ext uri="{FF2B5EF4-FFF2-40B4-BE49-F238E27FC236}">
                <a16:creationId xmlns:a16="http://schemas.microsoft.com/office/drawing/2014/main" id="{D167F411-BB6F-DD20-6B02-22E5DB2381CF}"/>
              </a:ext>
            </a:extLst>
          </p:cNvPr>
          <p:cNvSpPr>
            <a:spLocks noGrp="1"/>
          </p:cNvSpPr>
          <p:nvPr>
            <p:ph idx="1"/>
          </p:nvPr>
        </p:nvSpPr>
        <p:spPr/>
        <p:txBody>
          <a:bodyPr>
            <a:normAutofit/>
          </a:bodyPr>
          <a:lstStyle/>
          <a:p>
            <a:pPr marL="0" indent="0">
              <a:buNone/>
            </a:pPr>
            <a:r>
              <a:rPr lang="en-US" sz="2800" b="1" dirty="0">
                <a:solidFill>
                  <a:schemeClr val="tx1">
                    <a:lumMod val="95000"/>
                    <a:lumOff val="5000"/>
                  </a:schemeClr>
                </a:solidFill>
                <a:latin typeface="Aptos" panose="020B0004020202020204" pitchFamily="34" charset="0"/>
              </a:rPr>
              <a:t>Traditional programs:</a:t>
            </a:r>
          </a:p>
          <a:p>
            <a:pPr>
              <a:buFont typeface="Arial" panose="020B0604020202020204" pitchFamily="34" charset="0"/>
              <a:buChar char="•"/>
            </a:pPr>
            <a:r>
              <a:rPr lang="en-US" sz="2800" dirty="0">
                <a:solidFill>
                  <a:schemeClr val="tx1">
                    <a:lumMod val="95000"/>
                    <a:lumOff val="5000"/>
                  </a:schemeClr>
                </a:solidFill>
                <a:latin typeface="Aptos" panose="020B0004020202020204" pitchFamily="34" charset="0"/>
              </a:rPr>
              <a:t>Follow fixed algorithms</a:t>
            </a:r>
          </a:p>
          <a:p>
            <a:pPr>
              <a:buFont typeface="Arial" panose="020B0604020202020204" pitchFamily="34" charset="0"/>
              <a:buChar char="•"/>
            </a:pPr>
            <a:r>
              <a:rPr lang="en-US" sz="2800" dirty="0">
                <a:solidFill>
                  <a:schemeClr val="tx1">
                    <a:lumMod val="95000"/>
                    <a:lumOff val="5000"/>
                  </a:schemeClr>
                </a:solidFill>
                <a:latin typeface="Aptos" panose="020B0004020202020204" pitchFamily="34" charset="0"/>
              </a:rPr>
              <a:t>Cannot reason beyond coded steps</a:t>
            </a:r>
          </a:p>
          <a:p>
            <a:pPr marL="0" indent="0">
              <a:buNone/>
            </a:pPr>
            <a:r>
              <a:rPr lang="en-US" sz="2800" b="1" dirty="0">
                <a:solidFill>
                  <a:schemeClr val="tx1">
                    <a:lumMod val="95000"/>
                    <a:lumOff val="5000"/>
                  </a:schemeClr>
                </a:solidFill>
                <a:latin typeface="Aptos" panose="020B0004020202020204" pitchFamily="34" charset="0"/>
              </a:rPr>
              <a:t>Knowledge-Based Systems:</a:t>
            </a:r>
          </a:p>
          <a:p>
            <a:pPr>
              <a:buFont typeface="Arial" panose="020B0604020202020204" pitchFamily="34" charset="0"/>
              <a:buChar char="•"/>
            </a:pPr>
            <a:r>
              <a:rPr lang="en-US" sz="2800" dirty="0">
                <a:solidFill>
                  <a:schemeClr val="tx1">
                    <a:lumMod val="95000"/>
                    <a:lumOff val="5000"/>
                  </a:schemeClr>
                </a:solidFill>
                <a:latin typeface="Aptos" panose="020B0004020202020204" pitchFamily="34" charset="0"/>
              </a:rPr>
              <a:t>Can draw conclusions</a:t>
            </a:r>
          </a:p>
          <a:p>
            <a:pPr>
              <a:buFont typeface="Arial" panose="020B0604020202020204" pitchFamily="34" charset="0"/>
              <a:buChar char="•"/>
            </a:pPr>
            <a:r>
              <a:rPr lang="en-US" sz="2800" dirty="0">
                <a:solidFill>
                  <a:schemeClr val="tx1">
                    <a:lumMod val="95000"/>
                    <a:lumOff val="5000"/>
                  </a:schemeClr>
                </a:solidFill>
                <a:latin typeface="Aptos" panose="020B0004020202020204" pitchFamily="34" charset="0"/>
              </a:rPr>
              <a:t>Can explain decisions</a:t>
            </a:r>
          </a:p>
          <a:p>
            <a:pPr>
              <a:buFont typeface="Arial" panose="020B0604020202020204" pitchFamily="34" charset="0"/>
              <a:buChar char="•"/>
            </a:pPr>
            <a:r>
              <a:rPr lang="en-US" sz="2800" dirty="0">
                <a:solidFill>
                  <a:schemeClr val="tx1">
                    <a:lumMod val="95000"/>
                    <a:lumOff val="5000"/>
                  </a:schemeClr>
                </a:solidFill>
                <a:latin typeface="Aptos" panose="020B0004020202020204" pitchFamily="34" charset="0"/>
              </a:rPr>
              <a:t>Can simulate expert thinking</a:t>
            </a:r>
          </a:p>
        </p:txBody>
      </p:sp>
    </p:spTree>
    <p:extLst>
      <p:ext uri="{BB962C8B-B14F-4D97-AF65-F5344CB8AC3E}">
        <p14:creationId xmlns:p14="http://schemas.microsoft.com/office/powerpoint/2010/main" val="1363179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58501" y="592833"/>
            <a:ext cx="6601562" cy="1243930"/>
          </a:xfrm>
          <a:prstGeom prst="rect">
            <a:avLst/>
          </a:prstGeom>
        </p:spPr>
        <p:txBody>
          <a:bodyPr vert="horz" wrap="square" lIns="0" tIns="12700" rIns="0" bIns="0" rtlCol="0" anchor="ctr">
            <a:spAutoFit/>
          </a:bodyPr>
          <a:lstStyle/>
          <a:p>
            <a:pPr marL="12700">
              <a:lnSpc>
                <a:spcPct val="100000"/>
              </a:lnSpc>
              <a:spcBef>
                <a:spcPts val="100"/>
              </a:spcBef>
            </a:pPr>
            <a:r>
              <a:rPr lang="en-US" cap="none" dirty="0">
                <a:latin typeface="Aptos" panose="020B0004020202020204" pitchFamily="34" charset="0"/>
              </a:rPr>
              <a:t>Structure of knowledge-based systems</a:t>
            </a:r>
            <a:r>
              <a:rPr lang="en-US" cap="none" spc="-160" dirty="0">
                <a:latin typeface="Aptos" panose="020B0004020202020204" pitchFamily="34" charset="0"/>
              </a:rPr>
              <a:t>.</a:t>
            </a:r>
          </a:p>
        </p:txBody>
      </p:sp>
      <p:sp>
        <p:nvSpPr>
          <p:cNvPr id="4" name="object 4"/>
          <p:cNvSpPr txBox="1"/>
          <p:nvPr/>
        </p:nvSpPr>
        <p:spPr>
          <a:xfrm>
            <a:off x="1781657" y="6314947"/>
            <a:ext cx="229870" cy="228268"/>
          </a:xfrm>
          <a:prstGeom prst="rect">
            <a:avLst/>
          </a:prstGeom>
        </p:spPr>
        <p:txBody>
          <a:bodyPr vert="horz" wrap="square" lIns="0" tIns="12700" rIns="0" bIns="0" rtlCol="0">
            <a:spAutoFit/>
          </a:bodyPr>
          <a:lstStyle/>
          <a:p>
            <a:pPr marL="12700">
              <a:spcBef>
                <a:spcPts val="100"/>
              </a:spcBef>
            </a:pPr>
            <a:r>
              <a:rPr sz="1400" spc="65" dirty="0">
                <a:solidFill>
                  <a:srgbClr val="FFFFFF"/>
                </a:solidFill>
                <a:latin typeface="Trebuchet MS"/>
                <a:cs typeface="Trebuchet MS"/>
              </a:rPr>
              <a:t>5</a:t>
            </a:r>
            <a:endParaRPr sz="1400" dirty="0">
              <a:latin typeface="Trebuchet MS"/>
              <a:cs typeface="Trebuchet MS"/>
            </a:endParaRPr>
          </a:p>
        </p:txBody>
      </p:sp>
      <p:pic>
        <p:nvPicPr>
          <p:cNvPr id="1026" name="Picture 2" descr="Knowledge Based Systems - an overview | ScienceDirect Topics">
            <a:extLst>
              <a:ext uri="{FF2B5EF4-FFF2-40B4-BE49-F238E27FC236}">
                <a16:creationId xmlns:a16="http://schemas.microsoft.com/office/drawing/2014/main" id="{4E7F80FE-BE8C-1BFF-A38F-202FD3BF28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2209801"/>
            <a:ext cx="7239000" cy="36393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CF21C-2706-64A1-FC4F-DBF841B3BA63}"/>
              </a:ext>
            </a:extLst>
          </p:cNvPr>
          <p:cNvSpPr>
            <a:spLocks noGrp="1"/>
          </p:cNvSpPr>
          <p:nvPr>
            <p:ph type="title"/>
          </p:nvPr>
        </p:nvSpPr>
        <p:spPr>
          <a:xfrm>
            <a:off x="3810000" y="304800"/>
            <a:ext cx="6606540" cy="1293028"/>
          </a:xfrm>
        </p:spPr>
        <p:txBody>
          <a:bodyPr/>
          <a:lstStyle/>
          <a:p>
            <a:r>
              <a:rPr lang="en-US" b="1" cap="none" dirty="0">
                <a:latin typeface="Aptos" panose="020B0004020202020204" pitchFamily="34" charset="0"/>
              </a:rPr>
              <a:t>Knowledge-based Systems</a:t>
            </a:r>
          </a:p>
        </p:txBody>
      </p:sp>
      <p:sp>
        <p:nvSpPr>
          <p:cNvPr id="3" name="Content Placeholder 2">
            <a:extLst>
              <a:ext uri="{FF2B5EF4-FFF2-40B4-BE49-F238E27FC236}">
                <a16:creationId xmlns:a16="http://schemas.microsoft.com/office/drawing/2014/main" id="{58712DDF-8C21-22F9-1087-D2B7931D7CD0}"/>
              </a:ext>
            </a:extLst>
          </p:cNvPr>
          <p:cNvSpPr>
            <a:spLocks noGrp="1"/>
          </p:cNvSpPr>
          <p:nvPr>
            <p:ph idx="1"/>
          </p:nvPr>
        </p:nvSpPr>
        <p:spPr>
          <a:xfrm>
            <a:off x="2118360" y="1597828"/>
            <a:ext cx="7955280" cy="5031572"/>
          </a:xfrm>
        </p:spPr>
        <p:txBody>
          <a:bodyPr>
            <a:normAutofit fontScale="92500"/>
          </a:bodyPr>
          <a:lstStyle/>
          <a:p>
            <a:pPr marL="0" indent="0">
              <a:buNone/>
            </a:pPr>
            <a:r>
              <a:rPr lang="en-US" sz="2400" dirty="0">
                <a:solidFill>
                  <a:schemeClr val="tx1">
                    <a:lumMod val="95000"/>
                    <a:lumOff val="5000"/>
                  </a:schemeClr>
                </a:solidFill>
                <a:latin typeface="Aptos" panose="020B0004020202020204" pitchFamily="34" charset="0"/>
              </a:rPr>
              <a:t>A knowledge-based system in general consists of four main components: a database, a knowledge base, an inference engine, and a user interface.</a:t>
            </a:r>
          </a:p>
          <a:p>
            <a:r>
              <a:rPr lang="en-US" sz="2400" dirty="0">
                <a:solidFill>
                  <a:schemeClr val="tx1">
                    <a:lumMod val="95000"/>
                    <a:lumOff val="5000"/>
                  </a:schemeClr>
                </a:solidFill>
                <a:latin typeface="Aptos" panose="020B0004020202020204" pitchFamily="34" charset="0"/>
              </a:rPr>
              <a:t> A user interacts with the system through the </a:t>
            </a:r>
            <a:r>
              <a:rPr lang="en-US" sz="2400" b="1" dirty="0">
                <a:solidFill>
                  <a:schemeClr val="tx1">
                    <a:lumMod val="95000"/>
                    <a:lumOff val="5000"/>
                  </a:schemeClr>
                </a:solidFill>
                <a:latin typeface="Aptos" panose="020B0004020202020204" pitchFamily="34" charset="0"/>
              </a:rPr>
              <a:t>user interface</a:t>
            </a:r>
            <a:r>
              <a:rPr lang="en-US" sz="2400" dirty="0">
                <a:solidFill>
                  <a:schemeClr val="tx1">
                    <a:lumMod val="95000"/>
                    <a:lumOff val="5000"/>
                  </a:schemeClr>
                </a:solidFill>
                <a:latin typeface="Aptos" panose="020B0004020202020204" pitchFamily="34" charset="0"/>
              </a:rPr>
              <a:t>. The interaction usually takes the form of </a:t>
            </a:r>
            <a:r>
              <a:rPr lang="en-US" sz="2400" b="1" dirty="0">
                <a:solidFill>
                  <a:schemeClr val="tx1">
                    <a:lumMod val="95000"/>
                    <a:lumOff val="5000"/>
                  </a:schemeClr>
                </a:solidFill>
                <a:latin typeface="Aptos" panose="020B0004020202020204" pitchFamily="34" charset="0"/>
              </a:rPr>
              <a:t>query-and-response</a:t>
            </a:r>
            <a:r>
              <a:rPr lang="en-US" sz="2400" dirty="0">
                <a:solidFill>
                  <a:schemeClr val="tx1">
                    <a:lumMod val="95000"/>
                    <a:lumOff val="5000"/>
                  </a:schemeClr>
                </a:solidFill>
                <a:latin typeface="Aptos" panose="020B0004020202020204" pitchFamily="34" charset="0"/>
              </a:rPr>
              <a:t>. </a:t>
            </a:r>
          </a:p>
          <a:p>
            <a:r>
              <a:rPr lang="en-US" sz="2400" dirty="0">
                <a:solidFill>
                  <a:schemeClr val="tx1">
                    <a:lumMod val="95000"/>
                    <a:lumOff val="5000"/>
                  </a:schemeClr>
                </a:solidFill>
                <a:latin typeface="Aptos" panose="020B0004020202020204" pitchFamily="34" charset="0"/>
              </a:rPr>
              <a:t>The </a:t>
            </a:r>
            <a:r>
              <a:rPr lang="en-US" sz="2400" b="1" dirty="0">
                <a:solidFill>
                  <a:schemeClr val="tx1">
                    <a:lumMod val="95000"/>
                    <a:lumOff val="5000"/>
                  </a:schemeClr>
                </a:solidFill>
                <a:latin typeface="Aptos" panose="020B0004020202020204" pitchFamily="34" charset="0"/>
              </a:rPr>
              <a:t>knowledge base </a:t>
            </a:r>
            <a:r>
              <a:rPr lang="en-US" sz="2400" dirty="0">
                <a:solidFill>
                  <a:schemeClr val="tx1">
                    <a:lumMod val="95000"/>
                    <a:lumOff val="5000"/>
                  </a:schemeClr>
                </a:solidFill>
                <a:latin typeface="Aptos" panose="020B0004020202020204" pitchFamily="34" charset="0"/>
              </a:rPr>
              <a:t>usually contains a set of if–then rules. </a:t>
            </a:r>
          </a:p>
          <a:p>
            <a:r>
              <a:rPr lang="en-US" sz="2400" dirty="0">
                <a:solidFill>
                  <a:schemeClr val="tx1">
                    <a:lumMod val="95000"/>
                    <a:lumOff val="5000"/>
                  </a:schemeClr>
                </a:solidFill>
                <a:latin typeface="Aptos" panose="020B0004020202020204" pitchFamily="34" charset="0"/>
              </a:rPr>
              <a:t>The </a:t>
            </a:r>
            <a:r>
              <a:rPr lang="en-US" sz="2400" b="1" dirty="0">
                <a:solidFill>
                  <a:schemeClr val="tx1">
                    <a:lumMod val="95000"/>
                    <a:lumOff val="5000"/>
                  </a:schemeClr>
                </a:solidFill>
                <a:latin typeface="Aptos" panose="020B0004020202020204" pitchFamily="34" charset="0"/>
              </a:rPr>
              <a:t>database</a:t>
            </a:r>
            <a:r>
              <a:rPr lang="en-US" sz="2400" dirty="0">
                <a:solidFill>
                  <a:schemeClr val="tx1">
                    <a:lumMod val="95000"/>
                    <a:lumOff val="5000"/>
                  </a:schemeClr>
                </a:solidFill>
                <a:latin typeface="Aptos" panose="020B0004020202020204" pitchFamily="34" charset="0"/>
              </a:rPr>
              <a:t> contains the current data (also called context) of a query–response process. </a:t>
            </a:r>
          </a:p>
          <a:p>
            <a:r>
              <a:rPr lang="en-US" sz="2400" dirty="0">
                <a:solidFill>
                  <a:schemeClr val="tx1">
                    <a:lumMod val="95000"/>
                    <a:lumOff val="5000"/>
                  </a:schemeClr>
                </a:solidFill>
                <a:latin typeface="Aptos" panose="020B0004020202020204" pitchFamily="34" charset="0"/>
              </a:rPr>
              <a:t>The </a:t>
            </a:r>
            <a:r>
              <a:rPr lang="en-US" sz="2400" b="1" dirty="0">
                <a:solidFill>
                  <a:schemeClr val="tx1">
                    <a:lumMod val="95000"/>
                    <a:lumOff val="5000"/>
                  </a:schemeClr>
                </a:solidFill>
                <a:latin typeface="Aptos" panose="020B0004020202020204" pitchFamily="34" charset="0"/>
              </a:rPr>
              <a:t>inference engine </a:t>
            </a:r>
            <a:r>
              <a:rPr lang="en-US" sz="2400" dirty="0">
                <a:solidFill>
                  <a:schemeClr val="tx1">
                    <a:lumMod val="95000"/>
                    <a:lumOff val="5000"/>
                  </a:schemeClr>
                </a:solidFill>
                <a:latin typeface="Aptos" panose="020B0004020202020204" pitchFamily="34" charset="0"/>
              </a:rPr>
              <a:t>is the reasoning mechanism; it manipulates the if–then rules and the context to produce a response. </a:t>
            </a:r>
          </a:p>
          <a:p>
            <a:r>
              <a:rPr lang="en-US" sz="2400" dirty="0">
                <a:solidFill>
                  <a:schemeClr val="tx1">
                    <a:lumMod val="95000"/>
                    <a:lumOff val="5000"/>
                  </a:schemeClr>
                </a:solidFill>
                <a:latin typeface="Aptos" panose="020B0004020202020204" pitchFamily="34" charset="0"/>
              </a:rPr>
              <a:t>For a rule in the form of “If A then B,” A is referred to as the antecedent and B the consequent. Intuitively, A and B represent the condition and action of a rule, respectively.</a:t>
            </a:r>
          </a:p>
        </p:txBody>
      </p:sp>
    </p:spTree>
    <p:extLst>
      <p:ext uri="{BB962C8B-B14F-4D97-AF65-F5344CB8AC3E}">
        <p14:creationId xmlns:p14="http://schemas.microsoft.com/office/powerpoint/2010/main" val="4173974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7444" y="688974"/>
            <a:ext cx="7693356" cy="635000"/>
          </a:xfrm>
          <a:prstGeom prst="rect">
            <a:avLst/>
          </a:prstGeom>
        </p:spPr>
        <p:txBody>
          <a:bodyPr vert="horz" wrap="square" lIns="0" tIns="12065" rIns="0" bIns="0" rtlCol="0" anchor="ctr">
            <a:spAutoFit/>
          </a:bodyPr>
          <a:lstStyle/>
          <a:p>
            <a:pPr marL="12700">
              <a:lnSpc>
                <a:spcPct val="100000"/>
              </a:lnSpc>
              <a:spcBef>
                <a:spcPts val="95"/>
              </a:spcBef>
            </a:pPr>
            <a:r>
              <a:rPr lang="en-US" b="1" cap="none" spc="35" dirty="0">
                <a:latin typeface="Aptos" panose="020B0004020202020204" pitchFamily="34" charset="0"/>
              </a:rPr>
              <a:t>Main </a:t>
            </a:r>
            <a:r>
              <a:rPr lang="en-US" b="1" cap="none" spc="229" dirty="0">
                <a:latin typeface="Aptos" panose="020B0004020202020204" pitchFamily="34" charset="0"/>
              </a:rPr>
              <a:t>KBS</a:t>
            </a:r>
            <a:r>
              <a:rPr lang="en-US" b="1" cap="none" spc="-505" dirty="0">
                <a:latin typeface="Aptos" panose="020B0004020202020204" pitchFamily="34" charset="0"/>
              </a:rPr>
              <a:t> </a:t>
            </a:r>
            <a:r>
              <a:rPr lang="en-US" b="1" cap="none" spc="-75" dirty="0">
                <a:latin typeface="Aptos" panose="020B0004020202020204" pitchFamily="34" charset="0"/>
              </a:rPr>
              <a:t>components</a:t>
            </a:r>
            <a:endParaRPr lang="en-US" b="1" cap="none" dirty="0">
              <a:latin typeface="Aptos" panose="020B0004020202020204" pitchFamily="34" charset="0"/>
            </a:endParaRPr>
          </a:p>
        </p:txBody>
      </p:sp>
      <p:sp>
        <p:nvSpPr>
          <p:cNvPr id="3" name="object 3"/>
          <p:cNvSpPr txBox="1"/>
          <p:nvPr/>
        </p:nvSpPr>
        <p:spPr>
          <a:xfrm>
            <a:off x="2057401" y="2057401"/>
            <a:ext cx="7504889" cy="4326183"/>
          </a:xfrm>
          <a:prstGeom prst="rect">
            <a:avLst/>
          </a:prstGeom>
        </p:spPr>
        <p:txBody>
          <a:bodyPr vert="horz" wrap="square" lIns="0" tIns="65404" rIns="0" bIns="0" rtlCol="0">
            <a:spAutoFit/>
          </a:bodyPr>
          <a:lstStyle/>
          <a:p>
            <a:pPr marL="12700">
              <a:spcBef>
                <a:spcPts val="515"/>
              </a:spcBef>
              <a:buClr>
                <a:srgbClr val="D24717"/>
              </a:buClr>
              <a:buSzPct val="83928"/>
              <a:tabLst>
                <a:tab pos="287020" algn="l"/>
              </a:tabLst>
            </a:pPr>
            <a:r>
              <a:rPr sz="3200" spc="-165" dirty="0">
                <a:solidFill>
                  <a:schemeClr val="tx1">
                    <a:lumMod val="95000"/>
                    <a:lumOff val="5000"/>
                  </a:schemeClr>
                </a:solidFill>
                <a:latin typeface="Aptos" panose="020B0004020202020204" pitchFamily="34" charset="0"/>
                <a:cs typeface="Times New Roman"/>
              </a:rPr>
              <a:t>Knowledge</a:t>
            </a:r>
            <a:r>
              <a:rPr sz="3200" spc="-55" dirty="0">
                <a:solidFill>
                  <a:schemeClr val="tx1">
                    <a:lumMod val="95000"/>
                    <a:lumOff val="5000"/>
                  </a:schemeClr>
                </a:solidFill>
                <a:latin typeface="Aptos" panose="020B0004020202020204" pitchFamily="34" charset="0"/>
                <a:cs typeface="Times New Roman"/>
              </a:rPr>
              <a:t> </a:t>
            </a:r>
            <a:r>
              <a:rPr sz="3200" spc="-175" dirty="0">
                <a:solidFill>
                  <a:schemeClr val="tx1">
                    <a:lumMod val="95000"/>
                    <a:lumOff val="5000"/>
                  </a:schemeClr>
                </a:solidFill>
                <a:latin typeface="Aptos" panose="020B0004020202020204" pitchFamily="34" charset="0"/>
                <a:cs typeface="Times New Roman"/>
              </a:rPr>
              <a:t>base</a:t>
            </a:r>
            <a:endParaRPr lang="en-US" sz="3200" dirty="0">
              <a:solidFill>
                <a:schemeClr val="tx1">
                  <a:lumMod val="95000"/>
                  <a:lumOff val="5000"/>
                </a:schemeClr>
              </a:solidFill>
              <a:latin typeface="Aptos" panose="020B0004020202020204" pitchFamily="34" charset="0"/>
              <a:cs typeface="Times New Roman"/>
            </a:endParaRPr>
          </a:p>
          <a:p>
            <a:pPr marL="927100" lvl="1" indent="-457200">
              <a:spcBef>
                <a:spcPts val="515"/>
              </a:spcBef>
              <a:buClr>
                <a:srgbClr val="D24717"/>
              </a:buClr>
              <a:buSzPct val="83928"/>
              <a:buFont typeface="Arial" panose="020B0604020202020204" pitchFamily="34" charset="0"/>
              <a:buChar char="•"/>
              <a:tabLst>
                <a:tab pos="287020" algn="l"/>
              </a:tabLst>
            </a:pPr>
            <a:r>
              <a:rPr lang="en-US" sz="3200" spc="-135" dirty="0">
                <a:solidFill>
                  <a:schemeClr val="tx1">
                    <a:lumMod val="95000"/>
                    <a:lumOff val="5000"/>
                  </a:schemeClr>
                </a:solidFill>
                <a:latin typeface="Aptos" panose="020B0004020202020204" pitchFamily="34" charset="0"/>
                <a:cs typeface="Times New Roman"/>
              </a:rPr>
              <a:t>The Knowledge Base is the </a:t>
            </a:r>
            <a:r>
              <a:rPr lang="en-US" sz="3200" spc="-135" dirty="0">
                <a:solidFill>
                  <a:schemeClr val="tx1">
                    <a:lumMod val="95000"/>
                    <a:lumOff val="5000"/>
                  </a:schemeClr>
                </a:solidFill>
                <a:highlight>
                  <a:srgbClr val="FFFF00"/>
                </a:highlight>
                <a:latin typeface="Aptos" panose="020B0004020202020204" pitchFamily="34" charset="0"/>
                <a:cs typeface="Times New Roman"/>
              </a:rPr>
              <a:t>heart</a:t>
            </a:r>
            <a:r>
              <a:rPr lang="en-US" sz="3200" spc="-135" dirty="0">
                <a:solidFill>
                  <a:schemeClr val="tx1">
                    <a:lumMod val="95000"/>
                    <a:lumOff val="5000"/>
                  </a:schemeClr>
                </a:solidFill>
                <a:latin typeface="Aptos" panose="020B0004020202020204" pitchFamily="34" charset="0"/>
                <a:cs typeface="Times New Roman"/>
              </a:rPr>
              <a:t> of the system.</a:t>
            </a:r>
          </a:p>
          <a:p>
            <a:pPr marL="927100" lvl="1" indent="-457200">
              <a:spcBef>
                <a:spcPts val="515"/>
              </a:spcBef>
              <a:buClr>
                <a:srgbClr val="D24717"/>
              </a:buClr>
              <a:buSzPct val="83928"/>
              <a:buFont typeface="Arial" panose="020B0604020202020204" pitchFamily="34" charset="0"/>
              <a:buChar char="•"/>
              <a:tabLst>
                <a:tab pos="287020" algn="l"/>
              </a:tabLst>
            </a:pPr>
            <a:r>
              <a:rPr sz="3200" spc="-135" dirty="0">
                <a:solidFill>
                  <a:schemeClr val="tx1">
                    <a:lumMod val="95000"/>
                    <a:lumOff val="5000"/>
                  </a:schemeClr>
                </a:solidFill>
                <a:latin typeface="Aptos" panose="020B0004020202020204" pitchFamily="34" charset="0"/>
                <a:cs typeface="Times New Roman"/>
              </a:rPr>
              <a:t>Contains essential </a:t>
            </a:r>
            <a:r>
              <a:rPr sz="3200" spc="-114" dirty="0">
                <a:solidFill>
                  <a:schemeClr val="tx1">
                    <a:lumMod val="95000"/>
                    <a:lumOff val="5000"/>
                  </a:schemeClr>
                </a:solidFill>
                <a:latin typeface="Aptos" panose="020B0004020202020204" pitchFamily="34" charset="0"/>
                <a:cs typeface="Times New Roman"/>
              </a:rPr>
              <a:t>information </a:t>
            </a:r>
            <a:r>
              <a:rPr sz="3200" spc="-120" dirty="0">
                <a:solidFill>
                  <a:schemeClr val="tx1">
                    <a:lumMod val="95000"/>
                    <a:lumOff val="5000"/>
                  </a:schemeClr>
                </a:solidFill>
                <a:latin typeface="Aptos" panose="020B0004020202020204" pitchFamily="34" charset="0"/>
                <a:cs typeface="Times New Roman"/>
              </a:rPr>
              <a:t>about </a:t>
            </a:r>
            <a:r>
              <a:rPr sz="3200" spc="-85" dirty="0">
                <a:solidFill>
                  <a:schemeClr val="tx1">
                    <a:lumMod val="95000"/>
                    <a:lumOff val="5000"/>
                  </a:schemeClr>
                </a:solidFill>
                <a:latin typeface="Aptos" panose="020B0004020202020204" pitchFamily="34" charset="0"/>
                <a:cs typeface="Times New Roman"/>
              </a:rPr>
              <a:t>the </a:t>
            </a:r>
            <a:r>
              <a:rPr sz="3200" spc="-120" dirty="0">
                <a:solidFill>
                  <a:schemeClr val="tx1">
                    <a:lumMod val="95000"/>
                    <a:lumOff val="5000"/>
                  </a:schemeClr>
                </a:solidFill>
                <a:latin typeface="Aptos" panose="020B0004020202020204" pitchFamily="34" charset="0"/>
                <a:cs typeface="Times New Roman"/>
              </a:rPr>
              <a:t>problem</a:t>
            </a:r>
            <a:r>
              <a:rPr sz="3200" spc="170" dirty="0">
                <a:solidFill>
                  <a:schemeClr val="tx1">
                    <a:lumMod val="95000"/>
                    <a:lumOff val="5000"/>
                  </a:schemeClr>
                </a:solidFill>
                <a:latin typeface="Aptos" panose="020B0004020202020204" pitchFamily="34" charset="0"/>
                <a:cs typeface="Times New Roman"/>
              </a:rPr>
              <a:t> </a:t>
            </a:r>
            <a:r>
              <a:rPr sz="3200" spc="-150" dirty="0">
                <a:solidFill>
                  <a:schemeClr val="tx1">
                    <a:lumMod val="95000"/>
                    <a:lumOff val="5000"/>
                  </a:schemeClr>
                </a:solidFill>
                <a:latin typeface="Aptos" panose="020B0004020202020204" pitchFamily="34" charset="0"/>
                <a:cs typeface="Times New Roman"/>
              </a:rPr>
              <a:t>domain</a:t>
            </a:r>
            <a:endParaRPr lang="en-US" sz="3200" dirty="0">
              <a:solidFill>
                <a:schemeClr val="tx1">
                  <a:lumMod val="95000"/>
                  <a:lumOff val="5000"/>
                </a:schemeClr>
              </a:solidFill>
              <a:latin typeface="Aptos" panose="020B0004020202020204" pitchFamily="34" charset="0"/>
              <a:cs typeface="Times New Roman"/>
            </a:endParaRPr>
          </a:p>
          <a:p>
            <a:pPr marL="927100" lvl="1" indent="-457200">
              <a:spcBef>
                <a:spcPts val="515"/>
              </a:spcBef>
              <a:buClr>
                <a:srgbClr val="D24717"/>
              </a:buClr>
              <a:buSzPct val="83928"/>
              <a:buFont typeface="Arial" panose="020B0604020202020204" pitchFamily="34" charset="0"/>
              <a:buChar char="•"/>
              <a:tabLst>
                <a:tab pos="287020" algn="l"/>
              </a:tabLst>
            </a:pPr>
            <a:r>
              <a:rPr sz="3200" spc="-75" dirty="0">
                <a:solidFill>
                  <a:schemeClr val="tx1">
                    <a:lumMod val="95000"/>
                    <a:lumOff val="5000"/>
                  </a:schemeClr>
                </a:solidFill>
                <a:latin typeface="Aptos" panose="020B0004020202020204" pitchFamily="34" charset="0"/>
                <a:cs typeface="Times New Roman"/>
              </a:rPr>
              <a:t>Often </a:t>
            </a:r>
            <a:r>
              <a:rPr sz="3200" spc="-90" dirty="0">
                <a:solidFill>
                  <a:schemeClr val="tx1">
                    <a:lumMod val="95000"/>
                    <a:lumOff val="5000"/>
                  </a:schemeClr>
                </a:solidFill>
                <a:latin typeface="Aptos" panose="020B0004020202020204" pitchFamily="34" charset="0"/>
                <a:cs typeface="Times New Roman"/>
              </a:rPr>
              <a:t>represented </a:t>
            </a:r>
            <a:r>
              <a:rPr sz="3200" spc="-225" dirty="0">
                <a:solidFill>
                  <a:schemeClr val="tx1">
                    <a:lumMod val="95000"/>
                    <a:lumOff val="5000"/>
                  </a:schemeClr>
                </a:solidFill>
                <a:latin typeface="Aptos" panose="020B0004020202020204" pitchFamily="34" charset="0"/>
                <a:cs typeface="Times New Roman"/>
              </a:rPr>
              <a:t>as </a:t>
            </a:r>
            <a:r>
              <a:rPr lang="en-US" sz="3200" spc="-225" dirty="0">
                <a:solidFill>
                  <a:schemeClr val="tx1">
                    <a:lumMod val="95000"/>
                    <a:lumOff val="5000"/>
                  </a:schemeClr>
                </a:solidFill>
                <a:latin typeface="Aptos" panose="020B0004020202020204" pitchFamily="34" charset="0"/>
                <a:cs typeface="Times New Roman"/>
              </a:rPr>
              <a:t>  </a:t>
            </a:r>
            <a:r>
              <a:rPr sz="3200" spc="-155" dirty="0">
                <a:solidFill>
                  <a:schemeClr val="tx1">
                    <a:lumMod val="95000"/>
                    <a:lumOff val="5000"/>
                  </a:schemeClr>
                </a:solidFill>
                <a:latin typeface="Aptos" panose="020B0004020202020204" pitchFamily="34" charset="0"/>
                <a:cs typeface="Times New Roman"/>
              </a:rPr>
              <a:t>facts </a:t>
            </a:r>
            <a:r>
              <a:rPr sz="3200" spc="-160" dirty="0">
                <a:solidFill>
                  <a:schemeClr val="tx1">
                    <a:lumMod val="95000"/>
                    <a:lumOff val="5000"/>
                  </a:schemeClr>
                </a:solidFill>
                <a:latin typeface="Aptos" panose="020B0004020202020204" pitchFamily="34" charset="0"/>
                <a:cs typeface="Times New Roman"/>
              </a:rPr>
              <a:t>and</a:t>
            </a:r>
            <a:r>
              <a:rPr sz="3200" spc="150" dirty="0">
                <a:solidFill>
                  <a:schemeClr val="tx1">
                    <a:lumMod val="95000"/>
                    <a:lumOff val="5000"/>
                  </a:schemeClr>
                </a:solidFill>
                <a:latin typeface="Aptos" panose="020B0004020202020204" pitchFamily="34" charset="0"/>
                <a:cs typeface="Times New Roman"/>
              </a:rPr>
              <a:t> </a:t>
            </a:r>
            <a:r>
              <a:rPr sz="3200" spc="-90" dirty="0">
                <a:solidFill>
                  <a:schemeClr val="tx1">
                    <a:lumMod val="95000"/>
                    <a:lumOff val="5000"/>
                  </a:schemeClr>
                </a:solidFill>
                <a:latin typeface="Aptos" panose="020B0004020202020204" pitchFamily="34" charset="0"/>
                <a:cs typeface="Times New Roman"/>
              </a:rPr>
              <a:t>rules</a:t>
            </a:r>
            <a:endParaRPr lang="en-US" sz="3200" spc="-90" dirty="0">
              <a:solidFill>
                <a:schemeClr val="tx1">
                  <a:lumMod val="95000"/>
                  <a:lumOff val="5000"/>
                </a:schemeClr>
              </a:solidFill>
              <a:latin typeface="Aptos" panose="020B0004020202020204" pitchFamily="34" charset="0"/>
              <a:cs typeface="Times New Roman"/>
            </a:endParaRPr>
          </a:p>
          <a:p>
            <a:pPr marL="927100" lvl="1" indent="-457200">
              <a:spcBef>
                <a:spcPts val="515"/>
              </a:spcBef>
              <a:buClr>
                <a:srgbClr val="D24717"/>
              </a:buClr>
              <a:buSzPct val="83928"/>
              <a:buFont typeface="Arial" panose="020B0604020202020204" pitchFamily="34" charset="0"/>
              <a:buChar char="•"/>
              <a:tabLst>
                <a:tab pos="287020" algn="l"/>
              </a:tabLst>
            </a:pPr>
            <a:r>
              <a:rPr lang="en-US" sz="3200" dirty="0">
                <a:solidFill>
                  <a:schemeClr val="tx1">
                    <a:lumMod val="95000"/>
                    <a:lumOff val="5000"/>
                  </a:schemeClr>
                </a:solidFill>
                <a:latin typeface="Aptos" panose="020B0004020202020204" pitchFamily="34" charset="0"/>
              </a:rPr>
              <a:t>Stores domain knowledge</a:t>
            </a:r>
          </a:p>
          <a:p>
            <a:pPr marL="927100" lvl="1" indent="-457200">
              <a:spcBef>
                <a:spcPts val="515"/>
              </a:spcBef>
              <a:buClr>
                <a:srgbClr val="D24717"/>
              </a:buClr>
              <a:buSzPct val="83928"/>
              <a:buFont typeface="Arial" panose="020B0604020202020204" pitchFamily="34" charset="0"/>
              <a:buChar char="•"/>
              <a:tabLst>
                <a:tab pos="287020" algn="l"/>
              </a:tabLst>
            </a:pPr>
            <a:r>
              <a:rPr lang="en-US" sz="3200" dirty="0">
                <a:solidFill>
                  <a:schemeClr val="tx1">
                    <a:lumMod val="95000"/>
                    <a:lumOff val="5000"/>
                  </a:schemeClr>
                </a:solidFill>
                <a:latin typeface="Aptos" panose="020B0004020202020204" pitchFamily="34" charset="0"/>
              </a:rPr>
              <a:t>Contains </a:t>
            </a:r>
            <a:r>
              <a:rPr lang="en-US" sz="3200" dirty="0">
                <a:solidFill>
                  <a:schemeClr val="tx1">
                    <a:lumMod val="95000"/>
                    <a:lumOff val="5000"/>
                  </a:schemeClr>
                </a:solidFill>
                <a:highlight>
                  <a:srgbClr val="FFFF00"/>
                </a:highlight>
                <a:latin typeface="Aptos" panose="020B0004020202020204" pitchFamily="34" charset="0"/>
              </a:rPr>
              <a:t>facts and rules</a:t>
            </a:r>
            <a:endParaRPr sz="3200" dirty="0">
              <a:solidFill>
                <a:schemeClr val="tx1">
                  <a:lumMod val="95000"/>
                  <a:lumOff val="5000"/>
                </a:schemeClr>
              </a:solidFill>
              <a:highlight>
                <a:srgbClr val="FFFF00"/>
              </a:highlight>
              <a:latin typeface="Aptos" panose="020B0004020202020204" pitchFamily="34" charset="0"/>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AC7E57-EE09-203E-416A-7360792DC599}"/>
              </a:ext>
            </a:extLst>
          </p:cNvPr>
          <p:cNvSpPr>
            <a:spLocks noGrp="1"/>
          </p:cNvSpPr>
          <p:nvPr>
            <p:ph idx="1"/>
          </p:nvPr>
        </p:nvSpPr>
        <p:spPr>
          <a:xfrm>
            <a:off x="2118360" y="1219200"/>
            <a:ext cx="7955280" cy="5334000"/>
          </a:xfrm>
        </p:spPr>
        <p:txBody>
          <a:bodyPr>
            <a:noAutofit/>
          </a:bodyPr>
          <a:lstStyle/>
          <a:p>
            <a:pPr marL="0" indent="0" defTabSz="914400" eaLnBrk="0" fontAlgn="base" hangingPunct="0">
              <a:lnSpc>
                <a:spcPct val="100000"/>
              </a:lnSpc>
              <a:spcBef>
                <a:spcPct val="0"/>
              </a:spcBef>
              <a:spcAft>
                <a:spcPct val="0"/>
              </a:spcAft>
              <a:buNone/>
            </a:pPr>
            <a:r>
              <a:rPr lang="en-US" altLang="en-US" sz="2800" b="1" dirty="0">
                <a:latin typeface="Arial" panose="020B0604020202020204" pitchFamily="34" charset="0"/>
              </a:rPr>
              <a:t>Facts</a:t>
            </a:r>
          </a:p>
          <a:p>
            <a:pPr marL="0" indent="0" defTabSz="914400" eaLnBrk="0" fontAlgn="base" hangingPunct="0">
              <a:lnSpc>
                <a:spcPct val="100000"/>
              </a:lnSpc>
              <a:spcBef>
                <a:spcPct val="0"/>
              </a:spcBef>
              <a:spcAft>
                <a:spcPct val="0"/>
              </a:spcAft>
              <a:buNone/>
            </a:pPr>
            <a:r>
              <a:rPr lang="en-US" altLang="en-US" sz="2800" dirty="0">
                <a:latin typeface="Arial" panose="020B0604020202020204" pitchFamily="34" charset="0"/>
              </a:rPr>
              <a:t>Information about the problem domain.</a:t>
            </a:r>
          </a:p>
          <a:p>
            <a:pPr marL="0" indent="0" defTabSz="914400" eaLnBrk="0" fontAlgn="base" hangingPunct="0">
              <a:lnSpc>
                <a:spcPct val="100000"/>
              </a:lnSpc>
              <a:spcBef>
                <a:spcPct val="0"/>
              </a:spcBef>
              <a:spcAft>
                <a:spcPct val="0"/>
              </a:spcAft>
              <a:buNone/>
            </a:pPr>
            <a:r>
              <a:rPr lang="en-US" altLang="en-US" sz="2800" dirty="0">
                <a:latin typeface="Arial" panose="020B0604020202020204" pitchFamily="34" charset="0"/>
              </a:rPr>
              <a:t>Example:</a:t>
            </a:r>
          </a:p>
          <a:p>
            <a:pPr marL="457200" lvl="1" indent="0" eaLnBrk="0" fontAlgn="base" hangingPunct="0">
              <a:lnSpc>
                <a:spcPct val="100000"/>
              </a:lnSpc>
              <a:spcBef>
                <a:spcPct val="0"/>
              </a:spcBef>
              <a:spcAft>
                <a:spcPct val="0"/>
              </a:spcAft>
              <a:buNone/>
            </a:pPr>
            <a:r>
              <a:rPr lang="en-US" altLang="en-US" sz="2800" dirty="0">
                <a:latin typeface="Arial" panose="020B0604020202020204" pitchFamily="34" charset="0"/>
              </a:rPr>
              <a:t>Temperature = 39°C</a:t>
            </a:r>
          </a:p>
          <a:p>
            <a:pPr marL="457200" lvl="1" indent="0" eaLnBrk="0" fontAlgn="base" hangingPunct="0">
              <a:lnSpc>
                <a:spcPct val="100000"/>
              </a:lnSpc>
              <a:spcBef>
                <a:spcPct val="0"/>
              </a:spcBef>
              <a:spcAft>
                <a:spcPct val="0"/>
              </a:spcAft>
              <a:buNone/>
            </a:pPr>
            <a:r>
              <a:rPr lang="en-US" altLang="en-US" sz="2800" dirty="0">
                <a:latin typeface="Arial" panose="020B0604020202020204" pitchFamily="34" charset="0"/>
              </a:rPr>
              <a:t>Patient has cough</a:t>
            </a:r>
            <a:endParaRPr lang="en-US" altLang="en-US" sz="2800" b="1" dirty="0">
              <a:latin typeface="Arial" panose="020B0604020202020204" pitchFamily="34" charset="0"/>
            </a:endParaRPr>
          </a:p>
          <a:p>
            <a:pPr marL="0" indent="0" defTabSz="914400" eaLnBrk="0" fontAlgn="base" hangingPunct="0">
              <a:lnSpc>
                <a:spcPct val="100000"/>
              </a:lnSpc>
              <a:spcBef>
                <a:spcPct val="0"/>
              </a:spcBef>
              <a:spcAft>
                <a:spcPct val="0"/>
              </a:spcAft>
              <a:buNone/>
            </a:pPr>
            <a:r>
              <a:rPr lang="en-US" altLang="en-US" sz="2800" b="1" dirty="0">
                <a:latin typeface="Arial" panose="020B0604020202020204" pitchFamily="34" charset="0"/>
              </a:rPr>
              <a:t>Rules</a:t>
            </a:r>
          </a:p>
          <a:p>
            <a:pPr marL="0" indent="0" defTabSz="914400" eaLnBrk="0" fontAlgn="base" hangingPunct="0">
              <a:lnSpc>
                <a:spcPct val="100000"/>
              </a:lnSpc>
              <a:spcBef>
                <a:spcPct val="0"/>
              </a:spcBef>
              <a:spcAft>
                <a:spcPct val="0"/>
              </a:spcAft>
              <a:buNone/>
            </a:pPr>
            <a:r>
              <a:rPr lang="en-US" altLang="en-US" sz="2800" dirty="0">
                <a:latin typeface="Arial" panose="020B0604020202020204" pitchFamily="34" charset="0"/>
              </a:rPr>
              <a:t>Logical IF–THEN statements.</a:t>
            </a:r>
          </a:p>
          <a:p>
            <a:pPr marL="0" indent="0" eaLnBrk="0" fontAlgn="base" hangingPunct="0">
              <a:lnSpc>
                <a:spcPct val="100000"/>
              </a:lnSpc>
              <a:spcBef>
                <a:spcPct val="0"/>
              </a:spcBef>
              <a:spcAft>
                <a:spcPct val="0"/>
              </a:spcAft>
              <a:buNone/>
            </a:pPr>
            <a:r>
              <a:rPr lang="en-US" altLang="en-US" sz="2800" dirty="0">
                <a:latin typeface="Arial" panose="020B0604020202020204" pitchFamily="34" charset="0"/>
              </a:rPr>
              <a:t>Example:</a:t>
            </a:r>
          </a:p>
          <a:p>
            <a:pPr marL="457200" lvl="1" indent="0" eaLnBrk="0" fontAlgn="base" hangingPunct="0">
              <a:lnSpc>
                <a:spcPct val="100000"/>
              </a:lnSpc>
              <a:spcBef>
                <a:spcPct val="0"/>
              </a:spcBef>
              <a:spcAft>
                <a:spcPct val="0"/>
              </a:spcAft>
              <a:buNone/>
            </a:pPr>
            <a:r>
              <a:rPr lang="en-US" altLang="en-US" sz="3200" dirty="0">
                <a:latin typeface="Arial" panose="020B0604020202020204" pitchFamily="34" charset="0"/>
              </a:rPr>
              <a:t>IF temperature &gt; 37°C</a:t>
            </a:r>
            <a:br>
              <a:rPr lang="en-US" altLang="en-US" sz="3200" dirty="0">
                <a:latin typeface="Arial" panose="020B0604020202020204" pitchFamily="34" charset="0"/>
              </a:rPr>
            </a:br>
            <a:r>
              <a:rPr lang="en-US" altLang="en-US" sz="3200" dirty="0">
                <a:latin typeface="Arial" panose="020B0604020202020204" pitchFamily="34" charset="0"/>
              </a:rPr>
              <a:t>THEN fever</a:t>
            </a:r>
          </a:p>
          <a:p>
            <a:pPr marL="457200" lvl="1" indent="0" eaLnBrk="0" fontAlgn="base" hangingPunct="0">
              <a:lnSpc>
                <a:spcPct val="100000"/>
              </a:lnSpc>
              <a:spcBef>
                <a:spcPct val="0"/>
              </a:spcBef>
              <a:spcAft>
                <a:spcPct val="0"/>
              </a:spcAft>
              <a:buNone/>
            </a:pPr>
            <a:r>
              <a:rPr lang="en-US" altLang="en-US" sz="2800" dirty="0">
                <a:latin typeface="Arial" panose="020B0604020202020204" pitchFamily="34" charset="0"/>
              </a:rPr>
              <a:t>IF fever AND cough</a:t>
            </a:r>
            <a:br>
              <a:rPr lang="en-US" altLang="en-US" sz="2800" dirty="0">
                <a:latin typeface="Arial" panose="020B0604020202020204" pitchFamily="34" charset="0"/>
              </a:rPr>
            </a:br>
            <a:r>
              <a:rPr lang="en-US" altLang="en-US" sz="2800" dirty="0">
                <a:latin typeface="Arial" panose="020B0604020202020204" pitchFamily="34" charset="0"/>
              </a:rPr>
              <a:t>THEN flu</a:t>
            </a:r>
          </a:p>
        </p:txBody>
      </p:sp>
    </p:spTree>
    <p:extLst>
      <p:ext uri="{BB962C8B-B14F-4D97-AF65-F5344CB8AC3E}">
        <p14:creationId xmlns:p14="http://schemas.microsoft.com/office/powerpoint/2010/main" val="1280350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7444" y="688974"/>
            <a:ext cx="7693356" cy="635000"/>
          </a:xfrm>
          <a:prstGeom prst="rect">
            <a:avLst/>
          </a:prstGeom>
        </p:spPr>
        <p:txBody>
          <a:bodyPr vert="horz" wrap="square" lIns="0" tIns="12065" rIns="0" bIns="0" rtlCol="0" anchor="ctr">
            <a:spAutoFit/>
          </a:bodyPr>
          <a:lstStyle/>
          <a:p>
            <a:pPr marL="12700">
              <a:lnSpc>
                <a:spcPct val="100000"/>
              </a:lnSpc>
              <a:spcBef>
                <a:spcPts val="95"/>
              </a:spcBef>
            </a:pPr>
            <a:r>
              <a:rPr lang="en-US" b="1" cap="none" spc="35" dirty="0">
                <a:latin typeface="Aptos" panose="020B0004020202020204" pitchFamily="34" charset="0"/>
              </a:rPr>
              <a:t>Main </a:t>
            </a:r>
            <a:r>
              <a:rPr lang="en-US" b="1" cap="none" spc="229" dirty="0">
                <a:latin typeface="Aptos" panose="020B0004020202020204" pitchFamily="34" charset="0"/>
              </a:rPr>
              <a:t>KBS</a:t>
            </a:r>
            <a:r>
              <a:rPr lang="en-US" b="1" cap="none" spc="-505" dirty="0">
                <a:latin typeface="Aptos" panose="020B0004020202020204" pitchFamily="34" charset="0"/>
              </a:rPr>
              <a:t> </a:t>
            </a:r>
            <a:r>
              <a:rPr lang="en-US" b="1" cap="none" spc="-75" dirty="0">
                <a:latin typeface="Aptos" panose="020B0004020202020204" pitchFamily="34" charset="0"/>
              </a:rPr>
              <a:t>components</a:t>
            </a:r>
            <a:endParaRPr lang="en-US" b="1" cap="none" dirty="0">
              <a:latin typeface="Aptos" panose="020B0004020202020204" pitchFamily="34" charset="0"/>
            </a:endParaRPr>
          </a:p>
        </p:txBody>
      </p:sp>
      <p:sp>
        <p:nvSpPr>
          <p:cNvPr id="3" name="object 3"/>
          <p:cNvSpPr txBox="1"/>
          <p:nvPr/>
        </p:nvSpPr>
        <p:spPr>
          <a:xfrm>
            <a:off x="1981200" y="1905001"/>
            <a:ext cx="7693356" cy="4374915"/>
          </a:xfrm>
          <a:prstGeom prst="rect">
            <a:avLst/>
          </a:prstGeom>
        </p:spPr>
        <p:txBody>
          <a:bodyPr vert="horz" wrap="square" lIns="0" tIns="65404" rIns="0" bIns="0" rtlCol="0">
            <a:spAutoFit/>
          </a:bodyPr>
          <a:lstStyle/>
          <a:p>
            <a:pPr marL="12700">
              <a:spcBef>
                <a:spcPts val="600"/>
              </a:spcBef>
              <a:buClr>
                <a:srgbClr val="D24717"/>
              </a:buClr>
              <a:buSzPct val="83928"/>
              <a:tabLst>
                <a:tab pos="287020" algn="l"/>
              </a:tabLst>
            </a:pPr>
            <a:r>
              <a:rPr sz="2400" spc="-125" dirty="0">
                <a:solidFill>
                  <a:schemeClr val="tx1">
                    <a:lumMod val="95000"/>
                    <a:lumOff val="5000"/>
                  </a:schemeClr>
                </a:solidFill>
                <a:latin typeface="Aptos" panose="020B0004020202020204" pitchFamily="34" charset="0"/>
                <a:cs typeface="Times New Roman"/>
              </a:rPr>
              <a:t>Inference</a:t>
            </a:r>
            <a:r>
              <a:rPr sz="2400" spc="-95" dirty="0">
                <a:solidFill>
                  <a:schemeClr val="tx1">
                    <a:lumMod val="95000"/>
                    <a:lumOff val="5000"/>
                  </a:schemeClr>
                </a:solidFill>
                <a:latin typeface="Aptos" panose="020B0004020202020204" pitchFamily="34" charset="0"/>
                <a:cs typeface="Times New Roman"/>
              </a:rPr>
              <a:t> </a:t>
            </a:r>
            <a:r>
              <a:rPr sz="2400" spc="-130" dirty="0">
                <a:solidFill>
                  <a:schemeClr val="tx1">
                    <a:lumMod val="95000"/>
                    <a:lumOff val="5000"/>
                  </a:schemeClr>
                </a:solidFill>
                <a:latin typeface="Aptos" panose="020B0004020202020204" pitchFamily="34" charset="0"/>
                <a:cs typeface="Times New Roman"/>
              </a:rPr>
              <a:t>engine</a:t>
            </a:r>
            <a:endParaRPr lang="en-US" sz="2400" dirty="0">
              <a:solidFill>
                <a:schemeClr val="tx1">
                  <a:lumMod val="95000"/>
                  <a:lumOff val="5000"/>
                </a:schemeClr>
              </a:solidFill>
              <a:latin typeface="Aptos" panose="020B0004020202020204" pitchFamily="34" charset="0"/>
              <a:cs typeface="Times New Roman"/>
            </a:endParaRPr>
          </a:p>
          <a:p>
            <a:pPr marL="927100" lvl="1" indent="-457200">
              <a:spcBef>
                <a:spcPts val="600"/>
              </a:spcBef>
              <a:buClr>
                <a:srgbClr val="D24717"/>
              </a:buClr>
              <a:buSzPct val="83928"/>
              <a:buFont typeface="Arial" panose="020B0604020202020204" pitchFamily="34" charset="0"/>
              <a:buChar char="•"/>
              <a:tabLst>
                <a:tab pos="287020" algn="l"/>
              </a:tabLst>
            </a:pPr>
            <a:r>
              <a:rPr lang="en-US" sz="2400" spc="-180" dirty="0">
                <a:solidFill>
                  <a:schemeClr val="tx1">
                    <a:lumMod val="95000"/>
                    <a:lumOff val="5000"/>
                  </a:schemeClr>
                </a:solidFill>
                <a:latin typeface="Aptos" panose="020B0004020202020204" pitchFamily="34" charset="0"/>
                <a:cs typeface="Times New Roman"/>
              </a:rPr>
              <a:t>The Inference Engine is the </a:t>
            </a:r>
            <a:r>
              <a:rPr lang="en-US" sz="2400" spc="-180" dirty="0">
                <a:solidFill>
                  <a:schemeClr val="tx1">
                    <a:lumMod val="95000"/>
                    <a:lumOff val="5000"/>
                  </a:schemeClr>
                </a:solidFill>
                <a:highlight>
                  <a:srgbClr val="FFFF00"/>
                </a:highlight>
                <a:latin typeface="Aptos" panose="020B0004020202020204" pitchFamily="34" charset="0"/>
                <a:cs typeface="Times New Roman"/>
              </a:rPr>
              <a:t>brain</a:t>
            </a:r>
            <a:r>
              <a:rPr lang="en-US" sz="2400" spc="-180" dirty="0">
                <a:solidFill>
                  <a:schemeClr val="tx1">
                    <a:lumMod val="95000"/>
                    <a:lumOff val="5000"/>
                  </a:schemeClr>
                </a:solidFill>
                <a:latin typeface="Aptos" panose="020B0004020202020204" pitchFamily="34" charset="0"/>
                <a:cs typeface="Times New Roman"/>
              </a:rPr>
              <a:t> of the system.</a:t>
            </a:r>
          </a:p>
          <a:p>
            <a:pPr marL="927100" lvl="1" indent="-457200">
              <a:spcBef>
                <a:spcPts val="600"/>
              </a:spcBef>
              <a:buClr>
                <a:srgbClr val="D24717"/>
              </a:buClr>
              <a:buSzPct val="83928"/>
              <a:buFont typeface="Arial" panose="020B0604020202020204" pitchFamily="34" charset="0"/>
              <a:buChar char="•"/>
              <a:tabLst>
                <a:tab pos="287020" algn="l"/>
              </a:tabLst>
            </a:pPr>
            <a:r>
              <a:rPr sz="2400" spc="-180" dirty="0">
                <a:solidFill>
                  <a:schemeClr val="tx1">
                    <a:lumMod val="95000"/>
                    <a:lumOff val="5000"/>
                  </a:schemeClr>
                </a:solidFill>
                <a:latin typeface="Aptos" panose="020B0004020202020204" pitchFamily="34" charset="0"/>
                <a:cs typeface="Times New Roman"/>
              </a:rPr>
              <a:t>Mechanism </a:t>
            </a:r>
            <a:r>
              <a:rPr sz="2400" spc="-45" dirty="0">
                <a:solidFill>
                  <a:schemeClr val="tx1">
                    <a:lumMod val="95000"/>
                    <a:lumOff val="5000"/>
                  </a:schemeClr>
                </a:solidFill>
                <a:latin typeface="Aptos" panose="020B0004020202020204" pitchFamily="34" charset="0"/>
                <a:cs typeface="Times New Roman"/>
              </a:rPr>
              <a:t>to </a:t>
            </a:r>
            <a:r>
              <a:rPr sz="2400" spc="-114" dirty="0">
                <a:solidFill>
                  <a:schemeClr val="tx1">
                    <a:lumMod val="95000"/>
                    <a:lumOff val="5000"/>
                  </a:schemeClr>
                </a:solidFill>
                <a:highlight>
                  <a:srgbClr val="FFFF00"/>
                </a:highlight>
                <a:latin typeface="Aptos" panose="020B0004020202020204" pitchFamily="34" charset="0"/>
                <a:cs typeface="Times New Roman"/>
              </a:rPr>
              <a:t>derive </a:t>
            </a:r>
            <a:r>
              <a:rPr sz="2400" spc="-145" dirty="0">
                <a:solidFill>
                  <a:schemeClr val="tx1">
                    <a:lumMod val="95000"/>
                    <a:lumOff val="5000"/>
                  </a:schemeClr>
                </a:solidFill>
                <a:highlight>
                  <a:srgbClr val="FFFF00"/>
                </a:highlight>
                <a:latin typeface="Aptos" panose="020B0004020202020204" pitchFamily="34" charset="0"/>
                <a:cs typeface="Times New Roman"/>
              </a:rPr>
              <a:t>new </a:t>
            </a:r>
            <a:r>
              <a:rPr sz="2400" spc="-150" dirty="0">
                <a:solidFill>
                  <a:schemeClr val="tx1">
                    <a:lumMod val="95000"/>
                    <a:lumOff val="5000"/>
                  </a:schemeClr>
                </a:solidFill>
                <a:highlight>
                  <a:srgbClr val="FFFF00"/>
                </a:highlight>
                <a:latin typeface="Aptos" panose="020B0004020202020204" pitchFamily="34" charset="0"/>
                <a:cs typeface="Times New Roman"/>
              </a:rPr>
              <a:t>knowledge </a:t>
            </a:r>
            <a:r>
              <a:rPr sz="2400" spc="-125" dirty="0">
                <a:solidFill>
                  <a:schemeClr val="tx1">
                    <a:lumMod val="95000"/>
                    <a:lumOff val="5000"/>
                  </a:schemeClr>
                </a:solidFill>
                <a:latin typeface="Aptos" panose="020B0004020202020204" pitchFamily="34" charset="0"/>
                <a:cs typeface="Times New Roman"/>
              </a:rPr>
              <a:t>from </a:t>
            </a:r>
            <a:r>
              <a:rPr sz="2400" spc="-85" dirty="0">
                <a:solidFill>
                  <a:schemeClr val="tx1">
                    <a:lumMod val="95000"/>
                    <a:lumOff val="5000"/>
                  </a:schemeClr>
                </a:solidFill>
                <a:latin typeface="Aptos" panose="020B0004020202020204" pitchFamily="34" charset="0"/>
                <a:cs typeface="Times New Roman"/>
              </a:rPr>
              <a:t>the </a:t>
            </a:r>
            <a:r>
              <a:rPr sz="2400" spc="-200" dirty="0">
                <a:solidFill>
                  <a:schemeClr val="tx1">
                    <a:lumMod val="95000"/>
                    <a:lumOff val="5000"/>
                  </a:schemeClr>
                </a:solidFill>
                <a:latin typeface="Aptos" panose="020B0004020202020204" pitchFamily="34" charset="0"/>
                <a:cs typeface="Times New Roman"/>
              </a:rPr>
              <a:t>knowledge  </a:t>
            </a:r>
            <a:r>
              <a:rPr sz="2400" spc="-175" dirty="0">
                <a:solidFill>
                  <a:schemeClr val="tx1">
                    <a:lumMod val="95000"/>
                    <a:lumOff val="5000"/>
                  </a:schemeClr>
                </a:solidFill>
                <a:latin typeface="Aptos" panose="020B0004020202020204" pitchFamily="34" charset="0"/>
                <a:cs typeface="Times New Roman"/>
              </a:rPr>
              <a:t>base </a:t>
            </a:r>
            <a:r>
              <a:rPr sz="2400" spc="-160" dirty="0">
                <a:solidFill>
                  <a:schemeClr val="tx1">
                    <a:lumMod val="95000"/>
                    <a:lumOff val="5000"/>
                  </a:schemeClr>
                </a:solidFill>
                <a:latin typeface="Aptos" panose="020B0004020202020204" pitchFamily="34" charset="0"/>
                <a:cs typeface="Times New Roman"/>
              </a:rPr>
              <a:t>and </a:t>
            </a:r>
            <a:r>
              <a:rPr sz="2400" spc="-85" dirty="0">
                <a:solidFill>
                  <a:schemeClr val="tx1">
                    <a:lumMod val="95000"/>
                    <a:lumOff val="5000"/>
                  </a:schemeClr>
                </a:solidFill>
                <a:latin typeface="Aptos" panose="020B0004020202020204" pitchFamily="34" charset="0"/>
                <a:cs typeface="Times New Roman"/>
              </a:rPr>
              <a:t>the </a:t>
            </a:r>
            <a:r>
              <a:rPr sz="2400" spc="-120" dirty="0">
                <a:solidFill>
                  <a:schemeClr val="tx1">
                    <a:lumMod val="95000"/>
                    <a:lumOff val="5000"/>
                  </a:schemeClr>
                </a:solidFill>
                <a:latin typeface="Aptos" panose="020B0004020202020204" pitchFamily="34" charset="0"/>
                <a:cs typeface="Times New Roman"/>
              </a:rPr>
              <a:t>Information </a:t>
            </a:r>
            <a:r>
              <a:rPr sz="2400" spc="-135" dirty="0">
                <a:solidFill>
                  <a:schemeClr val="tx1">
                    <a:lumMod val="95000"/>
                    <a:lumOff val="5000"/>
                  </a:schemeClr>
                </a:solidFill>
                <a:latin typeface="Aptos" panose="020B0004020202020204" pitchFamily="34" charset="0"/>
                <a:cs typeface="Times New Roman"/>
              </a:rPr>
              <a:t>provided </a:t>
            </a:r>
            <a:r>
              <a:rPr sz="2400" spc="-225" dirty="0">
                <a:solidFill>
                  <a:schemeClr val="tx1">
                    <a:lumMod val="95000"/>
                    <a:lumOff val="5000"/>
                  </a:schemeClr>
                </a:solidFill>
                <a:latin typeface="Aptos" panose="020B0004020202020204" pitchFamily="34" charset="0"/>
                <a:cs typeface="Times New Roman"/>
              </a:rPr>
              <a:t>by </a:t>
            </a:r>
            <a:r>
              <a:rPr sz="2400" spc="-85" dirty="0">
                <a:solidFill>
                  <a:schemeClr val="tx1">
                    <a:lumMod val="95000"/>
                    <a:lumOff val="5000"/>
                  </a:schemeClr>
                </a:solidFill>
                <a:latin typeface="Aptos" panose="020B0004020202020204" pitchFamily="34" charset="0"/>
                <a:cs typeface="Times New Roman"/>
              </a:rPr>
              <a:t>the</a:t>
            </a:r>
            <a:r>
              <a:rPr sz="2400" spc="385" dirty="0">
                <a:solidFill>
                  <a:schemeClr val="tx1">
                    <a:lumMod val="95000"/>
                    <a:lumOff val="5000"/>
                  </a:schemeClr>
                </a:solidFill>
                <a:latin typeface="Aptos" panose="020B0004020202020204" pitchFamily="34" charset="0"/>
                <a:cs typeface="Times New Roman"/>
              </a:rPr>
              <a:t> </a:t>
            </a:r>
            <a:r>
              <a:rPr sz="2400" spc="-105" dirty="0">
                <a:solidFill>
                  <a:schemeClr val="tx1">
                    <a:lumMod val="95000"/>
                    <a:lumOff val="5000"/>
                  </a:schemeClr>
                </a:solidFill>
                <a:latin typeface="Aptos" panose="020B0004020202020204" pitchFamily="34" charset="0"/>
                <a:cs typeface="Times New Roman"/>
              </a:rPr>
              <a:t>user</a:t>
            </a:r>
            <a:endParaRPr lang="en-US" sz="2400" dirty="0">
              <a:solidFill>
                <a:schemeClr val="tx1">
                  <a:lumMod val="95000"/>
                  <a:lumOff val="5000"/>
                </a:schemeClr>
              </a:solidFill>
              <a:latin typeface="Aptos" panose="020B0004020202020204" pitchFamily="34" charset="0"/>
              <a:cs typeface="Times New Roman"/>
            </a:endParaRPr>
          </a:p>
          <a:p>
            <a:pPr marL="927100" lvl="1" indent="-457200">
              <a:spcBef>
                <a:spcPts val="600"/>
              </a:spcBef>
              <a:buClr>
                <a:srgbClr val="D24717"/>
              </a:buClr>
              <a:buSzPct val="83928"/>
              <a:buFont typeface="Arial" panose="020B0604020202020204" pitchFamily="34" charset="0"/>
              <a:buChar char="•"/>
              <a:tabLst>
                <a:tab pos="287020" algn="l"/>
              </a:tabLst>
            </a:pPr>
            <a:r>
              <a:rPr sz="2400" spc="-75" dirty="0">
                <a:solidFill>
                  <a:schemeClr val="tx1">
                    <a:lumMod val="95000"/>
                    <a:lumOff val="5000"/>
                  </a:schemeClr>
                </a:solidFill>
                <a:latin typeface="Aptos" panose="020B0004020202020204" pitchFamily="34" charset="0"/>
                <a:cs typeface="Times New Roman"/>
              </a:rPr>
              <a:t>Often </a:t>
            </a:r>
            <a:r>
              <a:rPr sz="2400" spc="-165" dirty="0">
                <a:solidFill>
                  <a:schemeClr val="tx1">
                    <a:lumMod val="95000"/>
                    <a:lumOff val="5000"/>
                  </a:schemeClr>
                </a:solidFill>
                <a:latin typeface="Aptos" panose="020B0004020202020204" pitchFamily="34" charset="0"/>
                <a:cs typeface="Times New Roman"/>
              </a:rPr>
              <a:t>based </a:t>
            </a:r>
            <a:r>
              <a:rPr sz="2400" spc="-120" dirty="0">
                <a:solidFill>
                  <a:schemeClr val="tx1">
                    <a:lumMod val="95000"/>
                    <a:lumOff val="5000"/>
                  </a:schemeClr>
                </a:solidFill>
                <a:latin typeface="Aptos" panose="020B0004020202020204" pitchFamily="34" charset="0"/>
                <a:cs typeface="Times New Roman"/>
              </a:rPr>
              <a:t>on </a:t>
            </a:r>
            <a:r>
              <a:rPr sz="2400" spc="-85" dirty="0">
                <a:solidFill>
                  <a:schemeClr val="tx1">
                    <a:lumMod val="95000"/>
                    <a:lumOff val="5000"/>
                  </a:schemeClr>
                </a:solidFill>
                <a:latin typeface="Aptos" panose="020B0004020202020204" pitchFamily="34" charset="0"/>
                <a:cs typeface="Times New Roman"/>
              </a:rPr>
              <a:t>the </a:t>
            </a:r>
            <a:r>
              <a:rPr sz="2400" spc="-150" dirty="0">
                <a:solidFill>
                  <a:schemeClr val="tx1">
                    <a:lumMod val="95000"/>
                    <a:lumOff val="5000"/>
                  </a:schemeClr>
                </a:solidFill>
                <a:latin typeface="Aptos" panose="020B0004020202020204" pitchFamily="34" charset="0"/>
                <a:cs typeface="Times New Roman"/>
              </a:rPr>
              <a:t>use </a:t>
            </a:r>
            <a:r>
              <a:rPr sz="2400" spc="-165" dirty="0">
                <a:solidFill>
                  <a:schemeClr val="tx1">
                    <a:lumMod val="95000"/>
                    <a:lumOff val="5000"/>
                  </a:schemeClr>
                </a:solidFill>
                <a:latin typeface="Aptos" panose="020B0004020202020204" pitchFamily="34" charset="0"/>
                <a:cs typeface="Times New Roman"/>
              </a:rPr>
              <a:t>of</a:t>
            </a:r>
            <a:r>
              <a:rPr sz="2400" spc="145" dirty="0">
                <a:solidFill>
                  <a:schemeClr val="tx1">
                    <a:lumMod val="95000"/>
                    <a:lumOff val="5000"/>
                  </a:schemeClr>
                </a:solidFill>
                <a:latin typeface="Aptos" panose="020B0004020202020204" pitchFamily="34" charset="0"/>
                <a:cs typeface="Times New Roman"/>
              </a:rPr>
              <a:t> </a:t>
            </a:r>
            <a:r>
              <a:rPr sz="2400" spc="-90" dirty="0">
                <a:solidFill>
                  <a:schemeClr val="tx1">
                    <a:lumMod val="95000"/>
                    <a:lumOff val="5000"/>
                  </a:schemeClr>
                </a:solidFill>
                <a:latin typeface="Aptos" panose="020B0004020202020204" pitchFamily="34" charset="0"/>
                <a:cs typeface="Times New Roman"/>
              </a:rPr>
              <a:t>rules</a:t>
            </a:r>
            <a:endParaRPr lang="en-US" sz="2400" spc="-90" dirty="0">
              <a:solidFill>
                <a:schemeClr val="tx1">
                  <a:lumMod val="95000"/>
                  <a:lumOff val="5000"/>
                </a:schemeClr>
              </a:solidFill>
              <a:latin typeface="Aptos" panose="020B0004020202020204" pitchFamily="34" charset="0"/>
              <a:cs typeface="Times New Roman"/>
            </a:endParaRPr>
          </a:p>
          <a:p>
            <a:pPr marL="927100" lvl="1" indent="-457200">
              <a:spcBef>
                <a:spcPts val="600"/>
              </a:spcBef>
              <a:buClr>
                <a:srgbClr val="D24717"/>
              </a:buClr>
              <a:buSzPct val="83928"/>
              <a:buFont typeface="Arial" panose="020B0604020202020204" pitchFamily="34" charset="0"/>
              <a:buChar char="•"/>
              <a:tabLst>
                <a:tab pos="287020" algn="l"/>
              </a:tabLst>
            </a:pPr>
            <a:r>
              <a:rPr lang="en-US" sz="2400" dirty="0">
                <a:latin typeface="Aptos" panose="020B0004020202020204" pitchFamily="34" charset="0"/>
              </a:rPr>
              <a:t>Takes input from user</a:t>
            </a:r>
          </a:p>
          <a:p>
            <a:pPr marL="927100" lvl="1" indent="-457200">
              <a:spcBef>
                <a:spcPts val="600"/>
              </a:spcBef>
              <a:buClr>
                <a:srgbClr val="D24717"/>
              </a:buClr>
              <a:buSzPct val="83928"/>
              <a:buFont typeface="Arial" panose="020B0604020202020204" pitchFamily="34" charset="0"/>
              <a:buChar char="•"/>
              <a:tabLst>
                <a:tab pos="287020" algn="l"/>
              </a:tabLst>
            </a:pPr>
            <a:r>
              <a:rPr lang="en-US" sz="2400" dirty="0">
                <a:latin typeface="Aptos" panose="020B0004020202020204" pitchFamily="34" charset="0"/>
              </a:rPr>
              <a:t>Displays results</a:t>
            </a:r>
          </a:p>
          <a:p>
            <a:pPr marL="927100" lvl="1" indent="-457200">
              <a:spcBef>
                <a:spcPts val="600"/>
              </a:spcBef>
              <a:buClr>
                <a:srgbClr val="D24717"/>
              </a:buClr>
              <a:buSzPct val="83928"/>
              <a:buFont typeface="Arial" panose="020B0604020202020204" pitchFamily="34" charset="0"/>
              <a:buChar char="•"/>
              <a:tabLst>
                <a:tab pos="287020" algn="l"/>
              </a:tabLst>
            </a:pPr>
            <a:r>
              <a:rPr lang="en-US" altLang="en-US" sz="2400" dirty="0">
                <a:highlight>
                  <a:srgbClr val="FFFF00"/>
                </a:highlight>
                <a:latin typeface="Aptos" panose="020B0004020202020204" pitchFamily="34" charset="0"/>
              </a:rPr>
              <a:t>Applies reasoning methods</a:t>
            </a:r>
          </a:p>
          <a:p>
            <a:pPr marL="927100" lvl="1" indent="-457200">
              <a:spcBef>
                <a:spcPts val="600"/>
              </a:spcBef>
              <a:buClr>
                <a:srgbClr val="D24717"/>
              </a:buClr>
              <a:buSzPct val="83928"/>
              <a:buFont typeface="Arial" panose="020B0604020202020204" pitchFamily="34" charset="0"/>
              <a:buChar char="•"/>
              <a:tabLst>
                <a:tab pos="287020" algn="l"/>
              </a:tabLst>
            </a:pPr>
            <a:r>
              <a:rPr lang="en-US" altLang="en-US" sz="2400" dirty="0">
                <a:latin typeface="Aptos" panose="020B0004020202020204" pitchFamily="34" charset="0"/>
              </a:rPr>
              <a:t>Uses logical rules</a:t>
            </a:r>
          </a:p>
          <a:p>
            <a:pPr marL="927100" lvl="1" indent="-457200">
              <a:spcBef>
                <a:spcPts val="600"/>
              </a:spcBef>
              <a:buClr>
                <a:srgbClr val="D24717"/>
              </a:buClr>
              <a:buSzPct val="83928"/>
              <a:buFont typeface="Arial" panose="020B0604020202020204" pitchFamily="34" charset="0"/>
              <a:buChar char="•"/>
              <a:tabLst>
                <a:tab pos="287020" algn="l"/>
              </a:tabLst>
            </a:pPr>
            <a:r>
              <a:rPr lang="en-US" altLang="en-US" sz="2400" dirty="0">
                <a:highlight>
                  <a:srgbClr val="FFFF00"/>
                </a:highlight>
                <a:latin typeface="Aptos" panose="020B0004020202020204" pitchFamily="34" charset="0"/>
              </a:rPr>
              <a:t>Generates new facts</a:t>
            </a:r>
          </a:p>
        </p:txBody>
      </p:sp>
    </p:spTree>
    <p:extLst>
      <p:ext uri="{BB962C8B-B14F-4D97-AF65-F5344CB8AC3E}">
        <p14:creationId xmlns:p14="http://schemas.microsoft.com/office/powerpoint/2010/main" val="2889483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7444" y="688974"/>
            <a:ext cx="7693356" cy="635000"/>
          </a:xfrm>
          <a:prstGeom prst="rect">
            <a:avLst/>
          </a:prstGeom>
        </p:spPr>
        <p:txBody>
          <a:bodyPr vert="horz" wrap="square" lIns="0" tIns="12065" rIns="0" bIns="0" rtlCol="0" anchor="ctr">
            <a:spAutoFit/>
          </a:bodyPr>
          <a:lstStyle/>
          <a:p>
            <a:pPr marL="12700">
              <a:lnSpc>
                <a:spcPct val="100000"/>
              </a:lnSpc>
              <a:spcBef>
                <a:spcPts val="95"/>
              </a:spcBef>
            </a:pPr>
            <a:r>
              <a:rPr lang="en-US" b="1" cap="none" spc="35" dirty="0">
                <a:latin typeface="Aptos" panose="020B0004020202020204" pitchFamily="34" charset="0"/>
              </a:rPr>
              <a:t>Main </a:t>
            </a:r>
            <a:r>
              <a:rPr lang="en-US" b="1" cap="none" spc="229" dirty="0">
                <a:latin typeface="Aptos" panose="020B0004020202020204" pitchFamily="34" charset="0"/>
              </a:rPr>
              <a:t>KBS</a:t>
            </a:r>
            <a:r>
              <a:rPr lang="en-US" b="1" cap="none" spc="-505" dirty="0">
                <a:latin typeface="Aptos" panose="020B0004020202020204" pitchFamily="34" charset="0"/>
              </a:rPr>
              <a:t> </a:t>
            </a:r>
            <a:r>
              <a:rPr lang="en-US" b="1" cap="none" spc="-75" dirty="0">
                <a:latin typeface="Aptos" panose="020B0004020202020204" pitchFamily="34" charset="0"/>
              </a:rPr>
              <a:t>components</a:t>
            </a:r>
            <a:endParaRPr lang="en-US" b="1" cap="none" dirty="0">
              <a:latin typeface="Aptos" panose="020B0004020202020204" pitchFamily="34" charset="0"/>
            </a:endParaRPr>
          </a:p>
        </p:txBody>
      </p:sp>
      <p:sp>
        <p:nvSpPr>
          <p:cNvPr id="3" name="object 3"/>
          <p:cNvSpPr txBox="1"/>
          <p:nvPr/>
        </p:nvSpPr>
        <p:spPr>
          <a:xfrm>
            <a:off x="2087246" y="2133601"/>
            <a:ext cx="8017509" cy="3338733"/>
          </a:xfrm>
          <a:prstGeom prst="rect">
            <a:avLst/>
          </a:prstGeom>
        </p:spPr>
        <p:txBody>
          <a:bodyPr vert="horz" wrap="square" lIns="0" tIns="65404" rIns="0" bIns="0" rtlCol="0">
            <a:spAutoFit/>
          </a:bodyPr>
          <a:lstStyle/>
          <a:p>
            <a:pPr marL="12700">
              <a:spcBef>
                <a:spcPts val="605"/>
              </a:spcBef>
              <a:buClr>
                <a:srgbClr val="D24717"/>
              </a:buClr>
              <a:buSzPct val="83928"/>
              <a:tabLst>
                <a:tab pos="287020" algn="l"/>
              </a:tabLst>
            </a:pPr>
            <a:r>
              <a:rPr sz="2800" spc="-114" dirty="0">
                <a:solidFill>
                  <a:schemeClr val="tx1">
                    <a:lumMod val="95000"/>
                    <a:lumOff val="5000"/>
                  </a:schemeClr>
                </a:solidFill>
                <a:latin typeface="Aptos" panose="020B0004020202020204" pitchFamily="34" charset="0"/>
                <a:cs typeface="Times New Roman"/>
              </a:rPr>
              <a:t>User</a:t>
            </a:r>
            <a:r>
              <a:rPr sz="2800" spc="-75" dirty="0">
                <a:solidFill>
                  <a:schemeClr val="tx1">
                    <a:lumMod val="95000"/>
                    <a:lumOff val="5000"/>
                  </a:schemeClr>
                </a:solidFill>
                <a:latin typeface="Aptos" panose="020B0004020202020204" pitchFamily="34" charset="0"/>
                <a:cs typeface="Times New Roman"/>
              </a:rPr>
              <a:t> </a:t>
            </a:r>
            <a:r>
              <a:rPr sz="2800" spc="-114" dirty="0">
                <a:solidFill>
                  <a:schemeClr val="tx1">
                    <a:lumMod val="95000"/>
                    <a:lumOff val="5000"/>
                  </a:schemeClr>
                </a:solidFill>
                <a:latin typeface="Aptos" panose="020B0004020202020204" pitchFamily="34" charset="0"/>
                <a:cs typeface="Times New Roman"/>
              </a:rPr>
              <a:t>interface</a:t>
            </a:r>
            <a:endParaRPr sz="2800" dirty="0">
              <a:solidFill>
                <a:schemeClr val="tx1">
                  <a:lumMod val="95000"/>
                  <a:lumOff val="5000"/>
                </a:schemeClr>
              </a:solidFill>
              <a:latin typeface="Aptos" panose="020B0004020202020204" pitchFamily="34" charset="0"/>
              <a:cs typeface="Times New Roman"/>
            </a:endParaRPr>
          </a:p>
          <a:p>
            <a:pPr marL="789305" lvl="1" indent="-457200">
              <a:spcBef>
                <a:spcPts val="395"/>
              </a:spcBef>
              <a:buClr>
                <a:srgbClr val="9B2C1F"/>
              </a:buClr>
              <a:buSzPct val="83928"/>
              <a:buFont typeface="Arial" panose="020B0604020202020204" pitchFamily="34" charset="0"/>
              <a:buChar char="•"/>
              <a:tabLst>
                <a:tab pos="561975" algn="l"/>
              </a:tabLst>
            </a:pPr>
            <a:r>
              <a:rPr sz="2800" spc="-100" dirty="0">
                <a:solidFill>
                  <a:schemeClr val="tx1">
                    <a:lumMod val="95000"/>
                    <a:lumOff val="5000"/>
                  </a:schemeClr>
                </a:solidFill>
                <a:latin typeface="Aptos" panose="020B0004020202020204" pitchFamily="34" charset="0"/>
                <a:cs typeface="Times New Roman"/>
              </a:rPr>
              <a:t>Interaction </a:t>
            </a:r>
            <a:r>
              <a:rPr sz="2800" spc="-110" dirty="0">
                <a:solidFill>
                  <a:schemeClr val="tx1">
                    <a:lumMod val="95000"/>
                    <a:lumOff val="5000"/>
                  </a:schemeClr>
                </a:solidFill>
                <a:latin typeface="Aptos" panose="020B0004020202020204" pitchFamily="34" charset="0"/>
                <a:cs typeface="Times New Roman"/>
              </a:rPr>
              <a:t>with </a:t>
            </a:r>
            <a:r>
              <a:rPr sz="2800" spc="-120" dirty="0">
                <a:solidFill>
                  <a:schemeClr val="tx1">
                    <a:lumMod val="95000"/>
                    <a:lumOff val="5000"/>
                  </a:schemeClr>
                </a:solidFill>
                <a:latin typeface="Aptos" panose="020B0004020202020204" pitchFamily="34" charset="0"/>
                <a:cs typeface="Times New Roman"/>
              </a:rPr>
              <a:t>end</a:t>
            </a:r>
            <a:r>
              <a:rPr sz="2800" spc="-20" dirty="0">
                <a:solidFill>
                  <a:schemeClr val="tx1">
                    <a:lumMod val="95000"/>
                    <a:lumOff val="5000"/>
                  </a:schemeClr>
                </a:solidFill>
                <a:latin typeface="Aptos" panose="020B0004020202020204" pitchFamily="34" charset="0"/>
                <a:cs typeface="Times New Roman"/>
              </a:rPr>
              <a:t> </a:t>
            </a:r>
            <a:r>
              <a:rPr sz="2800" spc="-114" dirty="0">
                <a:solidFill>
                  <a:schemeClr val="tx1">
                    <a:lumMod val="95000"/>
                    <a:lumOff val="5000"/>
                  </a:schemeClr>
                </a:solidFill>
                <a:latin typeface="Aptos" panose="020B0004020202020204" pitchFamily="34" charset="0"/>
                <a:cs typeface="Times New Roman"/>
              </a:rPr>
              <a:t>users</a:t>
            </a:r>
            <a:endParaRPr sz="2800" dirty="0">
              <a:solidFill>
                <a:schemeClr val="tx1">
                  <a:lumMod val="95000"/>
                  <a:lumOff val="5000"/>
                </a:schemeClr>
              </a:solidFill>
              <a:latin typeface="Aptos" panose="020B0004020202020204" pitchFamily="34" charset="0"/>
              <a:cs typeface="Times New Roman"/>
            </a:endParaRPr>
          </a:p>
          <a:p>
            <a:pPr marL="789305" lvl="1" indent="-457200">
              <a:spcBef>
                <a:spcPts val="395"/>
              </a:spcBef>
              <a:buClr>
                <a:srgbClr val="9B2C1F"/>
              </a:buClr>
              <a:buSzPct val="83928"/>
              <a:buFont typeface="Arial" panose="020B0604020202020204" pitchFamily="34" charset="0"/>
              <a:buChar char="•"/>
              <a:tabLst>
                <a:tab pos="561975" algn="l"/>
              </a:tabLst>
            </a:pPr>
            <a:r>
              <a:rPr sz="2800" spc="-130" dirty="0">
                <a:solidFill>
                  <a:schemeClr val="tx1">
                    <a:lumMod val="95000"/>
                    <a:lumOff val="5000"/>
                  </a:schemeClr>
                </a:solidFill>
                <a:latin typeface="Aptos" panose="020B0004020202020204" pitchFamily="34" charset="0"/>
                <a:cs typeface="Times New Roman"/>
              </a:rPr>
              <a:t>Development </a:t>
            </a:r>
            <a:r>
              <a:rPr sz="2800" spc="-160" dirty="0">
                <a:solidFill>
                  <a:schemeClr val="tx1">
                    <a:lumMod val="95000"/>
                    <a:lumOff val="5000"/>
                  </a:schemeClr>
                </a:solidFill>
                <a:latin typeface="Aptos" panose="020B0004020202020204" pitchFamily="34" charset="0"/>
                <a:cs typeface="Times New Roman"/>
              </a:rPr>
              <a:t>and </a:t>
            </a:r>
            <a:r>
              <a:rPr sz="2800" spc="-135" dirty="0">
                <a:solidFill>
                  <a:schemeClr val="tx1">
                    <a:lumMod val="95000"/>
                    <a:lumOff val="5000"/>
                  </a:schemeClr>
                </a:solidFill>
                <a:latin typeface="Aptos" panose="020B0004020202020204" pitchFamily="34" charset="0"/>
                <a:cs typeface="Times New Roman"/>
              </a:rPr>
              <a:t>maintenance </a:t>
            </a:r>
            <a:r>
              <a:rPr sz="2800" spc="-165" dirty="0">
                <a:solidFill>
                  <a:schemeClr val="tx1">
                    <a:lumMod val="95000"/>
                    <a:lumOff val="5000"/>
                  </a:schemeClr>
                </a:solidFill>
                <a:latin typeface="Aptos" panose="020B0004020202020204" pitchFamily="34" charset="0"/>
                <a:cs typeface="Times New Roman"/>
              </a:rPr>
              <a:t>of </a:t>
            </a:r>
            <a:r>
              <a:rPr sz="2800" spc="-85" dirty="0">
                <a:solidFill>
                  <a:schemeClr val="tx1">
                    <a:lumMod val="95000"/>
                    <a:lumOff val="5000"/>
                  </a:schemeClr>
                </a:solidFill>
                <a:latin typeface="Aptos" panose="020B0004020202020204" pitchFamily="34" charset="0"/>
                <a:cs typeface="Times New Roman"/>
              </a:rPr>
              <a:t>the </a:t>
            </a:r>
            <a:r>
              <a:rPr sz="2800" spc="-150" dirty="0">
                <a:solidFill>
                  <a:schemeClr val="tx1">
                    <a:lumMod val="95000"/>
                    <a:lumOff val="5000"/>
                  </a:schemeClr>
                </a:solidFill>
                <a:latin typeface="Aptos" panose="020B0004020202020204" pitchFamily="34" charset="0"/>
                <a:cs typeface="Times New Roman"/>
              </a:rPr>
              <a:t>knowledge</a:t>
            </a:r>
            <a:r>
              <a:rPr sz="2800" spc="220" dirty="0">
                <a:solidFill>
                  <a:schemeClr val="tx1">
                    <a:lumMod val="95000"/>
                    <a:lumOff val="5000"/>
                  </a:schemeClr>
                </a:solidFill>
                <a:latin typeface="Aptos" panose="020B0004020202020204" pitchFamily="34" charset="0"/>
                <a:cs typeface="Times New Roman"/>
              </a:rPr>
              <a:t> </a:t>
            </a:r>
            <a:r>
              <a:rPr sz="2800" spc="-175" dirty="0">
                <a:solidFill>
                  <a:schemeClr val="tx1">
                    <a:lumMod val="95000"/>
                    <a:lumOff val="5000"/>
                  </a:schemeClr>
                </a:solidFill>
                <a:latin typeface="Aptos" panose="020B0004020202020204" pitchFamily="34" charset="0"/>
                <a:cs typeface="Times New Roman"/>
              </a:rPr>
              <a:t>bas</a:t>
            </a:r>
            <a:r>
              <a:rPr lang="en-US" sz="2800" spc="-175" dirty="0">
                <a:solidFill>
                  <a:schemeClr val="tx1">
                    <a:lumMod val="95000"/>
                    <a:lumOff val="5000"/>
                  </a:schemeClr>
                </a:solidFill>
                <a:latin typeface="Aptos" panose="020B0004020202020204" pitchFamily="34" charset="0"/>
                <a:cs typeface="Times New Roman"/>
              </a:rPr>
              <a:t>e</a:t>
            </a:r>
          </a:p>
          <a:p>
            <a:pPr marL="789305" lvl="1" indent="-457200">
              <a:spcBef>
                <a:spcPts val="395"/>
              </a:spcBef>
              <a:buClr>
                <a:srgbClr val="9B2C1F"/>
              </a:buClr>
              <a:buSzPct val="83928"/>
              <a:buFont typeface="Arial" panose="020B0604020202020204" pitchFamily="34" charset="0"/>
              <a:buChar char="•"/>
              <a:tabLst>
                <a:tab pos="561975" algn="l"/>
              </a:tabLst>
            </a:pPr>
            <a:r>
              <a:rPr lang="en-US" sz="2800" dirty="0">
                <a:latin typeface="Aptos" panose="020B0004020202020204" pitchFamily="34" charset="0"/>
              </a:rPr>
              <a:t>Takes input from user</a:t>
            </a:r>
          </a:p>
          <a:p>
            <a:pPr marL="789305" lvl="1" indent="-457200">
              <a:spcBef>
                <a:spcPts val="395"/>
              </a:spcBef>
              <a:buClr>
                <a:srgbClr val="9B2C1F"/>
              </a:buClr>
              <a:buSzPct val="83928"/>
              <a:buFont typeface="Arial" panose="020B0604020202020204" pitchFamily="34" charset="0"/>
              <a:buChar char="•"/>
              <a:tabLst>
                <a:tab pos="561975" algn="l"/>
              </a:tabLst>
            </a:pPr>
            <a:r>
              <a:rPr lang="en-US" sz="2800" dirty="0">
                <a:latin typeface="Aptos" panose="020B0004020202020204" pitchFamily="34" charset="0"/>
              </a:rPr>
              <a:t>Displays results</a:t>
            </a:r>
          </a:p>
          <a:p>
            <a:pPr marL="561340" lvl="1" indent="-229235">
              <a:spcBef>
                <a:spcPts val="395"/>
              </a:spcBef>
              <a:buClr>
                <a:srgbClr val="9B2C1F"/>
              </a:buClr>
              <a:buSzPct val="83928"/>
              <a:buFont typeface="Arial"/>
              <a:buChar char=""/>
              <a:tabLst>
                <a:tab pos="561975" algn="l"/>
              </a:tabLst>
            </a:pPr>
            <a:endParaRPr sz="2800" dirty="0">
              <a:solidFill>
                <a:schemeClr val="tx1">
                  <a:lumMod val="95000"/>
                  <a:lumOff val="5000"/>
                </a:schemeClr>
              </a:solidFill>
              <a:latin typeface="Aptos" panose="020B0004020202020204" pitchFamily="34" charset="0"/>
              <a:cs typeface="Times New Roman"/>
            </a:endParaRPr>
          </a:p>
        </p:txBody>
      </p:sp>
    </p:spTree>
    <p:extLst>
      <p:ext uri="{BB962C8B-B14F-4D97-AF65-F5344CB8AC3E}">
        <p14:creationId xmlns:p14="http://schemas.microsoft.com/office/powerpoint/2010/main" val="881777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A1ABB-21FB-75DD-FAE9-AED3CCF7726E}"/>
              </a:ext>
            </a:extLst>
          </p:cNvPr>
          <p:cNvSpPr>
            <a:spLocks noGrp="1"/>
          </p:cNvSpPr>
          <p:nvPr>
            <p:ph type="title"/>
          </p:nvPr>
        </p:nvSpPr>
        <p:spPr>
          <a:xfrm>
            <a:off x="4114800" y="304800"/>
            <a:ext cx="6377940" cy="1293028"/>
          </a:xfrm>
        </p:spPr>
        <p:txBody>
          <a:bodyPr/>
          <a:lstStyle/>
          <a:p>
            <a:r>
              <a:rPr lang="en-US" cap="none" dirty="0">
                <a:latin typeface="Aptos" panose="020B0004020202020204" pitchFamily="34" charset="0"/>
              </a:rPr>
              <a:t>Main Reasoning Methods</a:t>
            </a:r>
          </a:p>
        </p:txBody>
      </p:sp>
      <p:sp>
        <p:nvSpPr>
          <p:cNvPr id="3" name="Content Placeholder 2">
            <a:extLst>
              <a:ext uri="{FF2B5EF4-FFF2-40B4-BE49-F238E27FC236}">
                <a16:creationId xmlns:a16="http://schemas.microsoft.com/office/drawing/2014/main" id="{7FD07C55-0287-7301-BF25-6723960D1E9B}"/>
              </a:ext>
            </a:extLst>
          </p:cNvPr>
          <p:cNvSpPr>
            <a:spLocks noGrp="1"/>
          </p:cNvSpPr>
          <p:nvPr>
            <p:ph idx="1"/>
          </p:nvPr>
        </p:nvSpPr>
        <p:spPr>
          <a:xfrm>
            <a:off x="2118360" y="1447800"/>
            <a:ext cx="7955280" cy="5257800"/>
          </a:xfrm>
        </p:spPr>
        <p:txBody>
          <a:bodyPr>
            <a:normAutofit lnSpcReduction="10000"/>
          </a:bodyPr>
          <a:lstStyle/>
          <a:p>
            <a:pPr marL="0" indent="0">
              <a:buNone/>
            </a:pPr>
            <a:r>
              <a:rPr lang="en-US" b="1" dirty="0">
                <a:solidFill>
                  <a:schemeClr val="tx1">
                    <a:lumMod val="95000"/>
                    <a:lumOff val="5000"/>
                  </a:schemeClr>
                </a:solidFill>
                <a:latin typeface="Aptos" panose="020B0004020202020204" pitchFamily="34" charset="0"/>
              </a:rPr>
              <a:t>1. Forward Chaining (Data-Driven)</a:t>
            </a:r>
          </a:p>
          <a:p>
            <a:pPr marL="0" indent="0">
              <a:buNone/>
            </a:pPr>
            <a:r>
              <a:rPr lang="en-US" dirty="0">
                <a:solidFill>
                  <a:schemeClr val="tx1">
                    <a:lumMod val="95000"/>
                    <a:lumOff val="5000"/>
                  </a:schemeClr>
                </a:solidFill>
                <a:latin typeface="Aptos" panose="020B0004020202020204" pitchFamily="34" charset="0"/>
              </a:rPr>
              <a:t>Forward chaining is a data-driven, bottom-up inference method used in knowledge-based systems (KBS) and expert systems. It begins with available data (facts) and repeatedly applies inference rules (usually IF-THEN rules) to extract more data until a specific goal is reached or no more inferences can be made. It is widely used in AI for tasks that involve moving from initial conditions toward a potential conclusion, such as in diagnostic or monitoring applications.</a:t>
            </a:r>
          </a:p>
          <a:p>
            <a:pPr>
              <a:buFont typeface="Arial" panose="020B0604020202020204" pitchFamily="34" charset="0"/>
              <a:buChar char="•"/>
            </a:pPr>
            <a:r>
              <a:rPr lang="en-US" dirty="0">
                <a:solidFill>
                  <a:schemeClr val="tx1">
                    <a:lumMod val="95000"/>
                    <a:lumOff val="5000"/>
                  </a:schemeClr>
                </a:solidFill>
                <a:latin typeface="Aptos" panose="020B0004020202020204" pitchFamily="34" charset="0"/>
              </a:rPr>
              <a:t>Starts with known facts</a:t>
            </a:r>
          </a:p>
          <a:p>
            <a:pPr>
              <a:buFont typeface="Arial" panose="020B0604020202020204" pitchFamily="34" charset="0"/>
              <a:buChar char="•"/>
            </a:pPr>
            <a:r>
              <a:rPr lang="en-US" dirty="0">
                <a:solidFill>
                  <a:schemeClr val="tx1">
                    <a:lumMod val="95000"/>
                    <a:lumOff val="5000"/>
                  </a:schemeClr>
                </a:solidFill>
                <a:latin typeface="Aptos" panose="020B0004020202020204" pitchFamily="34" charset="0"/>
              </a:rPr>
              <a:t>Applies rules</a:t>
            </a:r>
          </a:p>
          <a:p>
            <a:pPr>
              <a:buFont typeface="Arial" panose="020B0604020202020204" pitchFamily="34" charset="0"/>
              <a:buChar char="•"/>
            </a:pPr>
            <a:r>
              <a:rPr lang="en-US" dirty="0">
                <a:solidFill>
                  <a:schemeClr val="tx1">
                    <a:lumMod val="95000"/>
                    <a:lumOff val="5000"/>
                  </a:schemeClr>
                </a:solidFill>
                <a:latin typeface="Aptos" panose="020B0004020202020204" pitchFamily="34" charset="0"/>
              </a:rPr>
              <a:t>Reaches conclusion</a:t>
            </a:r>
          </a:p>
          <a:p>
            <a:pPr marL="0" indent="0">
              <a:buNone/>
            </a:pPr>
            <a:r>
              <a:rPr lang="en-US" b="1" dirty="0">
                <a:solidFill>
                  <a:schemeClr val="tx1">
                    <a:lumMod val="95000"/>
                    <a:lumOff val="5000"/>
                  </a:schemeClr>
                </a:solidFill>
                <a:latin typeface="Aptos" panose="020B0004020202020204" pitchFamily="34" charset="0"/>
              </a:rPr>
              <a:t>Example</a:t>
            </a:r>
            <a:r>
              <a:rPr lang="en-US" dirty="0">
                <a:solidFill>
                  <a:schemeClr val="tx1">
                    <a:lumMod val="95000"/>
                    <a:lumOff val="5000"/>
                  </a:schemeClr>
                </a:solidFill>
                <a:latin typeface="Aptos" panose="020B0004020202020204" pitchFamily="34" charset="0"/>
              </a:rPr>
              <a:t>:</a:t>
            </a:r>
          </a:p>
          <a:p>
            <a:pPr marL="457200" lvl="1" indent="0">
              <a:buNone/>
            </a:pPr>
            <a:r>
              <a:rPr lang="en-US" dirty="0">
                <a:solidFill>
                  <a:schemeClr val="tx1">
                    <a:lumMod val="95000"/>
                    <a:lumOff val="5000"/>
                  </a:schemeClr>
                </a:solidFill>
                <a:latin typeface="Aptos" panose="020B0004020202020204" pitchFamily="34" charset="0"/>
              </a:rPr>
              <a:t>Fact: fever + cough</a:t>
            </a:r>
            <a:br>
              <a:rPr lang="en-US" dirty="0">
                <a:solidFill>
                  <a:schemeClr val="tx1">
                    <a:lumMod val="95000"/>
                    <a:lumOff val="5000"/>
                  </a:schemeClr>
                </a:solidFill>
                <a:latin typeface="Aptos" panose="020B0004020202020204" pitchFamily="34" charset="0"/>
              </a:rPr>
            </a:br>
            <a:r>
              <a:rPr lang="en-US" dirty="0">
                <a:solidFill>
                  <a:schemeClr val="tx1">
                    <a:lumMod val="95000"/>
                    <a:lumOff val="5000"/>
                  </a:schemeClr>
                </a:solidFill>
                <a:latin typeface="Aptos" panose="020B0004020202020204" pitchFamily="34" charset="0"/>
              </a:rPr>
              <a:t>→ Rule applied</a:t>
            </a:r>
            <a:br>
              <a:rPr lang="en-US" dirty="0">
                <a:solidFill>
                  <a:schemeClr val="tx1">
                    <a:lumMod val="95000"/>
                    <a:lumOff val="5000"/>
                  </a:schemeClr>
                </a:solidFill>
                <a:latin typeface="Aptos" panose="020B0004020202020204" pitchFamily="34" charset="0"/>
              </a:rPr>
            </a:br>
            <a:r>
              <a:rPr lang="en-US" dirty="0">
                <a:solidFill>
                  <a:schemeClr val="tx1">
                    <a:lumMod val="95000"/>
                    <a:lumOff val="5000"/>
                  </a:schemeClr>
                </a:solidFill>
                <a:latin typeface="Aptos" panose="020B0004020202020204" pitchFamily="34" charset="0"/>
              </a:rPr>
              <a:t>→ Conclusion: flu</a:t>
            </a:r>
          </a:p>
        </p:txBody>
      </p:sp>
    </p:spTree>
    <p:extLst>
      <p:ext uri="{BB962C8B-B14F-4D97-AF65-F5344CB8AC3E}">
        <p14:creationId xmlns:p14="http://schemas.microsoft.com/office/powerpoint/2010/main" val="1270010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descr="Forward Chaining vs. Backward Chaining in Artificial Intelligence | Built In">
            <a:extLst>
              <a:ext uri="{FF2B5EF4-FFF2-40B4-BE49-F238E27FC236}">
                <a16:creationId xmlns:a16="http://schemas.microsoft.com/office/drawing/2014/main" id="{D789F5E8-7872-6CFB-D3B9-E9144483CF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4055" y="1362165"/>
            <a:ext cx="8903891" cy="2667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6BC7166-2715-8F12-2A19-0F79DF84438B}"/>
              </a:ext>
            </a:extLst>
          </p:cNvPr>
          <p:cNvSpPr txBox="1"/>
          <p:nvPr/>
        </p:nvSpPr>
        <p:spPr>
          <a:xfrm>
            <a:off x="1904999" y="4541729"/>
            <a:ext cx="8382000" cy="954107"/>
          </a:xfrm>
          <a:prstGeom prst="rect">
            <a:avLst/>
          </a:prstGeom>
          <a:noFill/>
        </p:spPr>
        <p:txBody>
          <a:bodyPr wrap="square">
            <a:spAutoFit/>
          </a:bodyPr>
          <a:lstStyle/>
          <a:p>
            <a:r>
              <a:rPr lang="en-US" sz="2800" b="1" dirty="0">
                <a:latin typeface="Aptos" panose="020B0004020202020204" pitchFamily="34" charset="0"/>
              </a:rPr>
              <a:t>Facts → Rule 1 → Rule 2 → Rule 3 → Conclusion</a:t>
            </a:r>
          </a:p>
          <a:p>
            <a:r>
              <a:rPr lang="en-US" sz="2800" b="1" dirty="0">
                <a:latin typeface="Aptos" panose="020B0004020202020204" pitchFamily="34" charset="0"/>
              </a:rPr>
              <a:t>Data → Intermediate Fact → Final Decision</a:t>
            </a:r>
          </a:p>
        </p:txBody>
      </p:sp>
    </p:spTree>
    <p:extLst>
      <p:ext uri="{BB962C8B-B14F-4D97-AF65-F5344CB8AC3E}">
        <p14:creationId xmlns:p14="http://schemas.microsoft.com/office/powerpoint/2010/main" val="3509688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6E28323F-FA8E-1393-6489-00B31A415042}"/>
              </a:ext>
            </a:extLst>
          </p:cNvPr>
          <p:cNvSpPr txBox="1"/>
          <p:nvPr/>
        </p:nvSpPr>
        <p:spPr>
          <a:xfrm>
            <a:off x="2138464" y="948690"/>
            <a:ext cx="8534400" cy="5909310"/>
          </a:xfrm>
          <a:prstGeom prst="rect">
            <a:avLst/>
          </a:prstGeom>
          <a:noFill/>
        </p:spPr>
        <p:txBody>
          <a:bodyPr wrap="square">
            <a:spAutoFit/>
          </a:bodyPr>
          <a:lstStyle/>
          <a:p>
            <a:pPr>
              <a:buFont typeface="+mj-lt"/>
              <a:buAutoNum type="arabicPeriod"/>
            </a:pPr>
            <a:r>
              <a:rPr lang="en-US" dirty="0">
                <a:solidFill>
                  <a:schemeClr val="tx1">
                    <a:lumMod val="95000"/>
                    <a:lumOff val="5000"/>
                  </a:schemeClr>
                </a:solidFill>
                <a:highlight>
                  <a:srgbClr val="FFFF00"/>
                </a:highlight>
                <a:latin typeface="Aptos" panose="020B0004020202020204" pitchFamily="34" charset="0"/>
              </a:rPr>
              <a:t>Knowledge Base</a:t>
            </a:r>
          </a:p>
          <a:p>
            <a:r>
              <a:rPr lang="en-US" b="1" dirty="0">
                <a:solidFill>
                  <a:schemeClr val="tx1">
                    <a:lumMod val="95000"/>
                    <a:lumOff val="5000"/>
                  </a:schemeClr>
                </a:solidFill>
                <a:latin typeface="Aptos" panose="020B0004020202020204" pitchFamily="34" charset="0"/>
              </a:rPr>
              <a:t>Facts</a:t>
            </a:r>
            <a:r>
              <a:rPr lang="en-US" dirty="0">
                <a:solidFill>
                  <a:schemeClr val="tx1">
                    <a:lumMod val="95000"/>
                    <a:lumOff val="5000"/>
                  </a:schemeClr>
                </a:solidFill>
                <a:latin typeface="Aptos" panose="020B0004020202020204" pitchFamily="34" charset="0"/>
              </a:rPr>
              <a:t>:</a:t>
            </a:r>
            <a:br>
              <a:rPr lang="en-US" dirty="0">
                <a:solidFill>
                  <a:schemeClr val="tx1">
                    <a:lumMod val="95000"/>
                    <a:lumOff val="5000"/>
                  </a:schemeClr>
                </a:solidFill>
                <a:latin typeface="Aptos" panose="020B0004020202020204" pitchFamily="34" charset="0"/>
              </a:rPr>
            </a:br>
            <a:r>
              <a:rPr lang="en-US" dirty="0">
                <a:solidFill>
                  <a:schemeClr val="tx1">
                    <a:lumMod val="95000"/>
                    <a:lumOff val="5000"/>
                  </a:schemeClr>
                </a:solidFill>
                <a:latin typeface="Aptos" panose="020B0004020202020204" pitchFamily="34" charset="0"/>
              </a:rPr>
              <a:t>Leaf color = Yellow, Growth = Slow</a:t>
            </a:r>
          </a:p>
          <a:p>
            <a:r>
              <a:rPr lang="en-US" b="1" dirty="0">
                <a:solidFill>
                  <a:schemeClr val="tx1">
                    <a:lumMod val="95000"/>
                    <a:lumOff val="5000"/>
                  </a:schemeClr>
                </a:solidFill>
                <a:latin typeface="Aptos" panose="020B0004020202020204" pitchFamily="34" charset="0"/>
              </a:rPr>
              <a:t>Rules</a:t>
            </a:r>
            <a:r>
              <a:rPr lang="en-US" dirty="0">
                <a:solidFill>
                  <a:schemeClr val="tx1">
                    <a:lumMod val="95000"/>
                    <a:lumOff val="5000"/>
                  </a:schemeClr>
                </a:solidFill>
                <a:latin typeface="Aptos" panose="020B0004020202020204" pitchFamily="34" charset="0"/>
              </a:rPr>
              <a:t>:</a:t>
            </a:r>
            <a:br>
              <a:rPr lang="en-US" dirty="0">
                <a:solidFill>
                  <a:schemeClr val="tx1">
                    <a:lumMod val="95000"/>
                    <a:lumOff val="5000"/>
                  </a:schemeClr>
                </a:solidFill>
                <a:latin typeface="Aptos" panose="020B0004020202020204" pitchFamily="34" charset="0"/>
              </a:rPr>
            </a:br>
            <a:r>
              <a:rPr lang="en-US" dirty="0">
                <a:solidFill>
                  <a:schemeClr val="tx1">
                    <a:lumMod val="95000"/>
                    <a:lumOff val="5000"/>
                  </a:schemeClr>
                </a:solidFill>
                <a:latin typeface="Aptos" panose="020B0004020202020204" pitchFamily="34" charset="0"/>
              </a:rPr>
              <a:t>Rule 1: IF leaf color = Yellow  THEN chlorosis</a:t>
            </a:r>
          </a:p>
          <a:p>
            <a:r>
              <a:rPr lang="en-US" dirty="0">
                <a:solidFill>
                  <a:schemeClr val="tx1">
                    <a:lumMod val="95000"/>
                    <a:lumOff val="5000"/>
                  </a:schemeClr>
                </a:solidFill>
                <a:latin typeface="Aptos" panose="020B0004020202020204" pitchFamily="34" charset="0"/>
              </a:rPr>
              <a:t>Rule 2: IF chlorosis AND growth = Slow  THEN nitrogen deficiency</a:t>
            </a:r>
          </a:p>
          <a:p>
            <a:r>
              <a:rPr lang="en-US" dirty="0">
                <a:solidFill>
                  <a:schemeClr val="tx1">
                    <a:lumMod val="95000"/>
                    <a:lumOff val="5000"/>
                  </a:schemeClr>
                </a:solidFill>
                <a:latin typeface="Aptos" panose="020B0004020202020204" pitchFamily="34" charset="0"/>
              </a:rPr>
              <a:t>Rule 3: IF nitrogen deficiency THEN recommend nitrogen fertilizer</a:t>
            </a:r>
          </a:p>
          <a:p>
            <a:pPr>
              <a:buFont typeface="+mj-lt"/>
              <a:buAutoNum type="arabicPeriod" startAt="2"/>
            </a:pPr>
            <a:r>
              <a:rPr lang="en-US" dirty="0">
                <a:solidFill>
                  <a:schemeClr val="tx1">
                    <a:lumMod val="95000"/>
                    <a:lumOff val="5000"/>
                  </a:schemeClr>
                </a:solidFill>
                <a:highlight>
                  <a:srgbClr val="FFFF00"/>
                </a:highlight>
                <a:latin typeface="Aptos" panose="020B0004020202020204" pitchFamily="34" charset="0"/>
              </a:rPr>
              <a:t>Forward Chaining Steps</a:t>
            </a:r>
          </a:p>
          <a:p>
            <a:r>
              <a:rPr lang="en-US" b="1" dirty="0">
                <a:solidFill>
                  <a:schemeClr val="tx1">
                    <a:lumMod val="95000"/>
                    <a:lumOff val="5000"/>
                  </a:schemeClr>
                </a:solidFill>
                <a:latin typeface="Aptos" panose="020B0004020202020204" pitchFamily="34" charset="0"/>
              </a:rPr>
              <a:t>Step 1</a:t>
            </a:r>
            <a:r>
              <a:rPr lang="en-US" dirty="0">
                <a:solidFill>
                  <a:schemeClr val="tx1">
                    <a:lumMod val="95000"/>
                    <a:lumOff val="5000"/>
                  </a:schemeClr>
                </a:solidFill>
                <a:latin typeface="Aptos" panose="020B0004020202020204" pitchFamily="34" charset="0"/>
              </a:rPr>
              <a:t>: Initial Facts</a:t>
            </a:r>
            <a:br>
              <a:rPr lang="en-US" dirty="0">
                <a:solidFill>
                  <a:schemeClr val="tx1">
                    <a:lumMod val="95000"/>
                    <a:lumOff val="5000"/>
                  </a:schemeClr>
                </a:solidFill>
                <a:latin typeface="Aptos" panose="020B0004020202020204" pitchFamily="34" charset="0"/>
              </a:rPr>
            </a:br>
            <a:r>
              <a:rPr lang="en-US" dirty="0">
                <a:solidFill>
                  <a:schemeClr val="tx1">
                    <a:lumMod val="95000"/>
                    <a:lumOff val="5000"/>
                  </a:schemeClr>
                </a:solidFill>
                <a:latin typeface="Aptos" panose="020B0004020202020204" pitchFamily="34" charset="0"/>
              </a:rPr>
              <a:t>Leaf color = Yellow</a:t>
            </a:r>
            <a:br>
              <a:rPr lang="en-US" dirty="0">
                <a:solidFill>
                  <a:schemeClr val="tx1">
                    <a:lumMod val="95000"/>
                    <a:lumOff val="5000"/>
                  </a:schemeClr>
                </a:solidFill>
                <a:latin typeface="Aptos" panose="020B0004020202020204" pitchFamily="34" charset="0"/>
              </a:rPr>
            </a:br>
            <a:r>
              <a:rPr lang="en-US" dirty="0">
                <a:solidFill>
                  <a:schemeClr val="tx1">
                    <a:lumMod val="95000"/>
                    <a:lumOff val="5000"/>
                  </a:schemeClr>
                </a:solidFill>
                <a:latin typeface="Aptos" panose="020B0004020202020204" pitchFamily="34" charset="0"/>
              </a:rPr>
              <a:t>Growth = Slow</a:t>
            </a:r>
          </a:p>
          <a:p>
            <a:r>
              <a:rPr lang="en-US" b="1" dirty="0">
                <a:solidFill>
                  <a:schemeClr val="tx1">
                    <a:lumMod val="95000"/>
                    <a:lumOff val="5000"/>
                  </a:schemeClr>
                </a:solidFill>
                <a:latin typeface="Aptos" panose="020B0004020202020204" pitchFamily="34" charset="0"/>
              </a:rPr>
              <a:t>Step 2</a:t>
            </a:r>
            <a:r>
              <a:rPr lang="en-US" dirty="0">
                <a:solidFill>
                  <a:schemeClr val="tx1">
                    <a:lumMod val="95000"/>
                    <a:lumOff val="5000"/>
                  </a:schemeClr>
                </a:solidFill>
                <a:latin typeface="Aptos" panose="020B0004020202020204" pitchFamily="34" charset="0"/>
              </a:rPr>
              <a:t>: Apply Rule 1</a:t>
            </a:r>
            <a:br>
              <a:rPr lang="en-US" dirty="0">
                <a:solidFill>
                  <a:schemeClr val="tx1">
                    <a:lumMod val="95000"/>
                    <a:lumOff val="5000"/>
                  </a:schemeClr>
                </a:solidFill>
                <a:latin typeface="Aptos" panose="020B0004020202020204" pitchFamily="34" charset="0"/>
              </a:rPr>
            </a:br>
            <a:r>
              <a:rPr lang="en-US" dirty="0">
                <a:solidFill>
                  <a:schemeClr val="tx1">
                    <a:lumMod val="95000"/>
                    <a:lumOff val="5000"/>
                  </a:schemeClr>
                </a:solidFill>
                <a:latin typeface="Aptos" panose="020B0004020202020204" pitchFamily="34" charset="0"/>
              </a:rPr>
              <a:t>Leaf color = Yellow,  Therefore → chlorosis,  New fact added: chlorosis</a:t>
            </a:r>
          </a:p>
          <a:p>
            <a:r>
              <a:rPr lang="en-US" b="1" dirty="0">
                <a:solidFill>
                  <a:schemeClr val="tx1">
                    <a:lumMod val="95000"/>
                    <a:lumOff val="5000"/>
                  </a:schemeClr>
                </a:solidFill>
                <a:latin typeface="Aptos" panose="020B0004020202020204" pitchFamily="34" charset="0"/>
              </a:rPr>
              <a:t>Step 3</a:t>
            </a:r>
            <a:r>
              <a:rPr lang="en-US" dirty="0">
                <a:solidFill>
                  <a:schemeClr val="tx1">
                    <a:lumMod val="95000"/>
                    <a:lumOff val="5000"/>
                  </a:schemeClr>
                </a:solidFill>
                <a:latin typeface="Aptos" panose="020B0004020202020204" pitchFamily="34" charset="0"/>
              </a:rPr>
              <a:t>: Apply Rule 2</a:t>
            </a:r>
            <a:br>
              <a:rPr lang="en-US" dirty="0">
                <a:solidFill>
                  <a:schemeClr val="tx1">
                    <a:lumMod val="95000"/>
                    <a:lumOff val="5000"/>
                  </a:schemeClr>
                </a:solidFill>
                <a:latin typeface="Aptos" panose="020B0004020202020204" pitchFamily="34" charset="0"/>
              </a:rPr>
            </a:br>
            <a:r>
              <a:rPr lang="en-US" dirty="0">
                <a:solidFill>
                  <a:schemeClr val="tx1">
                    <a:lumMod val="95000"/>
                    <a:lumOff val="5000"/>
                  </a:schemeClr>
                </a:solidFill>
                <a:latin typeface="Aptos" panose="020B0004020202020204" pitchFamily="34" charset="0"/>
              </a:rPr>
              <a:t>chlorosis AND growth = Slow, Therefore → nitrogen deficiency, New fact added: nitrogen deficiency</a:t>
            </a:r>
          </a:p>
          <a:p>
            <a:r>
              <a:rPr lang="en-US" b="1" dirty="0">
                <a:solidFill>
                  <a:schemeClr val="tx1">
                    <a:lumMod val="95000"/>
                    <a:lumOff val="5000"/>
                  </a:schemeClr>
                </a:solidFill>
                <a:latin typeface="Aptos" panose="020B0004020202020204" pitchFamily="34" charset="0"/>
              </a:rPr>
              <a:t>Step 4: </a:t>
            </a:r>
            <a:r>
              <a:rPr lang="en-US" dirty="0">
                <a:solidFill>
                  <a:schemeClr val="tx1">
                    <a:lumMod val="95000"/>
                    <a:lumOff val="5000"/>
                  </a:schemeClr>
                </a:solidFill>
                <a:latin typeface="Aptos" panose="020B0004020202020204" pitchFamily="34" charset="0"/>
              </a:rPr>
              <a:t>Apply Rule 3</a:t>
            </a:r>
            <a:br>
              <a:rPr lang="en-US" dirty="0">
                <a:solidFill>
                  <a:schemeClr val="tx1">
                    <a:lumMod val="95000"/>
                    <a:lumOff val="5000"/>
                  </a:schemeClr>
                </a:solidFill>
                <a:latin typeface="Aptos" panose="020B0004020202020204" pitchFamily="34" charset="0"/>
              </a:rPr>
            </a:br>
            <a:r>
              <a:rPr lang="en-US" dirty="0">
                <a:solidFill>
                  <a:schemeClr val="tx1">
                    <a:lumMod val="95000"/>
                    <a:lumOff val="5000"/>
                  </a:schemeClr>
                </a:solidFill>
                <a:latin typeface="Aptos" panose="020B0004020202020204" pitchFamily="34" charset="0"/>
              </a:rPr>
              <a:t>nitrogen deficiency,  Therefore → recommend nitrogen fertilizer</a:t>
            </a:r>
          </a:p>
          <a:p>
            <a:r>
              <a:rPr lang="en-US" b="1" dirty="0">
                <a:solidFill>
                  <a:schemeClr val="tx1">
                    <a:lumMod val="95000"/>
                    <a:lumOff val="5000"/>
                  </a:schemeClr>
                </a:solidFill>
                <a:latin typeface="Aptos" panose="020B0004020202020204" pitchFamily="34" charset="0"/>
              </a:rPr>
              <a:t>Final Conclusion:</a:t>
            </a:r>
            <a:br>
              <a:rPr lang="en-US" dirty="0">
                <a:solidFill>
                  <a:schemeClr val="tx1">
                    <a:lumMod val="95000"/>
                    <a:lumOff val="5000"/>
                  </a:schemeClr>
                </a:solidFill>
                <a:latin typeface="Aptos" panose="020B0004020202020204" pitchFamily="34" charset="0"/>
              </a:rPr>
            </a:br>
            <a:r>
              <a:rPr lang="en-US" dirty="0">
                <a:solidFill>
                  <a:schemeClr val="tx1">
                    <a:lumMod val="95000"/>
                    <a:lumOff val="5000"/>
                  </a:schemeClr>
                </a:solidFill>
                <a:latin typeface="Aptos" panose="020B0004020202020204" pitchFamily="34" charset="0"/>
              </a:rPr>
              <a:t>The crop has nitrogen deficiency.</a:t>
            </a:r>
            <a:br>
              <a:rPr lang="en-US" dirty="0">
                <a:solidFill>
                  <a:schemeClr val="tx1">
                    <a:lumMod val="95000"/>
                    <a:lumOff val="5000"/>
                  </a:schemeClr>
                </a:solidFill>
                <a:latin typeface="Aptos" panose="020B0004020202020204" pitchFamily="34" charset="0"/>
              </a:rPr>
            </a:br>
            <a:r>
              <a:rPr lang="en-US" dirty="0">
                <a:solidFill>
                  <a:schemeClr val="tx1">
                    <a:lumMod val="95000"/>
                    <a:lumOff val="5000"/>
                  </a:schemeClr>
                </a:solidFill>
                <a:latin typeface="Aptos" panose="020B0004020202020204" pitchFamily="34" charset="0"/>
              </a:rPr>
              <a:t>Recommendation: Apply nitrogen fertilizer.</a:t>
            </a:r>
          </a:p>
        </p:txBody>
      </p:sp>
    </p:spTree>
    <p:extLst>
      <p:ext uri="{BB962C8B-B14F-4D97-AF65-F5344CB8AC3E}">
        <p14:creationId xmlns:p14="http://schemas.microsoft.com/office/powerpoint/2010/main" val="2302470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4B6B8-D933-003E-B56E-ABEC4D09568B}"/>
              </a:ext>
            </a:extLst>
          </p:cNvPr>
          <p:cNvSpPr>
            <a:spLocks noGrp="1"/>
          </p:cNvSpPr>
          <p:nvPr>
            <p:ph type="title"/>
          </p:nvPr>
        </p:nvSpPr>
        <p:spPr>
          <a:xfrm>
            <a:off x="4038600" y="457200"/>
            <a:ext cx="6377940" cy="1293028"/>
          </a:xfrm>
        </p:spPr>
        <p:txBody>
          <a:bodyPr/>
          <a:lstStyle/>
          <a:p>
            <a:r>
              <a:rPr lang="en-US" cap="none" dirty="0">
                <a:latin typeface="Aptos" panose="020B0004020202020204" pitchFamily="34" charset="0"/>
              </a:rPr>
              <a:t>Main Reasoning Methods</a:t>
            </a:r>
            <a:endParaRPr lang="en-US" dirty="0"/>
          </a:p>
        </p:txBody>
      </p:sp>
      <p:sp>
        <p:nvSpPr>
          <p:cNvPr id="3" name="Content Placeholder 2">
            <a:extLst>
              <a:ext uri="{FF2B5EF4-FFF2-40B4-BE49-F238E27FC236}">
                <a16:creationId xmlns:a16="http://schemas.microsoft.com/office/drawing/2014/main" id="{EFD82127-2EA1-8D42-A9EB-8B35511DD020}"/>
              </a:ext>
            </a:extLst>
          </p:cNvPr>
          <p:cNvSpPr>
            <a:spLocks noGrp="1"/>
          </p:cNvSpPr>
          <p:nvPr>
            <p:ph idx="1"/>
          </p:nvPr>
        </p:nvSpPr>
        <p:spPr>
          <a:xfrm>
            <a:off x="2118360" y="1981200"/>
            <a:ext cx="7955280" cy="4572000"/>
          </a:xfrm>
        </p:spPr>
        <p:txBody>
          <a:bodyPr>
            <a:normAutofit lnSpcReduction="10000"/>
          </a:bodyPr>
          <a:lstStyle/>
          <a:p>
            <a:pPr marL="0" indent="0">
              <a:buNone/>
            </a:pPr>
            <a:r>
              <a:rPr lang="en-US" b="1" dirty="0">
                <a:latin typeface="Aptos" panose="020B0004020202020204" pitchFamily="34" charset="0"/>
              </a:rPr>
              <a:t>2. Backward Chaining (Goal-Driven):</a:t>
            </a:r>
          </a:p>
          <a:p>
            <a:r>
              <a:rPr lang="en-US" dirty="0">
                <a:latin typeface="Aptos" panose="020B0004020202020204" pitchFamily="34" charset="0"/>
              </a:rPr>
              <a:t>Backward chaining is a goal-driven, top-down inference technique used in knowledge-based systems (KBS) and expert systems to derive conclusions by working backward from a goal to supporting facts</a:t>
            </a:r>
            <a:r>
              <a:rPr lang="en-US" b="0" i="0" dirty="0">
                <a:solidFill>
                  <a:srgbClr val="0A0A0A"/>
                </a:solidFill>
                <a:effectLst/>
                <a:latin typeface="Aptos" panose="020B0004020202020204" pitchFamily="34" charset="0"/>
              </a:rPr>
              <a:t>. It starts with a specific query or hypothesis and recursively breaks it down into sub-goals, searching for rules whose conclusions (Then clauses) match the goal, and verifying if their premises (If clauses) are supported by the known data.</a:t>
            </a:r>
          </a:p>
          <a:p>
            <a:pPr>
              <a:buFont typeface="Arial" panose="020B0604020202020204" pitchFamily="34" charset="0"/>
              <a:buChar char="•"/>
            </a:pPr>
            <a:r>
              <a:rPr lang="en-US" dirty="0">
                <a:latin typeface="Aptos" panose="020B0004020202020204" pitchFamily="34" charset="0"/>
              </a:rPr>
              <a:t>Starts with goal</a:t>
            </a:r>
          </a:p>
          <a:p>
            <a:pPr>
              <a:buFont typeface="Arial" panose="020B0604020202020204" pitchFamily="34" charset="0"/>
              <a:buChar char="•"/>
            </a:pPr>
            <a:r>
              <a:rPr lang="en-US" dirty="0">
                <a:latin typeface="Aptos" panose="020B0004020202020204" pitchFamily="34" charset="0"/>
              </a:rPr>
              <a:t>Checks if facts support it</a:t>
            </a:r>
          </a:p>
          <a:p>
            <a:pPr marL="0" indent="0">
              <a:buNone/>
            </a:pPr>
            <a:r>
              <a:rPr lang="en-US" dirty="0">
                <a:latin typeface="Aptos" panose="020B0004020202020204" pitchFamily="34" charset="0"/>
              </a:rPr>
              <a:t>Example:</a:t>
            </a:r>
          </a:p>
          <a:p>
            <a:pPr marL="457200" lvl="1" indent="0">
              <a:buNone/>
            </a:pPr>
            <a:r>
              <a:rPr lang="en-US" sz="2400" dirty="0">
                <a:latin typeface="Aptos" panose="020B0004020202020204" pitchFamily="34" charset="0"/>
              </a:rPr>
              <a:t>Goal: Does patient have flu?</a:t>
            </a:r>
            <a:br>
              <a:rPr lang="en-US" sz="2400" dirty="0">
                <a:latin typeface="Aptos" panose="020B0004020202020204" pitchFamily="34" charset="0"/>
              </a:rPr>
            </a:br>
            <a:r>
              <a:rPr lang="en-US" sz="2400" dirty="0">
                <a:latin typeface="Aptos" panose="020B0004020202020204" pitchFamily="34" charset="0"/>
              </a:rPr>
              <a:t>Check: fever? cough?</a:t>
            </a:r>
          </a:p>
        </p:txBody>
      </p:sp>
    </p:spTree>
    <p:extLst>
      <p:ext uri="{BB962C8B-B14F-4D97-AF65-F5344CB8AC3E}">
        <p14:creationId xmlns:p14="http://schemas.microsoft.com/office/powerpoint/2010/main" val="2298654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Forward and Backward Chaining in AI">
            <a:extLst>
              <a:ext uri="{FF2B5EF4-FFF2-40B4-BE49-F238E27FC236}">
                <a16:creationId xmlns:a16="http://schemas.microsoft.com/office/drawing/2014/main" id="{E4603399-045F-DDAF-514F-B3E1789F72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992" y="1219201"/>
            <a:ext cx="8866016" cy="308832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3C2557C-B37A-44B5-0798-5514894B2608}"/>
              </a:ext>
            </a:extLst>
          </p:cNvPr>
          <p:cNvSpPr txBox="1"/>
          <p:nvPr/>
        </p:nvSpPr>
        <p:spPr>
          <a:xfrm>
            <a:off x="1981200" y="5105400"/>
            <a:ext cx="8305800" cy="400110"/>
          </a:xfrm>
          <a:prstGeom prst="rect">
            <a:avLst/>
          </a:prstGeom>
          <a:noFill/>
        </p:spPr>
        <p:txBody>
          <a:bodyPr wrap="square">
            <a:spAutoFit/>
          </a:bodyPr>
          <a:lstStyle/>
          <a:p>
            <a:r>
              <a:rPr lang="en-US" sz="2000" b="1" dirty="0">
                <a:latin typeface="Aptos" panose="020B0004020202020204" pitchFamily="34" charset="0"/>
              </a:rPr>
              <a:t>Goal → Check Rule → Check Conditions → Verify Facts → Confirm Goal</a:t>
            </a:r>
          </a:p>
        </p:txBody>
      </p:sp>
    </p:spTree>
    <p:extLst>
      <p:ext uri="{BB962C8B-B14F-4D97-AF65-F5344CB8AC3E}">
        <p14:creationId xmlns:p14="http://schemas.microsoft.com/office/powerpoint/2010/main" val="2433061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6CBE8-F452-6E66-FBCA-20508EE21632}"/>
              </a:ext>
            </a:extLst>
          </p:cNvPr>
          <p:cNvSpPr>
            <a:spLocks noGrp="1"/>
          </p:cNvSpPr>
          <p:nvPr>
            <p:ph type="title"/>
          </p:nvPr>
        </p:nvSpPr>
        <p:spPr>
          <a:xfrm>
            <a:off x="4038600" y="177338"/>
            <a:ext cx="6377940" cy="1293028"/>
          </a:xfrm>
        </p:spPr>
        <p:txBody>
          <a:bodyPr/>
          <a:lstStyle/>
          <a:p>
            <a:r>
              <a:rPr lang="en-US" b="1" i="0" cap="none" dirty="0">
                <a:solidFill>
                  <a:schemeClr val="tx1">
                    <a:lumMod val="95000"/>
                    <a:lumOff val="5000"/>
                  </a:schemeClr>
                </a:solidFill>
                <a:effectLst/>
                <a:latin typeface="Nunito" pitchFamily="2" charset="0"/>
              </a:rPr>
              <a:t>Types Of Knowledge</a:t>
            </a:r>
            <a:endParaRPr lang="en-US" dirty="0"/>
          </a:p>
        </p:txBody>
      </p:sp>
      <p:pic>
        <p:nvPicPr>
          <p:cNvPr id="3074" name="Picture 2" descr="Types of knowledge">
            <a:extLst>
              <a:ext uri="{FF2B5EF4-FFF2-40B4-BE49-F238E27FC236}">
                <a16:creationId xmlns:a16="http://schemas.microsoft.com/office/drawing/2014/main" id="{15A209EC-D1A3-696E-18CC-7941734631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295400"/>
            <a:ext cx="6248400" cy="5417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6230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9F8E1-505D-C8EC-C9A5-D206F1BD8BD5}"/>
              </a:ext>
            </a:extLst>
          </p:cNvPr>
          <p:cNvSpPr>
            <a:spLocks noGrp="1"/>
          </p:cNvSpPr>
          <p:nvPr>
            <p:ph type="title"/>
          </p:nvPr>
        </p:nvSpPr>
        <p:spPr>
          <a:xfrm>
            <a:off x="3733800" y="381000"/>
            <a:ext cx="6819900" cy="988228"/>
          </a:xfrm>
        </p:spPr>
        <p:txBody>
          <a:bodyPr>
            <a:normAutofit/>
          </a:bodyPr>
          <a:lstStyle/>
          <a:p>
            <a:r>
              <a:rPr lang="en-US" b="1" i="0" cap="none" dirty="0">
                <a:solidFill>
                  <a:schemeClr val="tx1">
                    <a:lumMod val="95000"/>
                    <a:lumOff val="5000"/>
                  </a:schemeClr>
                </a:solidFill>
                <a:effectLst/>
                <a:latin typeface="Nunito" pitchFamily="2" charset="0"/>
              </a:rPr>
              <a:t>Types Of Knowledge In AI</a:t>
            </a:r>
            <a:endParaRPr lang="en-US" cap="none"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D4DD2F50-D41B-98A5-C041-AB68A800E3C1}"/>
              </a:ext>
            </a:extLst>
          </p:cNvPr>
          <p:cNvSpPr>
            <a:spLocks noGrp="1"/>
          </p:cNvSpPr>
          <p:nvPr>
            <p:ph idx="1"/>
          </p:nvPr>
        </p:nvSpPr>
        <p:spPr>
          <a:xfrm>
            <a:off x="1828800" y="1386311"/>
            <a:ext cx="8610600" cy="5166889"/>
          </a:xfrm>
        </p:spPr>
        <p:txBody>
          <a:bodyPr>
            <a:normAutofit/>
          </a:bodyPr>
          <a:lstStyle/>
          <a:p>
            <a:pPr marL="0" indent="0">
              <a:buNone/>
            </a:pPr>
            <a:r>
              <a:rPr lang="en-US" sz="2400" b="1" dirty="0">
                <a:solidFill>
                  <a:schemeClr val="tx1">
                    <a:lumMod val="95000"/>
                    <a:lumOff val="5000"/>
                  </a:schemeClr>
                </a:solidFill>
                <a:highlight>
                  <a:srgbClr val="FFFF00"/>
                </a:highlight>
                <a:latin typeface="Aptos" panose="020B0004020202020204" pitchFamily="34" charset="0"/>
              </a:rPr>
              <a:t>1. Declarative Knowledge (Descriptive Knowledge):</a:t>
            </a:r>
          </a:p>
          <a:p>
            <a:r>
              <a:rPr lang="en-US" sz="2400" dirty="0">
                <a:solidFill>
                  <a:schemeClr val="tx1">
                    <a:lumMod val="95000"/>
                    <a:lumOff val="5000"/>
                  </a:schemeClr>
                </a:solidFill>
                <a:latin typeface="Aptos" panose="020B0004020202020204" pitchFamily="34" charset="0"/>
              </a:rPr>
              <a:t>Declarative knowledge </a:t>
            </a:r>
            <a:r>
              <a:rPr lang="en-US" sz="2400" b="1" dirty="0">
                <a:solidFill>
                  <a:schemeClr val="tx1">
                    <a:lumMod val="95000"/>
                    <a:lumOff val="5000"/>
                  </a:schemeClr>
                </a:solidFill>
                <a:latin typeface="Aptos" panose="020B0004020202020204" pitchFamily="34" charset="0"/>
              </a:rPr>
              <a:t>consists of facts and information about the world </a:t>
            </a:r>
            <a:r>
              <a:rPr lang="en-US" sz="2400" dirty="0">
                <a:solidFill>
                  <a:schemeClr val="tx1">
                    <a:lumMod val="95000"/>
                    <a:lumOff val="5000"/>
                  </a:schemeClr>
                </a:solidFill>
                <a:latin typeface="Aptos" panose="020B0004020202020204" pitchFamily="34" charset="0"/>
              </a:rPr>
              <a:t>that AI systems store and retrieve when needed. It represents "</a:t>
            </a:r>
            <a:r>
              <a:rPr lang="en-US" sz="2400" b="1" dirty="0">
                <a:solidFill>
                  <a:schemeClr val="tx1">
                    <a:lumMod val="95000"/>
                    <a:lumOff val="5000"/>
                  </a:schemeClr>
                </a:solidFill>
                <a:latin typeface="Aptos" panose="020B0004020202020204" pitchFamily="34" charset="0"/>
              </a:rPr>
              <a:t>what</a:t>
            </a:r>
            <a:r>
              <a:rPr lang="en-US" sz="2400" dirty="0">
                <a:solidFill>
                  <a:schemeClr val="tx1">
                    <a:lumMod val="95000"/>
                    <a:lumOff val="5000"/>
                  </a:schemeClr>
                </a:solidFill>
                <a:latin typeface="Aptos" panose="020B0004020202020204" pitchFamily="34" charset="0"/>
              </a:rPr>
              <a:t>" is known rather than "how" to do something. This type of knowledge is often stored in structured formats like databases, ontologies, and knowledge graphs.</a:t>
            </a:r>
          </a:p>
          <a:p>
            <a:r>
              <a:rPr lang="en-US" sz="2400" b="1" dirty="0">
                <a:solidFill>
                  <a:schemeClr val="tx1">
                    <a:lumMod val="95000"/>
                    <a:lumOff val="5000"/>
                  </a:schemeClr>
                </a:solidFill>
                <a:latin typeface="Aptos" panose="020B0004020202020204" pitchFamily="34" charset="0"/>
              </a:rPr>
              <a:t>For example</a:t>
            </a:r>
            <a:r>
              <a:rPr lang="en-US" sz="2400" dirty="0">
                <a:solidFill>
                  <a:schemeClr val="tx1">
                    <a:lumMod val="95000"/>
                    <a:lumOff val="5000"/>
                  </a:schemeClr>
                </a:solidFill>
                <a:latin typeface="Aptos" panose="020B0004020202020204" pitchFamily="34" charset="0"/>
              </a:rPr>
              <a:t>, a fact such as "Paris is the capital of France" is declarative knowledge. AI applications like search engines and virtual assistants use this type of knowledge to answer factual queries and provide relevant information.</a:t>
            </a:r>
          </a:p>
          <a:p>
            <a:pPr marL="0" indent="0" defTabSz="914400" eaLnBrk="0" fontAlgn="base" hangingPunct="0">
              <a:lnSpc>
                <a:spcPct val="100000"/>
              </a:lnSpc>
              <a:spcBef>
                <a:spcPct val="0"/>
              </a:spcBef>
              <a:spcAft>
                <a:spcPct val="0"/>
              </a:spcAft>
              <a:buFontTx/>
              <a:buChar char="•"/>
            </a:pPr>
            <a:r>
              <a:rPr lang="en-US" altLang="en-US" sz="2400" dirty="0">
                <a:latin typeface="Aptos" panose="020B0004020202020204" pitchFamily="34" charset="0"/>
              </a:rPr>
              <a:t>Water boils at 100°C.</a:t>
            </a:r>
          </a:p>
          <a:p>
            <a:pPr marL="0" indent="0" defTabSz="914400" eaLnBrk="0" fontAlgn="base" hangingPunct="0">
              <a:lnSpc>
                <a:spcPct val="100000"/>
              </a:lnSpc>
              <a:spcBef>
                <a:spcPct val="0"/>
              </a:spcBef>
              <a:spcAft>
                <a:spcPct val="0"/>
              </a:spcAft>
              <a:buFontTx/>
              <a:buChar char="•"/>
            </a:pPr>
            <a:r>
              <a:rPr lang="en-US" altLang="en-US" sz="2400" dirty="0">
                <a:latin typeface="Aptos" panose="020B0004020202020204" pitchFamily="34" charset="0"/>
              </a:rPr>
              <a:t>Rice needs water for proper growth.</a:t>
            </a:r>
          </a:p>
          <a:p>
            <a:pPr marL="0" indent="0" defTabSz="914400" eaLnBrk="0" fontAlgn="base" hangingPunct="0">
              <a:lnSpc>
                <a:spcPct val="100000"/>
              </a:lnSpc>
              <a:spcBef>
                <a:spcPct val="0"/>
              </a:spcBef>
              <a:spcAft>
                <a:spcPct val="0"/>
              </a:spcAft>
              <a:buFontTx/>
              <a:buChar char="•"/>
            </a:pPr>
            <a:r>
              <a:rPr lang="en-US" altLang="en-US" sz="2400" dirty="0">
                <a:latin typeface="Aptos" panose="020B0004020202020204" pitchFamily="34" charset="0"/>
              </a:rPr>
              <a:t>A student must have 50% marks for admission</a:t>
            </a:r>
            <a:endParaRPr lang="en-US" sz="2400" dirty="0">
              <a:solidFill>
                <a:schemeClr val="tx1">
                  <a:lumMod val="95000"/>
                  <a:lumOff val="5000"/>
                </a:schemeClr>
              </a:solidFill>
              <a:latin typeface="Aptos" panose="020B0004020202020204" pitchFamily="34" charset="0"/>
            </a:endParaRPr>
          </a:p>
        </p:txBody>
      </p:sp>
    </p:spTree>
    <p:extLst>
      <p:ext uri="{BB962C8B-B14F-4D97-AF65-F5344CB8AC3E}">
        <p14:creationId xmlns:p14="http://schemas.microsoft.com/office/powerpoint/2010/main" val="2913609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9F8E1-505D-C8EC-C9A5-D206F1BD8BD5}"/>
              </a:ext>
            </a:extLst>
          </p:cNvPr>
          <p:cNvSpPr>
            <a:spLocks noGrp="1"/>
          </p:cNvSpPr>
          <p:nvPr>
            <p:ph type="title"/>
          </p:nvPr>
        </p:nvSpPr>
        <p:spPr>
          <a:xfrm>
            <a:off x="3733800" y="457200"/>
            <a:ext cx="6819900" cy="1293028"/>
          </a:xfrm>
        </p:spPr>
        <p:txBody>
          <a:bodyPr>
            <a:normAutofit/>
          </a:bodyPr>
          <a:lstStyle/>
          <a:p>
            <a:r>
              <a:rPr lang="en-US" b="1" i="0" cap="none" dirty="0">
                <a:solidFill>
                  <a:schemeClr val="tx1">
                    <a:lumMod val="95000"/>
                    <a:lumOff val="5000"/>
                  </a:schemeClr>
                </a:solidFill>
                <a:effectLst/>
                <a:latin typeface="Nunito" pitchFamily="2" charset="0"/>
              </a:rPr>
              <a:t>Types Of Knowledge In AI</a:t>
            </a:r>
            <a:endParaRPr lang="en-US" cap="none"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D4DD2F50-D41B-98A5-C041-AB68A800E3C1}"/>
              </a:ext>
            </a:extLst>
          </p:cNvPr>
          <p:cNvSpPr>
            <a:spLocks noGrp="1"/>
          </p:cNvSpPr>
          <p:nvPr>
            <p:ph idx="1"/>
          </p:nvPr>
        </p:nvSpPr>
        <p:spPr>
          <a:xfrm>
            <a:off x="1905000" y="1750228"/>
            <a:ext cx="8549640" cy="4879172"/>
          </a:xfrm>
        </p:spPr>
        <p:txBody>
          <a:bodyPr>
            <a:normAutofit/>
          </a:bodyPr>
          <a:lstStyle/>
          <a:p>
            <a:pPr marL="0" indent="0">
              <a:buNone/>
            </a:pPr>
            <a:r>
              <a:rPr lang="en-US" b="1" dirty="0">
                <a:solidFill>
                  <a:schemeClr val="tx1">
                    <a:lumMod val="95000"/>
                    <a:lumOff val="5000"/>
                  </a:schemeClr>
                </a:solidFill>
                <a:highlight>
                  <a:srgbClr val="FFFF00"/>
                </a:highlight>
                <a:latin typeface="Aptos" panose="020B0004020202020204" pitchFamily="34" charset="0"/>
              </a:rPr>
              <a:t>2. Procedural Knowledge (How-To Knowledge):</a:t>
            </a:r>
          </a:p>
          <a:p>
            <a:pPr marL="0" indent="0">
              <a:buNone/>
            </a:pPr>
            <a:r>
              <a:rPr lang="en-US" dirty="0">
                <a:solidFill>
                  <a:schemeClr val="tx1">
                    <a:lumMod val="95000"/>
                    <a:lumOff val="5000"/>
                  </a:schemeClr>
                </a:solidFill>
                <a:latin typeface="Aptos" panose="020B0004020202020204" pitchFamily="34" charset="0"/>
              </a:rPr>
              <a:t>Procedural knowledge defines the </a:t>
            </a:r>
            <a:r>
              <a:rPr lang="en-US" b="1" dirty="0">
                <a:solidFill>
                  <a:schemeClr val="tx1">
                    <a:lumMod val="95000"/>
                    <a:lumOff val="5000"/>
                  </a:schemeClr>
                </a:solidFill>
                <a:latin typeface="Aptos" panose="020B0004020202020204" pitchFamily="34" charset="0"/>
              </a:rPr>
              <a:t>steps or methods required to perform specific tasks</a:t>
            </a:r>
            <a:r>
              <a:rPr lang="en-US" dirty="0">
                <a:solidFill>
                  <a:schemeClr val="tx1">
                    <a:lumMod val="95000"/>
                    <a:lumOff val="5000"/>
                  </a:schemeClr>
                </a:solidFill>
                <a:latin typeface="Aptos" panose="020B0004020202020204" pitchFamily="34" charset="0"/>
              </a:rPr>
              <a:t>. It represents "</a:t>
            </a:r>
            <a:r>
              <a:rPr lang="en-US" b="1" dirty="0">
                <a:solidFill>
                  <a:schemeClr val="tx1">
                    <a:lumMod val="95000"/>
                    <a:lumOff val="5000"/>
                  </a:schemeClr>
                </a:solidFill>
                <a:latin typeface="Aptos" panose="020B0004020202020204" pitchFamily="34" charset="0"/>
              </a:rPr>
              <a:t>how</a:t>
            </a:r>
            <a:r>
              <a:rPr lang="en-US" dirty="0">
                <a:solidFill>
                  <a:schemeClr val="tx1">
                    <a:lumMod val="95000"/>
                    <a:lumOff val="5000"/>
                  </a:schemeClr>
                </a:solidFill>
                <a:latin typeface="Aptos" panose="020B0004020202020204" pitchFamily="34" charset="0"/>
              </a:rPr>
              <a:t>" to accomplish something rather than just stating a fact.</a:t>
            </a:r>
          </a:p>
          <a:p>
            <a:pPr marL="0" indent="0">
              <a:buNone/>
            </a:pPr>
            <a:r>
              <a:rPr lang="en-US" dirty="0">
                <a:solidFill>
                  <a:schemeClr val="tx1">
                    <a:lumMod val="95000"/>
                    <a:lumOff val="5000"/>
                  </a:schemeClr>
                </a:solidFill>
                <a:latin typeface="Aptos" panose="020B0004020202020204" pitchFamily="34" charset="0"/>
              </a:rPr>
              <a:t>For instance, knowing how to solve a quadratic equation or how to drive a car falls under procedural knowledge. AI systems, such as expert systems and robotics, utilize procedural knowledge to execute tasks that require sequences of actions. This type of knowledge is often encoded in rule-based systems, decision trees, and machine learning models.</a:t>
            </a:r>
          </a:p>
          <a:p>
            <a:pPr marL="0" indent="0" defTabSz="91440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ptos" panose="020B0004020202020204" pitchFamily="34" charset="0"/>
              </a:rPr>
              <a:t>Steps to solve a math problem.</a:t>
            </a:r>
          </a:p>
          <a:p>
            <a:pPr marL="0" indent="0" defTabSz="91440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ptos" panose="020B0004020202020204" pitchFamily="34" charset="0"/>
              </a:rPr>
              <a:t>Procedure to apply for university admission.</a:t>
            </a:r>
          </a:p>
          <a:p>
            <a:pPr marL="0" indent="0" defTabSz="91440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ptos" panose="020B0004020202020204" pitchFamily="34" charset="0"/>
              </a:rPr>
              <a:t>How to diagnose crop disease.</a:t>
            </a:r>
          </a:p>
          <a:p>
            <a:pPr marL="0" indent="0" defTabSz="91440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ptos" panose="020B0004020202020204" pitchFamily="34" charset="0"/>
              </a:rPr>
              <a:t>Algorithm for sorting numbers</a:t>
            </a:r>
          </a:p>
        </p:txBody>
      </p:sp>
    </p:spTree>
    <p:extLst>
      <p:ext uri="{BB962C8B-B14F-4D97-AF65-F5344CB8AC3E}">
        <p14:creationId xmlns:p14="http://schemas.microsoft.com/office/powerpoint/2010/main" val="414875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9F8E1-505D-C8EC-C9A5-D206F1BD8BD5}"/>
              </a:ext>
            </a:extLst>
          </p:cNvPr>
          <p:cNvSpPr>
            <a:spLocks noGrp="1"/>
          </p:cNvSpPr>
          <p:nvPr>
            <p:ph type="title"/>
          </p:nvPr>
        </p:nvSpPr>
        <p:spPr>
          <a:xfrm>
            <a:off x="3733800" y="457200"/>
            <a:ext cx="6819900" cy="1293028"/>
          </a:xfrm>
        </p:spPr>
        <p:txBody>
          <a:bodyPr>
            <a:normAutofit/>
          </a:bodyPr>
          <a:lstStyle/>
          <a:p>
            <a:r>
              <a:rPr lang="en-US" b="1" i="0" cap="none" dirty="0">
                <a:solidFill>
                  <a:schemeClr val="tx1">
                    <a:lumMod val="95000"/>
                    <a:lumOff val="5000"/>
                  </a:schemeClr>
                </a:solidFill>
                <a:effectLst/>
                <a:latin typeface="Nunito" pitchFamily="2" charset="0"/>
              </a:rPr>
              <a:t>Types Of Knowledge In AI</a:t>
            </a:r>
            <a:endParaRPr lang="en-US" cap="none"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D4DD2F50-D41B-98A5-C041-AB68A800E3C1}"/>
              </a:ext>
            </a:extLst>
          </p:cNvPr>
          <p:cNvSpPr>
            <a:spLocks noGrp="1"/>
          </p:cNvSpPr>
          <p:nvPr>
            <p:ph idx="1"/>
          </p:nvPr>
        </p:nvSpPr>
        <p:spPr>
          <a:xfrm>
            <a:off x="2118360" y="1750228"/>
            <a:ext cx="7955280" cy="4879172"/>
          </a:xfrm>
        </p:spPr>
        <p:txBody>
          <a:bodyPr>
            <a:normAutofit/>
          </a:bodyPr>
          <a:lstStyle/>
          <a:p>
            <a:pPr marL="0" indent="0">
              <a:buNone/>
            </a:pPr>
            <a:r>
              <a:rPr lang="en-US" b="1" dirty="0">
                <a:solidFill>
                  <a:schemeClr val="tx1">
                    <a:lumMod val="95000"/>
                    <a:lumOff val="5000"/>
                  </a:schemeClr>
                </a:solidFill>
                <a:highlight>
                  <a:srgbClr val="FFFF00"/>
                </a:highlight>
                <a:latin typeface="Aptos" panose="020B0004020202020204" pitchFamily="34" charset="0"/>
              </a:rPr>
              <a:t>3. Meta-Knowledge (Knowledge About Knowledge):</a:t>
            </a:r>
          </a:p>
          <a:p>
            <a:pPr marL="0" indent="0">
              <a:buNone/>
            </a:pPr>
            <a:r>
              <a:rPr lang="en-US" dirty="0">
                <a:solidFill>
                  <a:schemeClr val="tx1">
                    <a:lumMod val="95000"/>
                    <a:lumOff val="5000"/>
                  </a:schemeClr>
                </a:solidFill>
                <a:latin typeface="Aptos" panose="020B0004020202020204" pitchFamily="34" charset="0"/>
              </a:rPr>
              <a:t>Refers to </a:t>
            </a:r>
            <a:r>
              <a:rPr lang="en-US" b="1" dirty="0">
                <a:solidFill>
                  <a:schemeClr val="tx1">
                    <a:lumMod val="95000"/>
                    <a:lumOff val="5000"/>
                  </a:schemeClr>
                </a:solidFill>
                <a:latin typeface="Aptos" panose="020B0004020202020204" pitchFamily="34" charset="0"/>
              </a:rPr>
              <a:t>knowledge about how information is structured</a:t>
            </a:r>
            <a:r>
              <a:rPr lang="en-US" dirty="0">
                <a:solidFill>
                  <a:schemeClr val="tx1">
                    <a:lumMod val="95000"/>
                    <a:lumOff val="5000"/>
                  </a:schemeClr>
                </a:solidFill>
                <a:latin typeface="Aptos" panose="020B0004020202020204" pitchFamily="34" charset="0"/>
              </a:rPr>
              <a:t>, used, and validated. It helps AI determine the reliability, relevance, and applicability of knowledge in different scenarios.</a:t>
            </a:r>
          </a:p>
          <a:p>
            <a:pPr marL="0" indent="0">
              <a:buNone/>
            </a:pPr>
            <a:r>
              <a:rPr lang="en-US" b="1" dirty="0">
                <a:solidFill>
                  <a:schemeClr val="tx1">
                    <a:lumMod val="95000"/>
                    <a:lumOff val="5000"/>
                  </a:schemeClr>
                </a:solidFill>
                <a:latin typeface="Aptos" panose="020B0004020202020204" pitchFamily="34" charset="0"/>
              </a:rPr>
              <a:t>For example</a:t>
            </a:r>
            <a:r>
              <a:rPr lang="en-US" dirty="0">
                <a:solidFill>
                  <a:schemeClr val="tx1">
                    <a:lumMod val="95000"/>
                    <a:lumOff val="5000"/>
                  </a:schemeClr>
                </a:solidFill>
                <a:latin typeface="Aptos" panose="020B0004020202020204" pitchFamily="34" charset="0"/>
              </a:rPr>
              <a:t>, an AI system deciding whether a piece of medical advice comes from a trusted scientific source or a random blog post is using meta-knowledge. This type of knowledge is crucial in AI models for filtering misinformation, optimizing learning strategies, and improving decision-making.</a:t>
            </a:r>
          </a:p>
          <a:p>
            <a:pPr marL="0" indent="0" defTabSz="91440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ptos" panose="020B0004020202020204" pitchFamily="34" charset="0"/>
              </a:rPr>
              <a:t>Which rule should be applied first?</a:t>
            </a:r>
          </a:p>
          <a:p>
            <a:pPr marL="0" indent="0" defTabSz="91440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ptos" panose="020B0004020202020204" pitchFamily="34" charset="0"/>
              </a:rPr>
              <a:t>When to use forward chaining instead of backward chaining?</a:t>
            </a:r>
          </a:p>
          <a:p>
            <a:pPr marL="0" indent="0" defTabSz="91440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ptos" panose="020B0004020202020204" pitchFamily="34" charset="0"/>
              </a:rPr>
              <a:t>Which diagnostic test is more reliable?</a:t>
            </a:r>
          </a:p>
        </p:txBody>
      </p:sp>
    </p:spTree>
    <p:extLst>
      <p:ext uri="{BB962C8B-B14F-4D97-AF65-F5344CB8AC3E}">
        <p14:creationId xmlns:p14="http://schemas.microsoft.com/office/powerpoint/2010/main" val="2728514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9F8E1-505D-C8EC-C9A5-D206F1BD8BD5}"/>
              </a:ext>
            </a:extLst>
          </p:cNvPr>
          <p:cNvSpPr>
            <a:spLocks noGrp="1"/>
          </p:cNvSpPr>
          <p:nvPr>
            <p:ph type="title"/>
          </p:nvPr>
        </p:nvSpPr>
        <p:spPr>
          <a:xfrm>
            <a:off x="3733800" y="457200"/>
            <a:ext cx="6819900" cy="1293028"/>
          </a:xfrm>
        </p:spPr>
        <p:txBody>
          <a:bodyPr>
            <a:normAutofit/>
          </a:bodyPr>
          <a:lstStyle/>
          <a:p>
            <a:r>
              <a:rPr lang="en-US" b="1" i="0" cap="none" dirty="0">
                <a:solidFill>
                  <a:schemeClr val="tx1">
                    <a:lumMod val="95000"/>
                    <a:lumOff val="5000"/>
                  </a:schemeClr>
                </a:solidFill>
                <a:effectLst/>
                <a:latin typeface="Nunito" pitchFamily="2" charset="0"/>
              </a:rPr>
              <a:t>Types Of Knowledge In AI</a:t>
            </a:r>
            <a:endParaRPr lang="en-US" cap="none"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D4DD2F50-D41B-98A5-C041-AB68A800E3C1}"/>
              </a:ext>
            </a:extLst>
          </p:cNvPr>
          <p:cNvSpPr>
            <a:spLocks noGrp="1"/>
          </p:cNvSpPr>
          <p:nvPr>
            <p:ph idx="1"/>
          </p:nvPr>
        </p:nvSpPr>
        <p:spPr>
          <a:xfrm>
            <a:off x="2118360" y="1750228"/>
            <a:ext cx="7955280" cy="4879172"/>
          </a:xfrm>
        </p:spPr>
        <p:txBody>
          <a:bodyPr>
            <a:normAutofit fontScale="92500"/>
          </a:bodyPr>
          <a:lstStyle/>
          <a:p>
            <a:pPr marL="0" indent="0">
              <a:buNone/>
            </a:pPr>
            <a:r>
              <a:rPr lang="en-US" sz="2400" b="1" dirty="0">
                <a:solidFill>
                  <a:schemeClr val="tx1">
                    <a:lumMod val="95000"/>
                    <a:lumOff val="5000"/>
                  </a:schemeClr>
                </a:solidFill>
                <a:highlight>
                  <a:srgbClr val="FFFF00"/>
                </a:highlight>
                <a:latin typeface="Aptos" panose="020B0004020202020204" pitchFamily="34" charset="0"/>
              </a:rPr>
              <a:t>4. Heuristic Knowledge (Experience-Based Knowledge):</a:t>
            </a:r>
          </a:p>
          <a:p>
            <a:pPr marL="0" indent="0">
              <a:buNone/>
            </a:pPr>
            <a:r>
              <a:rPr lang="en-US" sz="2400" dirty="0">
                <a:solidFill>
                  <a:schemeClr val="tx1">
                    <a:lumMod val="95000"/>
                    <a:lumOff val="5000"/>
                  </a:schemeClr>
                </a:solidFill>
                <a:latin typeface="Aptos" panose="020B0004020202020204" pitchFamily="34" charset="0"/>
              </a:rPr>
              <a:t>Heuristic knowledge is </a:t>
            </a:r>
            <a:r>
              <a:rPr lang="en-US" sz="2400" b="1" dirty="0">
                <a:solidFill>
                  <a:schemeClr val="tx1">
                    <a:lumMod val="95000"/>
                    <a:lumOff val="5000"/>
                  </a:schemeClr>
                </a:solidFill>
                <a:latin typeface="Aptos" panose="020B0004020202020204" pitchFamily="34" charset="0"/>
              </a:rPr>
              <a:t>derived from experience</a:t>
            </a:r>
            <a:r>
              <a:rPr lang="en-US" sz="2400" dirty="0">
                <a:solidFill>
                  <a:schemeClr val="tx1">
                    <a:lumMod val="95000"/>
                    <a:lumOff val="5000"/>
                  </a:schemeClr>
                </a:solidFill>
                <a:latin typeface="Aptos" panose="020B0004020202020204" pitchFamily="34" charset="0"/>
              </a:rPr>
              <a:t>, intuition, and trial-and-error methods. It allows AI systems to make educated guesses or approximate solutions when exact answers are difficult to compute.</a:t>
            </a:r>
          </a:p>
          <a:p>
            <a:pPr marL="0" indent="0">
              <a:buNone/>
            </a:pPr>
            <a:r>
              <a:rPr lang="en-US" sz="2400" dirty="0">
                <a:solidFill>
                  <a:schemeClr val="tx1">
                    <a:lumMod val="95000"/>
                    <a:lumOff val="5000"/>
                  </a:schemeClr>
                </a:solidFill>
                <a:latin typeface="Aptos" panose="020B0004020202020204" pitchFamily="34" charset="0"/>
              </a:rPr>
              <a:t>For example, a navigation system suggesting an alternate route based on past traffic patterns is applying heuristic knowledge. AI search algorithms, such as A* search and genetic algorithms, leverage heuristics to optimize problem-solving processes, making decisions more efficient in real-world scenarios.</a:t>
            </a:r>
          </a:p>
          <a:p>
            <a:pPr marL="0" indent="0" defTabSz="914400" eaLnBrk="0" fontAlgn="base" hangingPunct="0">
              <a:lnSpc>
                <a:spcPct val="100000"/>
              </a:lnSpc>
              <a:spcBef>
                <a:spcPct val="0"/>
              </a:spcBef>
              <a:spcAft>
                <a:spcPct val="0"/>
              </a:spcAft>
              <a:buFontTx/>
              <a:buChar char="•"/>
            </a:pPr>
            <a:r>
              <a:rPr lang="en-US" altLang="en-US" sz="2400" dirty="0">
                <a:latin typeface="Aptos" panose="020B0004020202020204" pitchFamily="34" charset="0"/>
              </a:rPr>
              <a:t>If rice leaves turn yellow, it is likely nitrogen deficiency.</a:t>
            </a:r>
          </a:p>
          <a:p>
            <a:pPr marL="0" indent="0" defTabSz="914400" eaLnBrk="0" fontAlgn="base" hangingPunct="0">
              <a:lnSpc>
                <a:spcPct val="100000"/>
              </a:lnSpc>
              <a:spcBef>
                <a:spcPct val="0"/>
              </a:spcBef>
              <a:spcAft>
                <a:spcPct val="0"/>
              </a:spcAft>
              <a:buFontTx/>
              <a:buChar char="•"/>
            </a:pPr>
            <a:r>
              <a:rPr lang="en-US" altLang="en-US" sz="2400" dirty="0">
                <a:latin typeface="Aptos" panose="020B0004020202020204" pitchFamily="34" charset="0"/>
              </a:rPr>
              <a:t>If a patient has fever and cough, it is probably flu.</a:t>
            </a:r>
          </a:p>
          <a:p>
            <a:pPr marL="0" indent="0" defTabSz="914400" eaLnBrk="0" fontAlgn="base" hangingPunct="0">
              <a:lnSpc>
                <a:spcPct val="100000"/>
              </a:lnSpc>
              <a:spcBef>
                <a:spcPct val="0"/>
              </a:spcBef>
              <a:spcAft>
                <a:spcPct val="0"/>
              </a:spcAft>
              <a:buFontTx/>
              <a:buChar char="•"/>
            </a:pPr>
            <a:r>
              <a:rPr lang="en-US" altLang="en-US" sz="2400" dirty="0">
                <a:latin typeface="Aptos" panose="020B0004020202020204" pitchFamily="34" charset="0"/>
              </a:rPr>
              <a:t>If a car does not start and battery is old, battery may be weak.</a:t>
            </a:r>
          </a:p>
        </p:txBody>
      </p:sp>
    </p:spTree>
    <p:extLst>
      <p:ext uri="{BB962C8B-B14F-4D97-AF65-F5344CB8AC3E}">
        <p14:creationId xmlns:p14="http://schemas.microsoft.com/office/powerpoint/2010/main" val="3916550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DA72D-8D1B-B904-A5EF-A2B45FC5B49B}"/>
              </a:ext>
            </a:extLst>
          </p:cNvPr>
          <p:cNvSpPr>
            <a:spLocks noGrp="1"/>
          </p:cNvSpPr>
          <p:nvPr>
            <p:ph type="title"/>
          </p:nvPr>
        </p:nvSpPr>
        <p:spPr>
          <a:xfrm>
            <a:off x="2743200" y="685800"/>
            <a:ext cx="7658100" cy="1293028"/>
          </a:xfrm>
        </p:spPr>
        <p:txBody>
          <a:bodyPr/>
          <a:lstStyle/>
          <a:p>
            <a:r>
              <a:rPr lang="en-US" b="1" cap="none" dirty="0">
                <a:latin typeface="Aptos" panose="020B0004020202020204" pitchFamily="34" charset="0"/>
              </a:rPr>
              <a:t>Knowledge Representation In AI</a:t>
            </a:r>
          </a:p>
        </p:txBody>
      </p:sp>
      <p:sp>
        <p:nvSpPr>
          <p:cNvPr id="3" name="Content Placeholder 2">
            <a:extLst>
              <a:ext uri="{FF2B5EF4-FFF2-40B4-BE49-F238E27FC236}">
                <a16:creationId xmlns:a16="http://schemas.microsoft.com/office/drawing/2014/main" id="{8DCB9F07-44E3-BDD8-A92C-4B94E714D324}"/>
              </a:ext>
            </a:extLst>
          </p:cNvPr>
          <p:cNvSpPr>
            <a:spLocks noGrp="1"/>
          </p:cNvSpPr>
          <p:nvPr>
            <p:ph idx="1"/>
          </p:nvPr>
        </p:nvSpPr>
        <p:spPr>
          <a:xfrm>
            <a:off x="2118360" y="1988556"/>
            <a:ext cx="7955280" cy="4434840"/>
          </a:xfrm>
        </p:spPr>
        <p:txBody>
          <a:bodyPr>
            <a:normAutofit fontScale="92500" lnSpcReduction="10000"/>
          </a:bodyPr>
          <a:lstStyle/>
          <a:p>
            <a:r>
              <a:rPr lang="en-US" sz="2400" dirty="0">
                <a:solidFill>
                  <a:schemeClr val="tx1">
                    <a:lumMod val="95000"/>
                    <a:lumOff val="5000"/>
                  </a:schemeClr>
                </a:solidFill>
                <a:latin typeface="Aptos" panose="020B0004020202020204" pitchFamily="34" charset="0"/>
              </a:rPr>
              <a:t>Knowledge Representation (KR) in Artificial Intelligence is the method used to </a:t>
            </a:r>
            <a:r>
              <a:rPr lang="en-US" sz="2400" b="1" dirty="0">
                <a:solidFill>
                  <a:schemeClr val="tx1">
                    <a:lumMod val="95000"/>
                    <a:lumOff val="5000"/>
                  </a:schemeClr>
                </a:solidFill>
                <a:highlight>
                  <a:srgbClr val="FFFF00"/>
                </a:highlight>
                <a:latin typeface="Aptos" panose="020B0004020202020204" pitchFamily="34" charset="0"/>
              </a:rPr>
              <a:t>store and organize knowledge </a:t>
            </a:r>
            <a:r>
              <a:rPr lang="en-US" sz="2400" dirty="0">
                <a:solidFill>
                  <a:schemeClr val="tx1">
                    <a:lumMod val="95000"/>
                    <a:lumOff val="5000"/>
                  </a:schemeClr>
                </a:solidFill>
                <a:latin typeface="Aptos" panose="020B0004020202020204" pitchFamily="34" charset="0"/>
              </a:rPr>
              <a:t>so that a </a:t>
            </a:r>
            <a:r>
              <a:rPr lang="en-US" sz="2400" b="1" dirty="0">
                <a:solidFill>
                  <a:schemeClr val="tx1">
                    <a:lumMod val="95000"/>
                    <a:lumOff val="5000"/>
                  </a:schemeClr>
                </a:solidFill>
                <a:latin typeface="Aptos" panose="020B0004020202020204" pitchFamily="34" charset="0"/>
              </a:rPr>
              <a:t>computer system can understand, reason, and make decisions.</a:t>
            </a:r>
          </a:p>
          <a:p>
            <a:pPr marL="0" indent="0">
              <a:buNone/>
            </a:pPr>
            <a:r>
              <a:rPr lang="en-US" sz="2400" dirty="0">
                <a:solidFill>
                  <a:schemeClr val="tx1">
                    <a:lumMod val="95000"/>
                    <a:lumOff val="5000"/>
                  </a:schemeClr>
                </a:solidFill>
                <a:latin typeface="Aptos" panose="020B0004020202020204" pitchFamily="34" charset="0"/>
              </a:rPr>
              <a:t>In simple words:</a:t>
            </a:r>
          </a:p>
          <a:p>
            <a:r>
              <a:rPr lang="en-US" sz="2400" dirty="0">
                <a:solidFill>
                  <a:schemeClr val="tx1">
                    <a:lumMod val="95000"/>
                    <a:lumOff val="5000"/>
                  </a:schemeClr>
                </a:solidFill>
                <a:latin typeface="Aptos" panose="020B0004020202020204" pitchFamily="34" charset="0"/>
              </a:rPr>
              <a:t>Knowledge Representation = </a:t>
            </a:r>
            <a:r>
              <a:rPr lang="en-US" sz="2400" b="1" dirty="0">
                <a:solidFill>
                  <a:schemeClr val="tx1">
                    <a:lumMod val="95000"/>
                    <a:lumOff val="5000"/>
                  </a:schemeClr>
                </a:solidFill>
                <a:latin typeface="Aptos" panose="020B0004020202020204" pitchFamily="34" charset="0"/>
              </a:rPr>
              <a:t>How we represent knowledge</a:t>
            </a:r>
            <a:r>
              <a:rPr lang="en-US" sz="2400" dirty="0">
                <a:solidFill>
                  <a:schemeClr val="tx1">
                    <a:lumMod val="95000"/>
                    <a:lumOff val="5000"/>
                  </a:schemeClr>
                </a:solidFill>
                <a:latin typeface="Aptos" panose="020B0004020202020204" pitchFamily="34" charset="0"/>
              </a:rPr>
              <a:t> in a form that a computer can process.</a:t>
            </a:r>
          </a:p>
          <a:p>
            <a:pPr marL="0" indent="0">
              <a:buNone/>
            </a:pPr>
            <a:r>
              <a:rPr lang="en-US" sz="2400" dirty="0">
                <a:solidFill>
                  <a:schemeClr val="tx1">
                    <a:lumMod val="95000"/>
                    <a:lumOff val="5000"/>
                  </a:schemeClr>
                </a:solidFill>
                <a:latin typeface="Aptos" panose="020B0004020202020204" pitchFamily="34" charset="0"/>
              </a:rPr>
              <a:t>It allows AI systems to:</a:t>
            </a:r>
          </a:p>
          <a:p>
            <a:pPr>
              <a:buFont typeface="Arial" panose="020B0604020202020204" pitchFamily="34" charset="0"/>
              <a:buChar char="•"/>
            </a:pPr>
            <a:r>
              <a:rPr lang="en-US" sz="2400" dirty="0">
                <a:solidFill>
                  <a:schemeClr val="tx1">
                    <a:lumMod val="95000"/>
                    <a:lumOff val="5000"/>
                  </a:schemeClr>
                </a:solidFill>
                <a:latin typeface="Aptos" panose="020B0004020202020204" pitchFamily="34" charset="0"/>
              </a:rPr>
              <a:t>Store facts</a:t>
            </a:r>
          </a:p>
          <a:p>
            <a:pPr>
              <a:buFont typeface="Arial" panose="020B0604020202020204" pitchFamily="34" charset="0"/>
              <a:buChar char="•"/>
            </a:pPr>
            <a:r>
              <a:rPr lang="en-US" sz="2400" dirty="0">
                <a:solidFill>
                  <a:schemeClr val="tx1">
                    <a:lumMod val="95000"/>
                    <a:lumOff val="5000"/>
                  </a:schemeClr>
                </a:solidFill>
                <a:latin typeface="Aptos" panose="020B0004020202020204" pitchFamily="34" charset="0"/>
              </a:rPr>
              <a:t>Represent relationships</a:t>
            </a:r>
          </a:p>
          <a:p>
            <a:pPr>
              <a:buFont typeface="Arial" panose="020B0604020202020204" pitchFamily="34" charset="0"/>
              <a:buChar char="•"/>
            </a:pPr>
            <a:r>
              <a:rPr lang="en-US" sz="2400" dirty="0">
                <a:solidFill>
                  <a:schemeClr val="tx1">
                    <a:lumMod val="95000"/>
                    <a:lumOff val="5000"/>
                  </a:schemeClr>
                </a:solidFill>
                <a:latin typeface="Aptos" panose="020B0004020202020204" pitchFamily="34" charset="0"/>
              </a:rPr>
              <a:t>Apply reasoning</a:t>
            </a:r>
          </a:p>
          <a:p>
            <a:pPr>
              <a:buFont typeface="Arial" panose="020B0604020202020204" pitchFamily="34" charset="0"/>
              <a:buChar char="•"/>
            </a:pPr>
            <a:r>
              <a:rPr lang="en-US" sz="2400" dirty="0">
                <a:solidFill>
                  <a:schemeClr val="tx1">
                    <a:lumMod val="95000"/>
                    <a:lumOff val="5000"/>
                  </a:schemeClr>
                </a:solidFill>
                <a:latin typeface="Aptos" panose="020B0004020202020204" pitchFamily="34" charset="0"/>
              </a:rPr>
              <a:t>Solve problems intelligently</a:t>
            </a:r>
          </a:p>
        </p:txBody>
      </p:sp>
    </p:spTree>
    <p:extLst>
      <p:ext uri="{BB962C8B-B14F-4D97-AF65-F5344CB8AC3E}">
        <p14:creationId xmlns:p14="http://schemas.microsoft.com/office/powerpoint/2010/main" val="3817238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B2E34-26BE-964C-61CB-9C5BF2477796}"/>
              </a:ext>
            </a:extLst>
          </p:cNvPr>
          <p:cNvSpPr>
            <a:spLocks noGrp="1"/>
          </p:cNvSpPr>
          <p:nvPr>
            <p:ph type="title"/>
          </p:nvPr>
        </p:nvSpPr>
        <p:spPr>
          <a:xfrm>
            <a:off x="4114800" y="381000"/>
            <a:ext cx="6286500" cy="1293028"/>
          </a:xfrm>
        </p:spPr>
        <p:txBody>
          <a:bodyPr>
            <a:normAutofit/>
          </a:bodyPr>
          <a:lstStyle/>
          <a:p>
            <a:r>
              <a:rPr lang="en-US" cap="none" dirty="0">
                <a:latin typeface="Aptos" panose="020B0004020202020204" pitchFamily="34" charset="0"/>
              </a:rPr>
              <a:t>Techniques Of KR</a:t>
            </a:r>
          </a:p>
        </p:txBody>
      </p:sp>
      <p:sp>
        <p:nvSpPr>
          <p:cNvPr id="3" name="Content Placeholder 2">
            <a:extLst>
              <a:ext uri="{FF2B5EF4-FFF2-40B4-BE49-F238E27FC236}">
                <a16:creationId xmlns:a16="http://schemas.microsoft.com/office/drawing/2014/main" id="{903C7A77-03CC-9FBB-DE80-CCC1E687D326}"/>
              </a:ext>
            </a:extLst>
          </p:cNvPr>
          <p:cNvSpPr>
            <a:spLocks noGrp="1"/>
          </p:cNvSpPr>
          <p:nvPr>
            <p:ph idx="1"/>
          </p:nvPr>
        </p:nvSpPr>
        <p:spPr>
          <a:xfrm>
            <a:off x="2118360" y="1703211"/>
            <a:ext cx="7955280" cy="4926189"/>
          </a:xfrm>
        </p:spPr>
        <p:txBody>
          <a:bodyPr>
            <a:normAutofit/>
          </a:bodyPr>
          <a:lstStyle/>
          <a:p>
            <a:pPr marL="0" indent="0">
              <a:buNone/>
            </a:pPr>
            <a:r>
              <a:rPr lang="en-US" sz="2400" b="1" dirty="0">
                <a:solidFill>
                  <a:schemeClr val="tx1">
                    <a:lumMod val="95000"/>
                    <a:lumOff val="5000"/>
                  </a:schemeClr>
                </a:solidFill>
                <a:latin typeface="Aptos" panose="020B0004020202020204" pitchFamily="34" charset="0"/>
              </a:rPr>
              <a:t>1. Logical Representation</a:t>
            </a:r>
          </a:p>
          <a:p>
            <a:pPr marL="0" indent="0">
              <a:buNone/>
            </a:pPr>
            <a:r>
              <a:rPr lang="en-US" sz="2400" dirty="0">
                <a:solidFill>
                  <a:schemeClr val="tx1">
                    <a:lumMod val="95000"/>
                    <a:lumOff val="5000"/>
                  </a:schemeClr>
                </a:solidFill>
                <a:latin typeface="Aptos" panose="020B0004020202020204" pitchFamily="34" charset="0"/>
              </a:rPr>
              <a:t>Knowledge is represented using formal logic.</a:t>
            </a:r>
          </a:p>
          <a:p>
            <a:pPr marL="0" indent="0">
              <a:buNone/>
            </a:pPr>
            <a:r>
              <a:rPr lang="en-US" sz="2400" dirty="0">
                <a:solidFill>
                  <a:schemeClr val="tx1">
                    <a:lumMod val="95000"/>
                    <a:lumOff val="5000"/>
                  </a:schemeClr>
                </a:solidFill>
                <a:latin typeface="Aptos" panose="020B0004020202020204" pitchFamily="34" charset="0"/>
              </a:rPr>
              <a:t>Types:</a:t>
            </a:r>
          </a:p>
          <a:p>
            <a:pPr marL="914400" lvl="1" indent="-457200">
              <a:buFont typeface="+mj-lt"/>
              <a:buAutoNum type="arabicPeriod"/>
            </a:pPr>
            <a:r>
              <a:rPr lang="en-US" sz="2800" dirty="0">
                <a:solidFill>
                  <a:schemeClr val="tx1">
                    <a:lumMod val="95000"/>
                    <a:lumOff val="5000"/>
                  </a:schemeClr>
                </a:solidFill>
                <a:latin typeface="Aptos" panose="020B0004020202020204" pitchFamily="34" charset="0"/>
              </a:rPr>
              <a:t>Propositional Logic</a:t>
            </a:r>
          </a:p>
          <a:p>
            <a:pPr marL="914400" lvl="1" indent="-457200">
              <a:buFont typeface="+mj-lt"/>
              <a:buAutoNum type="arabicPeriod"/>
            </a:pPr>
            <a:r>
              <a:rPr lang="en-US" sz="2800" dirty="0">
                <a:solidFill>
                  <a:schemeClr val="tx1">
                    <a:lumMod val="95000"/>
                    <a:lumOff val="5000"/>
                  </a:schemeClr>
                </a:solidFill>
                <a:latin typeface="Aptos" panose="020B0004020202020204" pitchFamily="34" charset="0"/>
              </a:rPr>
              <a:t>First-Order Logic</a:t>
            </a:r>
          </a:p>
          <a:p>
            <a:pPr marL="0" indent="0">
              <a:buNone/>
            </a:pPr>
            <a:r>
              <a:rPr lang="en-US" sz="2400" dirty="0">
                <a:solidFill>
                  <a:schemeClr val="tx1">
                    <a:lumMod val="95000"/>
                    <a:lumOff val="5000"/>
                  </a:schemeClr>
                </a:solidFill>
                <a:latin typeface="Aptos" panose="020B0004020202020204" pitchFamily="34" charset="0"/>
              </a:rPr>
              <a:t>Example (Propositional Logic):</a:t>
            </a:r>
            <a:br>
              <a:rPr lang="en-US" sz="2400" dirty="0">
                <a:solidFill>
                  <a:schemeClr val="tx1">
                    <a:lumMod val="95000"/>
                    <a:lumOff val="5000"/>
                  </a:schemeClr>
                </a:solidFill>
                <a:latin typeface="Aptos" panose="020B0004020202020204" pitchFamily="34" charset="0"/>
              </a:rPr>
            </a:br>
            <a:r>
              <a:rPr lang="en-US" sz="2400" dirty="0">
                <a:solidFill>
                  <a:schemeClr val="tx1">
                    <a:lumMod val="95000"/>
                    <a:lumOff val="5000"/>
                  </a:schemeClr>
                </a:solidFill>
                <a:latin typeface="Aptos" panose="020B0004020202020204" pitchFamily="34" charset="0"/>
              </a:rPr>
              <a:t>If it is raining → ground is wet</a:t>
            </a:r>
          </a:p>
          <a:p>
            <a:r>
              <a:rPr lang="en-US" sz="2400" dirty="0">
                <a:solidFill>
                  <a:schemeClr val="tx1">
                    <a:lumMod val="95000"/>
                    <a:lumOff val="5000"/>
                  </a:schemeClr>
                </a:solidFill>
                <a:latin typeface="Aptos" panose="020B0004020202020204" pitchFamily="34" charset="0"/>
              </a:rPr>
              <a:t>Example (First-Order Logic):</a:t>
            </a:r>
            <a:br>
              <a:rPr lang="en-US" sz="2400" dirty="0">
                <a:solidFill>
                  <a:schemeClr val="tx1">
                    <a:lumMod val="95000"/>
                    <a:lumOff val="5000"/>
                  </a:schemeClr>
                </a:solidFill>
                <a:latin typeface="Aptos" panose="020B0004020202020204" pitchFamily="34" charset="0"/>
              </a:rPr>
            </a:br>
            <a:r>
              <a:rPr lang="en-US" sz="2400" dirty="0">
                <a:solidFill>
                  <a:schemeClr val="tx1">
                    <a:lumMod val="95000"/>
                    <a:lumOff val="5000"/>
                  </a:schemeClr>
                </a:solidFill>
                <a:latin typeface="Aptos" panose="020B0004020202020204" pitchFamily="34" charset="0"/>
              </a:rPr>
              <a:t>All humans are mortal</a:t>
            </a:r>
            <a:br>
              <a:rPr lang="en-US" sz="2400" dirty="0">
                <a:solidFill>
                  <a:schemeClr val="tx1">
                    <a:lumMod val="95000"/>
                    <a:lumOff val="5000"/>
                  </a:schemeClr>
                </a:solidFill>
                <a:latin typeface="Aptos" panose="020B0004020202020204" pitchFamily="34" charset="0"/>
              </a:rPr>
            </a:br>
            <a:r>
              <a:rPr lang="en-US" sz="2400" dirty="0">
                <a:solidFill>
                  <a:schemeClr val="tx1">
                    <a:lumMod val="95000"/>
                    <a:lumOff val="5000"/>
                  </a:schemeClr>
                </a:solidFill>
                <a:latin typeface="Aptos" panose="020B0004020202020204" pitchFamily="34" charset="0"/>
              </a:rPr>
              <a:t>Ali is human</a:t>
            </a:r>
            <a:br>
              <a:rPr lang="en-US" sz="2400" dirty="0">
                <a:solidFill>
                  <a:schemeClr val="tx1">
                    <a:lumMod val="95000"/>
                    <a:lumOff val="5000"/>
                  </a:schemeClr>
                </a:solidFill>
                <a:latin typeface="Aptos" panose="020B0004020202020204" pitchFamily="34" charset="0"/>
              </a:rPr>
            </a:br>
            <a:r>
              <a:rPr lang="en-US" sz="2400" dirty="0">
                <a:solidFill>
                  <a:schemeClr val="tx1">
                    <a:lumMod val="95000"/>
                    <a:lumOff val="5000"/>
                  </a:schemeClr>
                </a:solidFill>
                <a:latin typeface="Aptos" panose="020B0004020202020204" pitchFamily="34" charset="0"/>
              </a:rPr>
              <a:t>Therefore, Ali is mortal</a:t>
            </a:r>
          </a:p>
        </p:txBody>
      </p:sp>
    </p:spTree>
    <p:extLst>
      <p:ext uri="{BB962C8B-B14F-4D97-AF65-F5344CB8AC3E}">
        <p14:creationId xmlns:p14="http://schemas.microsoft.com/office/powerpoint/2010/main" val="19577746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84746C-27D7-FE9E-1DD3-FC1923578987}"/>
              </a:ext>
            </a:extLst>
          </p:cNvPr>
          <p:cNvSpPr>
            <a:spLocks noGrp="1"/>
          </p:cNvSpPr>
          <p:nvPr>
            <p:ph idx="1"/>
          </p:nvPr>
        </p:nvSpPr>
        <p:spPr>
          <a:xfrm>
            <a:off x="2118360" y="990600"/>
            <a:ext cx="7955280" cy="5562600"/>
          </a:xfrm>
        </p:spPr>
        <p:txBody>
          <a:bodyPr>
            <a:normAutofit fontScale="92500" lnSpcReduction="10000"/>
          </a:bodyPr>
          <a:lstStyle/>
          <a:p>
            <a:pPr fontAlgn="base">
              <a:spcAft>
                <a:spcPts val="1800"/>
              </a:spcAft>
            </a:pPr>
            <a:r>
              <a:rPr lang="en-US" sz="3200" b="1" u="sng" dirty="0">
                <a:latin typeface="Aptos" panose="020B000402020202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Propositional Logic</a:t>
            </a:r>
            <a:br>
              <a:rPr lang="en-US" sz="3200" dirty="0">
                <a:latin typeface="Aptos" panose="020B0004020202020204" pitchFamily="34" charset="0"/>
                <a:cs typeface="Times New Roman" panose="02020603050405020304" pitchFamily="18" charset="0"/>
              </a:rPr>
            </a:br>
            <a:r>
              <a:rPr lang="en-US" sz="2400" dirty="0">
                <a:latin typeface="Aptos" panose="020B0004020202020204" pitchFamily="34" charset="0"/>
                <a:cs typeface="Times New Roman" panose="02020603050405020304" pitchFamily="18" charset="0"/>
              </a:rPr>
              <a:t>Represents knowledge as declarative statements (propositions) linked by logical operators like AND, OR, and NOT. For example, </a:t>
            </a:r>
          </a:p>
          <a:p>
            <a:pPr fontAlgn="base">
              <a:spcAft>
                <a:spcPts val="1800"/>
              </a:spcAft>
            </a:pPr>
            <a:r>
              <a:rPr lang="en-US" sz="2400" dirty="0">
                <a:latin typeface="Aptos" panose="020B0004020202020204" pitchFamily="34" charset="0"/>
              </a:rPr>
              <a:t> 𝒑 → 𝒒</a:t>
            </a:r>
          </a:p>
          <a:p>
            <a:pPr fontAlgn="base">
              <a:spcAft>
                <a:spcPts val="1800"/>
              </a:spcAft>
            </a:pPr>
            <a:r>
              <a:rPr lang="en-US" sz="2400" dirty="0">
                <a:latin typeface="Aptos" panose="020B0004020202020204" pitchFamily="34" charset="0"/>
              </a:rPr>
              <a:t> If you have the flu, then you will miss the final examination. </a:t>
            </a:r>
          </a:p>
          <a:p>
            <a:pPr fontAlgn="base">
              <a:spcAft>
                <a:spcPts val="1800"/>
              </a:spcAft>
            </a:pPr>
            <a:r>
              <a:rPr lang="en-US" sz="2400" dirty="0">
                <a:latin typeface="Aptos" panose="020B0004020202020204" pitchFamily="34" charset="0"/>
              </a:rPr>
              <a:t> 𝒒 → ¬𝒓</a:t>
            </a:r>
          </a:p>
          <a:p>
            <a:pPr fontAlgn="base">
              <a:spcAft>
                <a:spcPts val="1800"/>
              </a:spcAft>
            </a:pPr>
            <a:r>
              <a:rPr lang="en-US" sz="2400" dirty="0">
                <a:latin typeface="Aptos" panose="020B0004020202020204" pitchFamily="34" charset="0"/>
              </a:rPr>
              <a:t> If you miss the final examination, then you will not pass the course.</a:t>
            </a:r>
          </a:p>
          <a:p>
            <a:pPr fontAlgn="base">
              <a:spcAft>
                <a:spcPts val="1800"/>
              </a:spcAft>
            </a:pPr>
            <a:r>
              <a:rPr lang="en-US" sz="2400" dirty="0">
                <a:latin typeface="Aptos" panose="020B0004020202020204" pitchFamily="34" charset="0"/>
              </a:rPr>
              <a:t> 𝒑 ∨ 𝒒 ∨𝒓</a:t>
            </a:r>
          </a:p>
          <a:p>
            <a:pPr fontAlgn="base">
              <a:spcAft>
                <a:spcPts val="1800"/>
              </a:spcAft>
            </a:pPr>
            <a:r>
              <a:rPr lang="en-US" sz="2400" dirty="0">
                <a:latin typeface="Aptos" panose="020B0004020202020204" pitchFamily="34" charset="0"/>
              </a:rPr>
              <a:t> You have the flu, or you miss the final examination, or you pass the course. (At least one of these is true.)</a:t>
            </a:r>
            <a:endParaRPr lang="en-US" sz="2400" dirty="0">
              <a:latin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80576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091703-11C2-7515-D7C7-EAAA8319C74C}"/>
              </a:ext>
            </a:extLst>
          </p:cNvPr>
          <p:cNvSpPr>
            <a:spLocks noGrp="1"/>
          </p:cNvSpPr>
          <p:nvPr>
            <p:ph idx="1"/>
          </p:nvPr>
        </p:nvSpPr>
        <p:spPr>
          <a:xfrm>
            <a:off x="2118360" y="1295400"/>
            <a:ext cx="7955280" cy="3276600"/>
          </a:xfrm>
        </p:spPr>
        <p:txBody>
          <a:bodyPr/>
          <a:lstStyle/>
          <a:p>
            <a:pPr fontAlgn="base">
              <a:spcAft>
                <a:spcPts val="1800"/>
              </a:spcAft>
            </a:pPr>
            <a:r>
              <a:rPr lang="en-US" sz="2400" b="1" u="sng" dirty="0">
                <a:latin typeface="Nunito" pitchFamily="2" charset="0"/>
                <a:hlinkClick r:id="rId2">
                  <a:extLst>
                    <a:ext uri="{A12FA001-AC4F-418D-AE19-62706E023703}">
                      <ahyp:hlinkClr xmlns:ahyp="http://schemas.microsoft.com/office/drawing/2018/hyperlinkcolor" val="tx"/>
                    </a:ext>
                  </a:extLst>
                </a:hlinkClick>
              </a:rPr>
              <a:t>First-Order Logic (FOL)</a:t>
            </a:r>
            <a:br>
              <a:rPr lang="en-US" sz="2400" dirty="0">
                <a:latin typeface="Nunito" pitchFamily="2" charset="0"/>
              </a:rPr>
            </a:br>
            <a:r>
              <a:rPr lang="en-US" sz="2400" dirty="0">
                <a:latin typeface="Nunito" pitchFamily="2" charset="0"/>
              </a:rPr>
              <a:t>Extends propositional logic by introducing variables, quantifiers, and predicates. FOL can express statements like, “All humans (∀x) are mortal (Mortal(x)).”</a:t>
            </a:r>
          </a:p>
          <a:p>
            <a:pPr fontAlgn="base">
              <a:spcAft>
                <a:spcPts val="1800"/>
              </a:spcAft>
            </a:pPr>
            <a:r>
              <a:rPr lang="en-US" sz="2400" dirty="0">
                <a:solidFill>
                  <a:srgbClr val="202124"/>
                </a:solidFill>
                <a:latin typeface="arial" panose="020B0604020202020204" pitchFamily="34" charset="0"/>
              </a:rPr>
              <a:t>A predicate is a sentence that contains a finite number of variables and becomes a statement when specific values are substituted for the variables. </a:t>
            </a:r>
          </a:p>
        </p:txBody>
      </p:sp>
      <p:pic>
        <p:nvPicPr>
          <p:cNvPr id="4" name="Picture 3">
            <a:extLst>
              <a:ext uri="{FF2B5EF4-FFF2-40B4-BE49-F238E27FC236}">
                <a16:creationId xmlns:a16="http://schemas.microsoft.com/office/drawing/2014/main" id="{B1603306-46D7-A48E-BE6C-00D7E7EC1CE4}"/>
              </a:ext>
            </a:extLst>
          </p:cNvPr>
          <p:cNvPicPr>
            <a:picLocks noChangeAspect="1"/>
          </p:cNvPicPr>
          <p:nvPr/>
        </p:nvPicPr>
        <p:blipFill>
          <a:blip r:embed="rId3"/>
          <a:stretch>
            <a:fillRect/>
          </a:stretch>
        </p:blipFill>
        <p:spPr>
          <a:xfrm>
            <a:off x="1945599" y="4601981"/>
            <a:ext cx="8383247" cy="1882187"/>
          </a:xfrm>
          <a:prstGeom prst="rect">
            <a:avLst/>
          </a:prstGeom>
        </p:spPr>
      </p:pic>
    </p:spTree>
    <p:extLst>
      <p:ext uri="{BB962C8B-B14F-4D97-AF65-F5344CB8AC3E}">
        <p14:creationId xmlns:p14="http://schemas.microsoft.com/office/powerpoint/2010/main" val="31683311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CF3224-A812-52C2-4FF0-D2CFC7130060}"/>
              </a:ext>
            </a:extLst>
          </p:cNvPr>
          <p:cNvSpPr>
            <a:spLocks noGrp="1"/>
          </p:cNvSpPr>
          <p:nvPr>
            <p:ph idx="1"/>
          </p:nvPr>
        </p:nvSpPr>
        <p:spPr>
          <a:xfrm>
            <a:off x="2118360" y="1143000"/>
            <a:ext cx="7955280" cy="5273040"/>
          </a:xfrm>
        </p:spPr>
        <p:txBody>
          <a:bodyPr>
            <a:normAutofit/>
          </a:bodyPr>
          <a:lstStyle/>
          <a:p>
            <a:pPr marL="0" indent="0">
              <a:buNone/>
            </a:pPr>
            <a:r>
              <a:rPr lang="en-US" b="1" dirty="0">
                <a:latin typeface="Aptos" panose="020B0004020202020204" pitchFamily="34" charset="0"/>
              </a:rPr>
              <a:t>2. Rule-Based Representation (Production Rules)</a:t>
            </a:r>
          </a:p>
          <a:p>
            <a:r>
              <a:rPr lang="en-US" dirty="0">
                <a:latin typeface="Aptos" panose="020B0004020202020204" pitchFamily="34" charset="0"/>
              </a:rPr>
              <a:t>Knowledge is represented as IF–THEN rules.</a:t>
            </a:r>
          </a:p>
          <a:p>
            <a:pPr marL="0" indent="0">
              <a:buNone/>
            </a:pPr>
            <a:r>
              <a:rPr lang="en-US" dirty="0">
                <a:latin typeface="Aptos" panose="020B0004020202020204" pitchFamily="34" charset="0"/>
              </a:rPr>
              <a:t>Format:</a:t>
            </a:r>
            <a:br>
              <a:rPr lang="en-US" dirty="0">
                <a:latin typeface="Aptos" panose="020B0004020202020204" pitchFamily="34" charset="0"/>
              </a:rPr>
            </a:br>
            <a:r>
              <a:rPr lang="en-US" dirty="0">
                <a:latin typeface="Aptos" panose="020B0004020202020204" pitchFamily="34" charset="0"/>
              </a:rPr>
              <a:t>IF condition</a:t>
            </a:r>
            <a:br>
              <a:rPr lang="en-US" dirty="0">
                <a:latin typeface="Aptos" panose="020B0004020202020204" pitchFamily="34" charset="0"/>
              </a:rPr>
            </a:br>
            <a:r>
              <a:rPr lang="en-US" dirty="0">
                <a:latin typeface="Aptos" panose="020B0004020202020204" pitchFamily="34" charset="0"/>
              </a:rPr>
              <a:t>THEN action</a:t>
            </a:r>
          </a:p>
          <a:p>
            <a:pPr marL="0" indent="0">
              <a:buNone/>
            </a:pPr>
            <a:r>
              <a:rPr lang="en-US" dirty="0">
                <a:latin typeface="Aptos" panose="020B0004020202020204" pitchFamily="34" charset="0"/>
              </a:rPr>
              <a:t>Example:</a:t>
            </a:r>
            <a:br>
              <a:rPr lang="en-US" dirty="0">
                <a:latin typeface="Aptos" panose="020B0004020202020204" pitchFamily="34" charset="0"/>
              </a:rPr>
            </a:br>
            <a:r>
              <a:rPr lang="en-US" dirty="0">
                <a:latin typeface="Aptos" panose="020B0004020202020204" pitchFamily="34" charset="0"/>
              </a:rPr>
              <a:t>IF leaf color = yellow AND growth = slow</a:t>
            </a:r>
            <a:br>
              <a:rPr lang="en-US" dirty="0">
                <a:latin typeface="Aptos" panose="020B0004020202020204" pitchFamily="34" charset="0"/>
              </a:rPr>
            </a:br>
            <a:r>
              <a:rPr lang="en-US" dirty="0">
                <a:latin typeface="Aptos" panose="020B0004020202020204" pitchFamily="34" charset="0"/>
              </a:rPr>
              <a:t>THEN nitrogen deficiency</a:t>
            </a:r>
          </a:p>
          <a:p>
            <a:pPr marL="0" indent="0">
              <a:buNone/>
            </a:pPr>
            <a:r>
              <a:rPr lang="en-US" dirty="0">
                <a:latin typeface="Aptos" panose="020B0004020202020204" pitchFamily="34" charset="0"/>
              </a:rPr>
              <a:t>Used in:</a:t>
            </a:r>
          </a:p>
          <a:p>
            <a:pPr>
              <a:buFont typeface="Arial" panose="020B0604020202020204" pitchFamily="34" charset="0"/>
              <a:buChar char="•"/>
            </a:pPr>
            <a:r>
              <a:rPr lang="en-US" dirty="0">
                <a:latin typeface="Aptos" panose="020B0004020202020204" pitchFamily="34" charset="0"/>
              </a:rPr>
              <a:t>Expert Systems</a:t>
            </a:r>
          </a:p>
          <a:p>
            <a:pPr marL="0" indent="0">
              <a:buNone/>
            </a:pPr>
            <a:r>
              <a:rPr lang="en-US" dirty="0">
                <a:latin typeface="Aptos" panose="020B0004020202020204" pitchFamily="34" charset="0"/>
              </a:rPr>
              <a:t>Advantages:</a:t>
            </a:r>
          </a:p>
          <a:p>
            <a:pPr>
              <a:buFont typeface="Arial" panose="020B0604020202020204" pitchFamily="34" charset="0"/>
              <a:buChar char="•"/>
            </a:pPr>
            <a:r>
              <a:rPr lang="en-US" dirty="0">
                <a:latin typeface="Aptos" panose="020B0004020202020204" pitchFamily="34" charset="0"/>
              </a:rPr>
              <a:t>Easy to understand</a:t>
            </a:r>
          </a:p>
          <a:p>
            <a:pPr>
              <a:buFont typeface="Arial" panose="020B0604020202020204" pitchFamily="34" charset="0"/>
              <a:buChar char="•"/>
            </a:pPr>
            <a:r>
              <a:rPr lang="en-US" dirty="0">
                <a:latin typeface="Aptos" panose="020B0004020202020204" pitchFamily="34" charset="0"/>
              </a:rPr>
              <a:t>Simple reasoning (forward/backward chaining)</a:t>
            </a:r>
          </a:p>
        </p:txBody>
      </p:sp>
    </p:spTree>
    <p:extLst>
      <p:ext uri="{BB962C8B-B14F-4D97-AF65-F5344CB8AC3E}">
        <p14:creationId xmlns:p14="http://schemas.microsoft.com/office/powerpoint/2010/main" val="42368086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5427F7-4CAE-94E7-6CD4-311AD59E57B9}"/>
              </a:ext>
            </a:extLst>
          </p:cNvPr>
          <p:cNvSpPr>
            <a:spLocks noGrp="1"/>
          </p:cNvSpPr>
          <p:nvPr>
            <p:ph idx="1"/>
          </p:nvPr>
        </p:nvSpPr>
        <p:spPr>
          <a:xfrm>
            <a:off x="2118360" y="1143000"/>
            <a:ext cx="7955280" cy="5120640"/>
          </a:xfrm>
        </p:spPr>
        <p:txBody>
          <a:bodyPr>
            <a:normAutofit/>
          </a:bodyPr>
          <a:lstStyle/>
          <a:p>
            <a:pPr marL="0" indent="0">
              <a:buNone/>
            </a:pPr>
            <a:r>
              <a:rPr lang="en-US" sz="2400" b="1" dirty="0">
                <a:latin typeface="Aptos" panose="020B0004020202020204" pitchFamily="34" charset="0"/>
              </a:rPr>
              <a:t>3. Semantic Networks</a:t>
            </a:r>
          </a:p>
          <a:p>
            <a:r>
              <a:rPr lang="en-US" sz="2400" dirty="0">
                <a:latin typeface="Aptos" panose="020B0004020202020204" pitchFamily="34" charset="0"/>
              </a:rPr>
              <a:t>Knowledge is represented as a graph of nodes and relationships.</a:t>
            </a:r>
          </a:p>
          <a:p>
            <a:pPr>
              <a:buFont typeface="Arial" panose="020B0604020202020204" pitchFamily="34" charset="0"/>
              <a:buChar char="•"/>
            </a:pPr>
            <a:r>
              <a:rPr lang="en-US" sz="2400" dirty="0">
                <a:latin typeface="Aptos" panose="020B0004020202020204" pitchFamily="34" charset="0"/>
              </a:rPr>
              <a:t>Nodes → Objects or concepts</a:t>
            </a:r>
          </a:p>
          <a:p>
            <a:pPr>
              <a:buFont typeface="Arial" panose="020B0604020202020204" pitchFamily="34" charset="0"/>
              <a:buChar char="•"/>
            </a:pPr>
            <a:r>
              <a:rPr lang="en-US" sz="2400" dirty="0">
                <a:latin typeface="Aptos" panose="020B0004020202020204" pitchFamily="34" charset="0"/>
              </a:rPr>
              <a:t>Links → Relationships</a:t>
            </a:r>
          </a:p>
          <a:p>
            <a:pPr marL="0" indent="0">
              <a:buNone/>
            </a:pPr>
            <a:r>
              <a:rPr lang="en-US" sz="2400" b="1" dirty="0">
                <a:latin typeface="Aptos" panose="020B0004020202020204" pitchFamily="34" charset="0"/>
              </a:rPr>
              <a:t>Example</a:t>
            </a:r>
            <a:r>
              <a:rPr lang="en-US" sz="2400" dirty="0">
                <a:latin typeface="Aptos" panose="020B0004020202020204" pitchFamily="34" charset="0"/>
              </a:rPr>
              <a:t>:</a:t>
            </a:r>
            <a:br>
              <a:rPr lang="en-US" sz="2400" dirty="0">
                <a:latin typeface="Aptos" panose="020B0004020202020204" pitchFamily="34" charset="0"/>
              </a:rPr>
            </a:br>
            <a:r>
              <a:rPr lang="en-US" sz="2400" b="1" dirty="0">
                <a:latin typeface="Aptos" panose="020B0004020202020204" pitchFamily="34" charset="0"/>
              </a:rPr>
              <a:t>Plant</a:t>
            </a:r>
            <a:r>
              <a:rPr lang="en-US" sz="2400" dirty="0">
                <a:latin typeface="Aptos" panose="020B0004020202020204" pitchFamily="34" charset="0"/>
              </a:rPr>
              <a:t> —has→ </a:t>
            </a:r>
            <a:r>
              <a:rPr lang="en-US" sz="2400" b="1" dirty="0">
                <a:latin typeface="Aptos" panose="020B0004020202020204" pitchFamily="34" charset="0"/>
              </a:rPr>
              <a:t>Leaves</a:t>
            </a:r>
            <a:br>
              <a:rPr lang="en-US" sz="2400" dirty="0">
                <a:latin typeface="Aptos" panose="020B0004020202020204" pitchFamily="34" charset="0"/>
              </a:rPr>
            </a:br>
            <a:r>
              <a:rPr lang="en-US" sz="2400" dirty="0">
                <a:latin typeface="Aptos" panose="020B0004020202020204" pitchFamily="34" charset="0"/>
              </a:rPr>
              <a:t>Rice —is a→ Plant</a:t>
            </a:r>
          </a:p>
          <a:p>
            <a:pPr marL="0" indent="0">
              <a:buNone/>
            </a:pPr>
            <a:r>
              <a:rPr lang="en-US" sz="2400" dirty="0">
                <a:latin typeface="Aptos" panose="020B0004020202020204" pitchFamily="34" charset="0"/>
              </a:rPr>
              <a:t>Advantages:</a:t>
            </a:r>
          </a:p>
          <a:p>
            <a:pPr>
              <a:buFont typeface="Arial" panose="020B0604020202020204" pitchFamily="34" charset="0"/>
              <a:buChar char="•"/>
            </a:pPr>
            <a:r>
              <a:rPr lang="en-US" sz="2400" dirty="0">
                <a:latin typeface="Aptos" panose="020B0004020202020204" pitchFamily="34" charset="0"/>
              </a:rPr>
              <a:t>Easy to visualize</a:t>
            </a:r>
          </a:p>
          <a:p>
            <a:pPr>
              <a:buFont typeface="Arial" panose="020B0604020202020204" pitchFamily="34" charset="0"/>
              <a:buChar char="•"/>
            </a:pPr>
            <a:r>
              <a:rPr lang="en-US" sz="2400" dirty="0">
                <a:latin typeface="Aptos" panose="020B0004020202020204" pitchFamily="34" charset="0"/>
              </a:rPr>
              <a:t>Good for hierarchical knowledge</a:t>
            </a:r>
          </a:p>
        </p:txBody>
      </p:sp>
    </p:spTree>
    <p:extLst>
      <p:ext uri="{BB962C8B-B14F-4D97-AF65-F5344CB8AC3E}">
        <p14:creationId xmlns:p14="http://schemas.microsoft.com/office/powerpoint/2010/main" val="2200708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DD84F5-9C23-6365-C9B8-9005530E5E87}"/>
              </a:ext>
            </a:extLst>
          </p:cNvPr>
          <p:cNvPicPr>
            <a:picLocks noChangeAspect="1"/>
          </p:cNvPicPr>
          <p:nvPr/>
        </p:nvPicPr>
        <p:blipFill>
          <a:blip r:embed="rId2">
            <a:extLst>
              <a:ext uri="{28A0092B-C50C-407E-A947-70E740481C1C}">
                <a14:useLocalDpi xmlns:a14="http://schemas.microsoft.com/office/drawing/2010/main" val="0"/>
              </a:ext>
            </a:extLst>
          </a:blip>
          <a:srcRect l="3334" t="11481" r="2500" b="7037"/>
          <a:stretch>
            <a:fillRect/>
          </a:stretch>
        </p:blipFill>
        <p:spPr>
          <a:xfrm>
            <a:off x="1716578" y="1447800"/>
            <a:ext cx="8758844" cy="4419600"/>
          </a:xfrm>
          <a:prstGeom prst="rect">
            <a:avLst/>
          </a:prstGeom>
        </p:spPr>
      </p:pic>
    </p:spTree>
    <p:extLst>
      <p:ext uri="{BB962C8B-B14F-4D97-AF65-F5344CB8AC3E}">
        <p14:creationId xmlns:p14="http://schemas.microsoft.com/office/powerpoint/2010/main" val="2673068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C8BB50-2624-0043-D8AB-1F4045AC57D4}"/>
              </a:ext>
            </a:extLst>
          </p:cNvPr>
          <p:cNvSpPr>
            <a:spLocks noGrp="1"/>
          </p:cNvSpPr>
          <p:nvPr>
            <p:ph idx="1"/>
          </p:nvPr>
        </p:nvSpPr>
        <p:spPr>
          <a:xfrm>
            <a:off x="2118360" y="990600"/>
            <a:ext cx="7955280" cy="5273040"/>
          </a:xfrm>
        </p:spPr>
        <p:txBody>
          <a:bodyPr>
            <a:normAutofit/>
          </a:bodyPr>
          <a:lstStyle/>
          <a:p>
            <a:pPr marL="0" indent="0">
              <a:buNone/>
            </a:pPr>
            <a:r>
              <a:rPr lang="en-US" b="1" dirty="0">
                <a:latin typeface="Aptos" panose="020B0004020202020204" pitchFamily="34" charset="0"/>
              </a:rPr>
              <a:t>4. Frame Representation</a:t>
            </a:r>
          </a:p>
          <a:p>
            <a:r>
              <a:rPr lang="en-US" dirty="0">
                <a:latin typeface="Aptos" panose="020B0004020202020204" pitchFamily="34" charset="0"/>
              </a:rPr>
              <a:t>Frames are structured records that describe objects with attributes.</a:t>
            </a:r>
          </a:p>
          <a:p>
            <a:pPr marL="0" indent="0">
              <a:buNone/>
            </a:pPr>
            <a:r>
              <a:rPr lang="en-US" dirty="0">
                <a:latin typeface="Aptos" panose="020B0004020202020204" pitchFamily="34" charset="0"/>
              </a:rPr>
              <a:t>Example:</a:t>
            </a:r>
          </a:p>
          <a:p>
            <a:r>
              <a:rPr lang="en-US" dirty="0">
                <a:latin typeface="Aptos" panose="020B0004020202020204" pitchFamily="34" charset="0"/>
              </a:rPr>
              <a:t>Frame: Student</a:t>
            </a:r>
          </a:p>
          <a:p>
            <a:pPr>
              <a:buFont typeface="Arial" panose="020B0604020202020204" pitchFamily="34" charset="0"/>
              <a:buChar char="•"/>
            </a:pPr>
            <a:r>
              <a:rPr lang="en-US" dirty="0">
                <a:latin typeface="Aptos" panose="020B0004020202020204" pitchFamily="34" charset="0"/>
              </a:rPr>
              <a:t>Name: Ahmed</a:t>
            </a:r>
          </a:p>
          <a:p>
            <a:pPr>
              <a:buFont typeface="Arial" panose="020B0604020202020204" pitchFamily="34" charset="0"/>
              <a:buChar char="•"/>
            </a:pPr>
            <a:r>
              <a:rPr lang="en-US" dirty="0">
                <a:latin typeface="Aptos" panose="020B0004020202020204" pitchFamily="34" charset="0"/>
              </a:rPr>
              <a:t>Marks: 75%</a:t>
            </a:r>
          </a:p>
          <a:p>
            <a:pPr>
              <a:buFont typeface="Arial" panose="020B0604020202020204" pitchFamily="34" charset="0"/>
              <a:buChar char="•"/>
            </a:pPr>
            <a:r>
              <a:rPr lang="en-US" dirty="0">
                <a:latin typeface="Aptos" panose="020B0004020202020204" pitchFamily="34" charset="0"/>
              </a:rPr>
              <a:t>Department: CS</a:t>
            </a:r>
          </a:p>
          <a:p>
            <a:pPr marL="0" indent="0">
              <a:buNone/>
            </a:pPr>
            <a:r>
              <a:rPr lang="en-US" dirty="0">
                <a:latin typeface="Aptos" panose="020B0004020202020204" pitchFamily="34" charset="0"/>
              </a:rPr>
              <a:t>Frames are like object-oriented structures.</a:t>
            </a:r>
          </a:p>
          <a:p>
            <a:pPr marL="0" indent="0">
              <a:buNone/>
            </a:pPr>
            <a:r>
              <a:rPr lang="en-US" dirty="0">
                <a:latin typeface="Aptos" panose="020B0004020202020204" pitchFamily="34" charset="0"/>
              </a:rPr>
              <a:t>Advantages:</a:t>
            </a:r>
          </a:p>
          <a:p>
            <a:pPr>
              <a:buFont typeface="Arial" panose="020B0604020202020204" pitchFamily="34" charset="0"/>
              <a:buChar char="•"/>
            </a:pPr>
            <a:r>
              <a:rPr lang="en-US" dirty="0">
                <a:latin typeface="Aptos" panose="020B0004020202020204" pitchFamily="34" charset="0"/>
              </a:rPr>
              <a:t>Organized</a:t>
            </a:r>
          </a:p>
          <a:p>
            <a:pPr>
              <a:buFont typeface="Arial" panose="020B0604020202020204" pitchFamily="34" charset="0"/>
              <a:buChar char="•"/>
            </a:pPr>
            <a:r>
              <a:rPr lang="en-US" dirty="0">
                <a:latin typeface="Aptos" panose="020B0004020202020204" pitchFamily="34" charset="0"/>
              </a:rPr>
              <a:t>Good for structured knowledge</a:t>
            </a:r>
          </a:p>
        </p:txBody>
      </p:sp>
    </p:spTree>
    <p:extLst>
      <p:ext uri="{BB962C8B-B14F-4D97-AF65-F5344CB8AC3E}">
        <p14:creationId xmlns:p14="http://schemas.microsoft.com/office/powerpoint/2010/main" val="41806711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43400" y="762000"/>
            <a:ext cx="5407356" cy="635000"/>
          </a:xfrm>
          <a:prstGeom prst="rect">
            <a:avLst/>
          </a:prstGeom>
        </p:spPr>
        <p:txBody>
          <a:bodyPr vert="horz" wrap="square" lIns="0" tIns="12065" rIns="0" bIns="0" rtlCol="0" anchor="ctr">
            <a:spAutoFit/>
          </a:bodyPr>
          <a:lstStyle/>
          <a:p>
            <a:pPr marL="12700">
              <a:lnSpc>
                <a:spcPct val="100000"/>
              </a:lnSpc>
              <a:spcBef>
                <a:spcPts val="95"/>
              </a:spcBef>
            </a:pPr>
            <a:r>
              <a:rPr lang="en-US" b="1" cap="none" spc="-105" dirty="0">
                <a:latin typeface="Aptos" panose="020B0004020202020204" pitchFamily="34" charset="0"/>
              </a:rPr>
              <a:t>Experts</a:t>
            </a:r>
            <a:endParaRPr lang="en-US" b="1" cap="none" dirty="0">
              <a:latin typeface="Aptos" panose="020B0004020202020204" pitchFamily="34" charset="0"/>
            </a:endParaRPr>
          </a:p>
        </p:txBody>
      </p:sp>
      <p:sp>
        <p:nvSpPr>
          <p:cNvPr id="3" name="object 3"/>
          <p:cNvSpPr txBox="1"/>
          <p:nvPr/>
        </p:nvSpPr>
        <p:spPr>
          <a:xfrm>
            <a:off x="2057400" y="1752601"/>
            <a:ext cx="8305800" cy="4809715"/>
          </a:xfrm>
          <a:prstGeom prst="rect">
            <a:avLst/>
          </a:prstGeom>
        </p:spPr>
        <p:txBody>
          <a:bodyPr vert="horz" wrap="square" lIns="0" tIns="60325" rIns="0" bIns="0" rtlCol="0">
            <a:spAutoFit/>
          </a:bodyPr>
          <a:lstStyle/>
          <a:p>
            <a:pPr marL="469265" marR="528955" indent="-457200">
              <a:lnSpc>
                <a:spcPts val="3030"/>
              </a:lnSpc>
              <a:spcBef>
                <a:spcPts val="475"/>
              </a:spcBef>
              <a:buClr>
                <a:srgbClr val="D24717"/>
              </a:buClr>
              <a:buSzPct val="83928"/>
              <a:buFont typeface="Arial" panose="020B0604020202020204" pitchFamily="34" charset="0"/>
              <a:buChar char="•"/>
              <a:tabLst>
                <a:tab pos="287020" algn="l"/>
              </a:tabLst>
            </a:pPr>
            <a:r>
              <a:rPr sz="2800" spc="-245" dirty="0">
                <a:latin typeface="Aptos" panose="020B0004020202020204" pitchFamily="34" charset="0"/>
                <a:cs typeface="Times New Roman"/>
              </a:rPr>
              <a:t>An </a:t>
            </a:r>
            <a:r>
              <a:rPr sz="2800" spc="-50" dirty="0">
                <a:latin typeface="Aptos" panose="020B0004020202020204" pitchFamily="34" charset="0"/>
                <a:cs typeface="Times New Roman"/>
              </a:rPr>
              <a:t>expert </a:t>
            </a:r>
            <a:r>
              <a:rPr sz="2800" spc="-185" dirty="0">
                <a:latin typeface="Aptos" panose="020B0004020202020204" pitchFamily="34" charset="0"/>
                <a:cs typeface="Times New Roman"/>
              </a:rPr>
              <a:t>is </a:t>
            </a:r>
            <a:r>
              <a:rPr sz="2800" spc="-175" dirty="0">
                <a:latin typeface="Aptos" panose="020B0004020202020204" pitchFamily="34" charset="0"/>
                <a:cs typeface="Times New Roman"/>
              </a:rPr>
              <a:t>an </a:t>
            </a:r>
            <a:r>
              <a:rPr sz="2800" spc="-105" dirty="0">
                <a:latin typeface="Aptos" panose="020B0004020202020204" pitchFamily="34" charset="0"/>
                <a:cs typeface="Times New Roman"/>
              </a:rPr>
              <a:t>experienced </a:t>
            </a:r>
            <a:r>
              <a:rPr sz="2800" spc="-85" dirty="0">
                <a:latin typeface="Aptos" panose="020B0004020202020204" pitchFamily="34" charset="0"/>
                <a:cs typeface="Times New Roman"/>
              </a:rPr>
              <a:t>practitioner </a:t>
            </a:r>
            <a:r>
              <a:rPr sz="2800" spc="-130" dirty="0">
                <a:latin typeface="Aptos" panose="020B0004020202020204" pitchFamily="34" charset="0"/>
                <a:cs typeface="Times New Roman"/>
              </a:rPr>
              <a:t>in </a:t>
            </a:r>
            <a:r>
              <a:rPr sz="2800" spc="-85" dirty="0">
                <a:latin typeface="Aptos" panose="020B0004020202020204" pitchFamily="34" charset="0"/>
                <a:cs typeface="Times New Roman"/>
              </a:rPr>
              <a:t>his/her  </a:t>
            </a:r>
            <a:r>
              <a:rPr sz="2800" spc="-90" dirty="0">
                <a:latin typeface="Aptos" panose="020B0004020202020204" pitchFamily="34" charset="0"/>
                <a:cs typeface="Times New Roman"/>
              </a:rPr>
              <a:t>particular</a:t>
            </a:r>
            <a:r>
              <a:rPr sz="2800" spc="-60" dirty="0">
                <a:latin typeface="Aptos" panose="020B0004020202020204" pitchFamily="34" charset="0"/>
                <a:cs typeface="Times New Roman"/>
              </a:rPr>
              <a:t> </a:t>
            </a:r>
            <a:r>
              <a:rPr sz="2800" spc="-95" dirty="0">
                <a:latin typeface="Aptos" panose="020B0004020202020204" pitchFamily="34" charset="0"/>
                <a:cs typeface="Times New Roman"/>
              </a:rPr>
              <a:t>field.</a:t>
            </a:r>
            <a:endParaRPr sz="2800" dirty="0">
              <a:latin typeface="Aptos" panose="020B0004020202020204" pitchFamily="34" charset="0"/>
              <a:cs typeface="Times New Roman"/>
            </a:endParaRPr>
          </a:p>
          <a:p>
            <a:pPr marL="469265" marR="364490" indent="-457200">
              <a:lnSpc>
                <a:spcPts val="3020"/>
              </a:lnSpc>
              <a:spcBef>
                <a:spcPts val="595"/>
              </a:spcBef>
              <a:buClr>
                <a:srgbClr val="D24717"/>
              </a:buClr>
              <a:buSzPct val="83928"/>
              <a:buFont typeface="Arial" panose="020B0604020202020204" pitchFamily="34" charset="0"/>
              <a:buChar char="•"/>
              <a:tabLst>
                <a:tab pos="287020" algn="l"/>
              </a:tabLst>
            </a:pPr>
            <a:r>
              <a:rPr sz="2800" spc="-140" dirty="0">
                <a:latin typeface="Aptos" panose="020B0004020202020204" pitchFamily="34" charset="0"/>
                <a:cs typeface="Times New Roman"/>
              </a:rPr>
              <a:t>More </a:t>
            </a:r>
            <a:r>
              <a:rPr sz="2800" spc="-120" dirty="0">
                <a:latin typeface="Aptos" panose="020B0004020202020204" pitchFamily="34" charset="0"/>
                <a:cs typeface="Times New Roman"/>
              </a:rPr>
              <a:t>than </a:t>
            </a:r>
            <a:r>
              <a:rPr sz="2800" spc="-50" dirty="0">
                <a:latin typeface="Aptos" panose="020B0004020202020204" pitchFamily="34" charset="0"/>
                <a:cs typeface="Times New Roman"/>
              </a:rPr>
              <a:t>that, </a:t>
            </a:r>
            <a:r>
              <a:rPr sz="2800" spc="-30" dirty="0">
                <a:latin typeface="Aptos" panose="020B0004020202020204" pitchFamily="34" charset="0"/>
                <a:cs typeface="Times New Roman"/>
              </a:rPr>
              <a:t>he/she </a:t>
            </a:r>
            <a:r>
              <a:rPr sz="2800" spc="-180" dirty="0">
                <a:latin typeface="Aptos" panose="020B0004020202020204" pitchFamily="34" charset="0"/>
                <a:cs typeface="Times New Roman"/>
              </a:rPr>
              <a:t>is </a:t>
            </a:r>
            <a:r>
              <a:rPr sz="2800" spc="-225" dirty="0">
                <a:latin typeface="Aptos" panose="020B0004020202020204" pitchFamily="34" charset="0"/>
                <a:cs typeface="Times New Roman"/>
              </a:rPr>
              <a:t>a </a:t>
            </a:r>
            <a:r>
              <a:rPr sz="2800" spc="-190" dirty="0">
                <a:latin typeface="Aptos" panose="020B0004020202020204" pitchFamily="34" charset="0"/>
                <a:cs typeface="Times New Roman"/>
              </a:rPr>
              <a:t>highly </a:t>
            </a:r>
            <a:r>
              <a:rPr sz="2800" spc="-145" dirty="0">
                <a:latin typeface="Aptos" panose="020B0004020202020204" pitchFamily="34" charset="0"/>
                <a:cs typeface="Times New Roman"/>
              </a:rPr>
              <a:t>effective </a:t>
            </a:r>
            <a:r>
              <a:rPr sz="2800" spc="-160" dirty="0">
                <a:latin typeface="Aptos" panose="020B0004020202020204" pitchFamily="34" charset="0"/>
                <a:cs typeface="Times New Roman"/>
              </a:rPr>
              <a:t>problem-  </a:t>
            </a:r>
            <a:r>
              <a:rPr sz="2800" spc="-140" dirty="0">
                <a:latin typeface="Aptos" panose="020B0004020202020204" pitchFamily="34" charset="0"/>
                <a:cs typeface="Times New Roman"/>
              </a:rPr>
              <a:t>solver </a:t>
            </a:r>
            <a:r>
              <a:rPr sz="2800" spc="-160" dirty="0">
                <a:latin typeface="Aptos" panose="020B0004020202020204" pitchFamily="34" charset="0"/>
                <a:cs typeface="Times New Roman"/>
              </a:rPr>
              <a:t>and </a:t>
            </a:r>
            <a:r>
              <a:rPr sz="2800" spc="-120" dirty="0">
                <a:latin typeface="Aptos" panose="020B0004020202020204" pitchFamily="34" charset="0"/>
                <a:cs typeface="Times New Roman"/>
              </a:rPr>
              <a:t>decision-taker </a:t>
            </a:r>
            <a:r>
              <a:rPr sz="2800" spc="-130" dirty="0">
                <a:latin typeface="Aptos" panose="020B0004020202020204" pitchFamily="34" charset="0"/>
                <a:cs typeface="Times New Roman"/>
              </a:rPr>
              <a:t>in </a:t>
            </a:r>
            <a:r>
              <a:rPr sz="2800" spc="-90" dirty="0">
                <a:latin typeface="Aptos" panose="020B0004020202020204" pitchFamily="34" charset="0"/>
                <a:cs typeface="Times New Roman"/>
              </a:rPr>
              <a:t>that</a:t>
            </a:r>
            <a:r>
              <a:rPr sz="2800" spc="200" dirty="0">
                <a:latin typeface="Aptos" panose="020B0004020202020204" pitchFamily="34" charset="0"/>
                <a:cs typeface="Times New Roman"/>
              </a:rPr>
              <a:t> </a:t>
            </a:r>
            <a:r>
              <a:rPr sz="2800" spc="-95" dirty="0">
                <a:latin typeface="Aptos" panose="020B0004020202020204" pitchFamily="34" charset="0"/>
                <a:cs typeface="Times New Roman"/>
              </a:rPr>
              <a:t>field.</a:t>
            </a:r>
            <a:endParaRPr lang="en-US" sz="2800" dirty="0">
              <a:latin typeface="Aptos" panose="020B0004020202020204" pitchFamily="34" charset="0"/>
              <a:cs typeface="Times New Roman"/>
            </a:endParaRPr>
          </a:p>
          <a:p>
            <a:pPr marL="469265" marR="364490" indent="-457200">
              <a:lnSpc>
                <a:spcPts val="3020"/>
              </a:lnSpc>
              <a:spcBef>
                <a:spcPts val="595"/>
              </a:spcBef>
              <a:buClr>
                <a:srgbClr val="D24717"/>
              </a:buClr>
              <a:buSzPct val="83928"/>
              <a:buFont typeface="Arial" panose="020B0604020202020204" pitchFamily="34" charset="0"/>
              <a:buChar char="•"/>
              <a:tabLst>
                <a:tab pos="287020" algn="l"/>
              </a:tabLst>
            </a:pPr>
            <a:r>
              <a:rPr sz="2800" spc="-100" dirty="0">
                <a:latin typeface="Aptos" panose="020B0004020202020204" pitchFamily="34" charset="0"/>
                <a:cs typeface="Times New Roman"/>
              </a:rPr>
              <a:t>Experts </a:t>
            </a:r>
            <a:r>
              <a:rPr sz="2800" spc="-225" dirty="0">
                <a:latin typeface="Aptos" panose="020B0004020202020204" pitchFamily="34" charset="0"/>
                <a:cs typeface="Times New Roman"/>
              </a:rPr>
              <a:t>have </a:t>
            </a:r>
            <a:r>
              <a:rPr sz="2800" spc="-75" dirty="0">
                <a:latin typeface="Aptos" panose="020B0004020202020204" pitchFamily="34" charset="0"/>
                <a:cs typeface="Times New Roman"/>
              </a:rPr>
              <a:t>three</a:t>
            </a:r>
            <a:r>
              <a:rPr sz="2800" spc="70" dirty="0">
                <a:latin typeface="Aptos" panose="020B0004020202020204" pitchFamily="34" charset="0"/>
                <a:cs typeface="Times New Roman"/>
              </a:rPr>
              <a:t> </a:t>
            </a:r>
            <a:r>
              <a:rPr sz="2800" spc="-150" dirty="0">
                <a:latin typeface="Aptos" panose="020B0004020202020204" pitchFamily="34" charset="0"/>
                <a:cs typeface="Times New Roman"/>
              </a:rPr>
              <a:t>qualities:</a:t>
            </a:r>
            <a:endParaRPr lang="en-US" sz="2800" dirty="0">
              <a:latin typeface="Aptos" panose="020B0004020202020204" pitchFamily="34" charset="0"/>
              <a:cs typeface="Times New Roman"/>
            </a:endParaRPr>
          </a:p>
          <a:p>
            <a:pPr marL="926465" marR="364490" lvl="1" indent="-457200">
              <a:lnSpc>
                <a:spcPts val="3020"/>
              </a:lnSpc>
              <a:spcBef>
                <a:spcPts val="595"/>
              </a:spcBef>
              <a:buClr>
                <a:srgbClr val="D24717"/>
              </a:buClr>
              <a:buSzPct val="83928"/>
              <a:buFont typeface="Arial" panose="020B0604020202020204" pitchFamily="34" charset="0"/>
              <a:buChar char="•"/>
              <a:tabLst>
                <a:tab pos="287020" algn="l"/>
              </a:tabLst>
            </a:pPr>
            <a:r>
              <a:rPr sz="2800" spc="-175" dirty="0">
                <a:latin typeface="Aptos" panose="020B0004020202020204" pitchFamily="34" charset="0"/>
                <a:cs typeface="Times New Roman"/>
              </a:rPr>
              <a:t>They </a:t>
            </a:r>
            <a:r>
              <a:rPr sz="2800" spc="-185" dirty="0">
                <a:latin typeface="Aptos" panose="020B0004020202020204" pitchFamily="34" charset="0"/>
                <a:cs typeface="Times New Roman"/>
              </a:rPr>
              <a:t>make </a:t>
            </a:r>
            <a:r>
              <a:rPr sz="2800" spc="-150" dirty="0">
                <a:solidFill>
                  <a:srgbClr val="FF0000"/>
                </a:solidFill>
                <a:latin typeface="Aptos" panose="020B0004020202020204" pitchFamily="34" charset="0"/>
                <a:cs typeface="Times New Roman"/>
              </a:rPr>
              <a:t>good</a:t>
            </a:r>
            <a:r>
              <a:rPr sz="2800" spc="95" dirty="0">
                <a:solidFill>
                  <a:srgbClr val="FF0000"/>
                </a:solidFill>
                <a:latin typeface="Aptos" panose="020B0004020202020204" pitchFamily="34" charset="0"/>
                <a:cs typeface="Times New Roman"/>
              </a:rPr>
              <a:t> </a:t>
            </a:r>
            <a:r>
              <a:rPr sz="2800" spc="-150" dirty="0">
                <a:latin typeface="Aptos" panose="020B0004020202020204" pitchFamily="34" charset="0"/>
                <a:cs typeface="Times New Roman"/>
              </a:rPr>
              <a:t>decisions</a:t>
            </a:r>
            <a:endParaRPr lang="en-US" sz="2800" dirty="0">
              <a:latin typeface="Aptos" panose="020B0004020202020204" pitchFamily="34" charset="0"/>
              <a:cs typeface="Times New Roman"/>
            </a:endParaRPr>
          </a:p>
          <a:p>
            <a:pPr marL="926465" marR="364490" lvl="1" indent="-457200">
              <a:lnSpc>
                <a:spcPts val="3020"/>
              </a:lnSpc>
              <a:spcBef>
                <a:spcPts val="595"/>
              </a:spcBef>
              <a:buClr>
                <a:srgbClr val="D24717"/>
              </a:buClr>
              <a:buSzPct val="83928"/>
              <a:buFont typeface="Arial" panose="020B0604020202020204" pitchFamily="34" charset="0"/>
              <a:buChar char="•"/>
              <a:tabLst>
                <a:tab pos="287020" algn="l"/>
              </a:tabLst>
            </a:pPr>
            <a:r>
              <a:rPr sz="2800" spc="-175" dirty="0">
                <a:latin typeface="Aptos" panose="020B0004020202020204" pitchFamily="34" charset="0"/>
                <a:cs typeface="Times New Roman"/>
              </a:rPr>
              <a:t>They </a:t>
            </a:r>
            <a:r>
              <a:rPr sz="2800" spc="-185" dirty="0">
                <a:latin typeface="Aptos" panose="020B0004020202020204" pitchFamily="34" charset="0"/>
                <a:cs typeface="Times New Roman"/>
              </a:rPr>
              <a:t>make </a:t>
            </a:r>
            <a:r>
              <a:rPr sz="2800" spc="-120" dirty="0">
                <a:latin typeface="Aptos" panose="020B0004020202020204" pitchFamily="34" charset="0"/>
                <a:cs typeface="Times New Roman"/>
              </a:rPr>
              <a:t>those </a:t>
            </a:r>
            <a:r>
              <a:rPr sz="2800" spc="-150" dirty="0">
                <a:latin typeface="Aptos" panose="020B0004020202020204" pitchFamily="34" charset="0"/>
                <a:cs typeface="Times New Roman"/>
              </a:rPr>
              <a:t>decisions</a:t>
            </a:r>
            <a:r>
              <a:rPr sz="2800" spc="185" dirty="0">
                <a:latin typeface="Aptos" panose="020B0004020202020204" pitchFamily="34" charset="0"/>
                <a:cs typeface="Times New Roman"/>
              </a:rPr>
              <a:t> </a:t>
            </a:r>
            <a:r>
              <a:rPr sz="2800" spc="-160" dirty="0">
                <a:solidFill>
                  <a:srgbClr val="FF0000"/>
                </a:solidFill>
                <a:latin typeface="Aptos" panose="020B0004020202020204" pitchFamily="34" charset="0"/>
                <a:cs typeface="Times New Roman"/>
              </a:rPr>
              <a:t>quickly</a:t>
            </a:r>
            <a:endParaRPr lang="en-US" sz="2800" dirty="0">
              <a:solidFill>
                <a:srgbClr val="FF0000"/>
              </a:solidFill>
              <a:latin typeface="Aptos" panose="020B0004020202020204" pitchFamily="34" charset="0"/>
              <a:cs typeface="Times New Roman"/>
            </a:endParaRPr>
          </a:p>
          <a:p>
            <a:pPr marL="926465" marR="364490" lvl="1" indent="-457200">
              <a:lnSpc>
                <a:spcPts val="3020"/>
              </a:lnSpc>
              <a:spcBef>
                <a:spcPts val="595"/>
              </a:spcBef>
              <a:buClr>
                <a:srgbClr val="D24717"/>
              </a:buClr>
              <a:buSzPct val="83928"/>
              <a:buFont typeface="Arial" panose="020B0604020202020204" pitchFamily="34" charset="0"/>
              <a:buChar char="•"/>
              <a:tabLst>
                <a:tab pos="287020" algn="l"/>
              </a:tabLst>
            </a:pPr>
            <a:r>
              <a:rPr sz="2800" spc="-180" dirty="0">
                <a:latin typeface="Aptos" panose="020B0004020202020204" pitchFamily="34" charset="0"/>
                <a:cs typeface="Times New Roman"/>
              </a:rPr>
              <a:t>They </a:t>
            </a:r>
            <a:r>
              <a:rPr sz="2800" spc="-114" dirty="0">
                <a:latin typeface="Aptos" panose="020B0004020202020204" pitchFamily="34" charset="0"/>
                <a:cs typeface="Times New Roman"/>
              </a:rPr>
              <a:t>are </a:t>
            </a:r>
            <a:r>
              <a:rPr sz="2800" spc="-165" dirty="0">
                <a:latin typeface="Aptos" panose="020B0004020202020204" pitchFamily="34" charset="0"/>
                <a:cs typeface="Times New Roman"/>
              </a:rPr>
              <a:t>able </a:t>
            </a:r>
            <a:r>
              <a:rPr sz="2800" spc="-40" dirty="0">
                <a:latin typeface="Aptos" panose="020B0004020202020204" pitchFamily="34" charset="0"/>
                <a:cs typeface="Times New Roman"/>
              </a:rPr>
              <a:t>to </a:t>
            </a:r>
            <a:r>
              <a:rPr sz="2800" spc="-130" dirty="0">
                <a:latin typeface="Aptos" panose="020B0004020202020204" pitchFamily="34" charset="0"/>
                <a:cs typeface="Times New Roman"/>
              </a:rPr>
              <a:t>cope </a:t>
            </a:r>
            <a:r>
              <a:rPr sz="2800" spc="-114" dirty="0">
                <a:latin typeface="Aptos" panose="020B0004020202020204" pitchFamily="34" charset="0"/>
                <a:cs typeface="Times New Roman"/>
              </a:rPr>
              <a:t>with </a:t>
            </a:r>
            <a:r>
              <a:rPr sz="2800" spc="-225" dirty="0">
                <a:latin typeface="Aptos" panose="020B0004020202020204" pitchFamily="34" charset="0"/>
                <a:cs typeface="Times New Roman"/>
              </a:rPr>
              <a:t>a </a:t>
            </a:r>
            <a:r>
              <a:rPr sz="2800" spc="-135" dirty="0">
                <a:solidFill>
                  <a:srgbClr val="FF0000"/>
                </a:solidFill>
                <a:latin typeface="Aptos" panose="020B0004020202020204" pitchFamily="34" charset="0"/>
                <a:cs typeface="Times New Roman"/>
              </a:rPr>
              <a:t>wide range </a:t>
            </a:r>
            <a:r>
              <a:rPr sz="2800" spc="-160" dirty="0">
                <a:solidFill>
                  <a:srgbClr val="FF0000"/>
                </a:solidFill>
                <a:latin typeface="Aptos" panose="020B0004020202020204" pitchFamily="34" charset="0"/>
                <a:cs typeface="Times New Roman"/>
              </a:rPr>
              <a:t>of</a:t>
            </a:r>
            <a:r>
              <a:rPr sz="2800" spc="55" dirty="0">
                <a:solidFill>
                  <a:srgbClr val="FF0000"/>
                </a:solidFill>
                <a:latin typeface="Aptos" panose="020B0004020202020204" pitchFamily="34" charset="0"/>
                <a:cs typeface="Times New Roman"/>
              </a:rPr>
              <a:t> </a:t>
            </a:r>
            <a:r>
              <a:rPr sz="2800" spc="-140" dirty="0">
                <a:solidFill>
                  <a:srgbClr val="FF0000"/>
                </a:solidFill>
                <a:latin typeface="Aptos" panose="020B0004020202020204" pitchFamily="34" charset="0"/>
                <a:cs typeface="Times New Roman"/>
              </a:rPr>
              <a:t>problems.</a:t>
            </a:r>
            <a:endParaRPr sz="2800" dirty="0">
              <a:latin typeface="Aptos" panose="020B0004020202020204" pitchFamily="34" charset="0"/>
              <a:cs typeface="Times New Roman"/>
            </a:endParaRPr>
          </a:p>
          <a:p>
            <a:pPr marL="469265" marR="116205" indent="-457200">
              <a:lnSpc>
                <a:spcPts val="3240"/>
              </a:lnSpc>
              <a:spcBef>
                <a:spcPts val="630"/>
              </a:spcBef>
              <a:buClr>
                <a:srgbClr val="D24717"/>
              </a:buClr>
              <a:buSzPct val="80000"/>
              <a:buFont typeface="Arial" panose="020B0604020202020204" pitchFamily="34" charset="0"/>
              <a:buChar char="•"/>
              <a:tabLst>
                <a:tab pos="287020" algn="l"/>
              </a:tabLst>
            </a:pPr>
            <a:r>
              <a:rPr sz="3000" spc="-310" dirty="0">
                <a:latin typeface="Aptos" panose="020B0004020202020204" pitchFamily="34" charset="0"/>
                <a:cs typeface="Times New Roman"/>
              </a:rPr>
              <a:t>As </a:t>
            </a:r>
            <a:r>
              <a:rPr sz="3000" spc="-240" dirty="0">
                <a:latin typeface="Aptos" panose="020B0004020202020204" pitchFamily="34" charset="0"/>
                <a:cs typeface="Times New Roman"/>
              </a:rPr>
              <a:t>a </a:t>
            </a:r>
            <a:r>
              <a:rPr sz="3000" spc="-60" dirty="0">
                <a:latin typeface="Aptos" panose="020B0004020202020204" pitchFamily="34" charset="0"/>
                <a:cs typeface="Times New Roman"/>
              </a:rPr>
              <a:t>result, </a:t>
            </a:r>
            <a:r>
              <a:rPr sz="3000" spc="-145" dirty="0">
                <a:latin typeface="Aptos" panose="020B0004020202020204" pitchFamily="34" charset="0"/>
                <a:cs typeface="Times New Roman"/>
              </a:rPr>
              <a:t>they </a:t>
            </a:r>
            <a:r>
              <a:rPr sz="3000" spc="-120" dirty="0">
                <a:latin typeface="Aptos" panose="020B0004020202020204" pitchFamily="34" charset="0"/>
                <a:cs typeface="Times New Roman"/>
              </a:rPr>
              <a:t>are </a:t>
            </a:r>
            <a:r>
              <a:rPr sz="3000" spc="-160" dirty="0">
                <a:latin typeface="Aptos" panose="020B0004020202020204" pitchFamily="34" charset="0"/>
                <a:cs typeface="Times New Roman"/>
              </a:rPr>
              <a:t>valuable, </a:t>
            </a:r>
            <a:r>
              <a:rPr sz="3000" spc="-150" dirty="0">
                <a:latin typeface="Aptos" panose="020B0004020202020204" pitchFamily="34" charset="0"/>
                <a:cs typeface="Times New Roman"/>
              </a:rPr>
              <a:t>highly-paid, </a:t>
            </a:r>
            <a:r>
              <a:rPr sz="3000" spc="-170" dirty="0">
                <a:latin typeface="Aptos" panose="020B0004020202020204" pitchFamily="34" charset="0"/>
                <a:cs typeface="Times New Roman"/>
              </a:rPr>
              <a:t>and </a:t>
            </a:r>
            <a:r>
              <a:rPr sz="3000" spc="-190" dirty="0">
                <a:latin typeface="Aptos" panose="020B0004020202020204" pitchFamily="34" charset="0"/>
                <a:cs typeface="Times New Roman"/>
              </a:rPr>
              <a:t>tend  </a:t>
            </a:r>
            <a:r>
              <a:rPr sz="3000" spc="-45" dirty="0">
                <a:latin typeface="Aptos" panose="020B0004020202020204" pitchFamily="34" charset="0"/>
                <a:cs typeface="Times New Roman"/>
              </a:rPr>
              <a:t>to </a:t>
            </a:r>
            <a:r>
              <a:rPr sz="3000" spc="-140" dirty="0">
                <a:latin typeface="Aptos" panose="020B0004020202020204" pitchFamily="34" charset="0"/>
                <a:cs typeface="Times New Roman"/>
              </a:rPr>
              <a:t>be</a:t>
            </a:r>
            <a:r>
              <a:rPr sz="3000" spc="-130" dirty="0">
                <a:latin typeface="Aptos" panose="020B0004020202020204" pitchFamily="34" charset="0"/>
                <a:cs typeface="Times New Roman"/>
              </a:rPr>
              <a:t> </a:t>
            </a:r>
            <a:r>
              <a:rPr sz="3000" spc="-125" dirty="0">
                <a:latin typeface="Aptos" panose="020B0004020202020204" pitchFamily="34" charset="0"/>
                <a:cs typeface="Times New Roman"/>
              </a:rPr>
              <a:t>overworked.</a:t>
            </a:r>
            <a:endParaRPr sz="3000" dirty="0">
              <a:latin typeface="Aptos" panose="020B0004020202020204" pitchFamily="34" charset="0"/>
              <a:cs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8AC60-EE95-0A2F-C345-A517F6047A6D}"/>
              </a:ext>
            </a:extLst>
          </p:cNvPr>
          <p:cNvSpPr>
            <a:spLocks noGrp="1"/>
          </p:cNvSpPr>
          <p:nvPr>
            <p:ph type="title"/>
          </p:nvPr>
        </p:nvSpPr>
        <p:spPr>
          <a:xfrm>
            <a:off x="3733800" y="457200"/>
            <a:ext cx="6377940" cy="1293028"/>
          </a:xfrm>
        </p:spPr>
        <p:txBody>
          <a:bodyPr/>
          <a:lstStyle/>
          <a:p>
            <a:r>
              <a:rPr lang="en-US" b="1" cap="none" dirty="0">
                <a:latin typeface="Aptos" panose="020B0004020202020204" pitchFamily="34" charset="0"/>
              </a:rPr>
              <a:t>Expert System </a:t>
            </a:r>
          </a:p>
        </p:txBody>
      </p:sp>
      <p:sp>
        <p:nvSpPr>
          <p:cNvPr id="3" name="Content Placeholder 2">
            <a:extLst>
              <a:ext uri="{FF2B5EF4-FFF2-40B4-BE49-F238E27FC236}">
                <a16:creationId xmlns:a16="http://schemas.microsoft.com/office/drawing/2014/main" id="{9BABFBB1-97C0-15E7-ADA8-676206A1F4A9}"/>
              </a:ext>
            </a:extLst>
          </p:cNvPr>
          <p:cNvSpPr>
            <a:spLocks noGrp="1"/>
          </p:cNvSpPr>
          <p:nvPr>
            <p:ph idx="1"/>
          </p:nvPr>
        </p:nvSpPr>
        <p:spPr>
          <a:xfrm>
            <a:off x="1935480" y="1905000"/>
            <a:ext cx="8321040" cy="4663440"/>
          </a:xfrm>
        </p:spPr>
        <p:txBody>
          <a:bodyPr>
            <a:normAutofit/>
          </a:bodyPr>
          <a:lstStyle/>
          <a:p>
            <a:pPr marL="0" indent="0">
              <a:buNone/>
            </a:pPr>
            <a:r>
              <a:rPr lang="en-US" sz="2400" dirty="0">
                <a:solidFill>
                  <a:schemeClr val="tx1">
                    <a:lumMod val="95000"/>
                    <a:lumOff val="5000"/>
                  </a:schemeClr>
                </a:solidFill>
                <a:latin typeface="Aptos" panose="020B0004020202020204" pitchFamily="34" charset="0"/>
              </a:rPr>
              <a:t>An </a:t>
            </a:r>
            <a:r>
              <a:rPr lang="en-US" sz="2400" b="1" dirty="0">
                <a:solidFill>
                  <a:schemeClr val="tx1">
                    <a:lumMod val="95000"/>
                    <a:lumOff val="5000"/>
                  </a:schemeClr>
                </a:solidFill>
                <a:latin typeface="Aptos" panose="020B0004020202020204" pitchFamily="34" charset="0"/>
              </a:rPr>
              <a:t>Expert System</a:t>
            </a:r>
            <a:r>
              <a:rPr lang="en-US" sz="2400" dirty="0">
                <a:solidFill>
                  <a:schemeClr val="tx1">
                    <a:lumMod val="95000"/>
                    <a:lumOff val="5000"/>
                  </a:schemeClr>
                </a:solidFill>
                <a:latin typeface="Aptos" panose="020B0004020202020204" pitchFamily="34" charset="0"/>
              </a:rPr>
              <a:t> is a type of Artificial Intelligence (AI) program that simulates the decision-making ability of a human expert in a specific domain.</a:t>
            </a:r>
          </a:p>
          <a:p>
            <a:pPr marL="0" indent="0">
              <a:buNone/>
            </a:pPr>
            <a:r>
              <a:rPr lang="en-US" sz="2400" dirty="0">
                <a:solidFill>
                  <a:schemeClr val="tx1">
                    <a:lumMod val="95000"/>
                    <a:lumOff val="5000"/>
                  </a:schemeClr>
                </a:solidFill>
                <a:latin typeface="Aptos" panose="020B0004020202020204" pitchFamily="34" charset="0"/>
              </a:rPr>
              <a:t>An Expert System is a computer-based system that uses a knowledge base and inference engine to solve problems that normally require human expertise.</a:t>
            </a:r>
          </a:p>
          <a:p>
            <a:r>
              <a:rPr lang="en-US" sz="2400" dirty="0">
                <a:solidFill>
                  <a:schemeClr val="tx1">
                    <a:lumMod val="95000"/>
                    <a:lumOff val="5000"/>
                  </a:schemeClr>
                </a:solidFill>
                <a:latin typeface="Aptos" panose="020B0004020202020204" pitchFamily="34" charset="0"/>
              </a:rPr>
              <a:t>It solves complex problems by:</a:t>
            </a:r>
          </a:p>
          <a:p>
            <a:pPr>
              <a:buFont typeface="Arial" panose="020B0604020202020204" pitchFamily="34" charset="0"/>
              <a:buChar char="•"/>
            </a:pPr>
            <a:r>
              <a:rPr lang="en-US" sz="2400" dirty="0">
                <a:solidFill>
                  <a:schemeClr val="tx1">
                    <a:lumMod val="95000"/>
                    <a:lumOff val="5000"/>
                  </a:schemeClr>
                </a:solidFill>
                <a:latin typeface="Aptos" panose="020B0004020202020204" pitchFamily="34" charset="0"/>
              </a:rPr>
              <a:t>Using stored expert knowledge</a:t>
            </a:r>
          </a:p>
          <a:p>
            <a:pPr>
              <a:buFont typeface="Arial" panose="020B0604020202020204" pitchFamily="34" charset="0"/>
              <a:buChar char="•"/>
            </a:pPr>
            <a:r>
              <a:rPr lang="en-US" sz="2400" dirty="0">
                <a:solidFill>
                  <a:schemeClr val="tx1">
                    <a:lumMod val="95000"/>
                    <a:lumOff val="5000"/>
                  </a:schemeClr>
                </a:solidFill>
                <a:latin typeface="Aptos" panose="020B0004020202020204" pitchFamily="34" charset="0"/>
              </a:rPr>
              <a:t>Applying logical reasoning</a:t>
            </a:r>
          </a:p>
          <a:p>
            <a:pPr>
              <a:buFont typeface="Arial" panose="020B0604020202020204" pitchFamily="34" charset="0"/>
              <a:buChar char="•"/>
            </a:pPr>
            <a:r>
              <a:rPr lang="en-US" sz="2400" dirty="0">
                <a:solidFill>
                  <a:schemeClr val="tx1">
                    <a:lumMod val="95000"/>
                    <a:lumOff val="5000"/>
                  </a:schemeClr>
                </a:solidFill>
                <a:latin typeface="Aptos" panose="020B0004020202020204" pitchFamily="34" charset="0"/>
              </a:rPr>
              <a:t>Giving advice, diagnosis, or decisions</a:t>
            </a:r>
          </a:p>
          <a:p>
            <a:pPr marL="0" indent="0">
              <a:buNone/>
            </a:pPr>
            <a:r>
              <a:rPr lang="en-US" sz="2400" dirty="0">
                <a:solidFill>
                  <a:schemeClr val="tx1">
                    <a:lumMod val="95000"/>
                    <a:lumOff val="5000"/>
                  </a:schemeClr>
                </a:solidFill>
                <a:latin typeface="Aptos" panose="020B0004020202020204" pitchFamily="34" charset="0"/>
              </a:rPr>
              <a:t>It behaves like a </a:t>
            </a:r>
            <a:r>
              <a:rPr lang="en-US" sz="2400" b="1" dirty="0">
                <a:solidFill>
                  <a:schemeClr val="tx1">
                    <a:lumMod val="95000"/>
                    <a:lumOff val="5000"/>
                  </a:schemeClr>
                </a:solidFill>
                <a:latin typeface="Aptos" panose="020B0004020202020204" pitchFamily="34" charset="0"/>
              </a:rPr>
              <a:t>human specialist</a:t>
            </a:r>
            <a:r>
              <a:rPr lang="en-US" sz="2400" dirty="0">
                <a:solidFill>
                  <a:schemeClr val="tx1">
                    <a:lumMod val="95000"/>
                    <a:lumOff val="5000"/>
                  </a:schemeClr>
                </a:solidFill>
                <a:latin typeface="Aptos" panose="020B0004020202020204" pitchFamily="34" charset="0"/>
              </a:rPr>
              <a:t>, but in software form.</a:t>
            </a:r>
          </a:p>
        </p:txBody>
      </p:sp>
    </p:spTree>
    <p:extLst>
      <p:ext uri="{BB962C8B-B14F-4D97-AF65-F5344CB8AC3E}">
        <p14:creationId xmlns:p14="http://schemas.microsoft.com/office/powerpoint/2010/main" val="27418105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52700" y="1219200"/>
            <a:ext cx="7086600" cy="635000"/>
          </a:xfrm>
          <a:prstGeom prst="rect">
            <a:avLst/>
          </a:prstGeom>
        </p:spPr>
        <p:txBody>
          <a:bodyPr vert="horz" wrap="square" lIns="0" tIns="12065" rIns="0" bIns="0" rtlCol="0" anchor="ctr">
            <a:spAutoFit/>
          </a:bodyPr>
          <a:lstStyle/>
          <a:p>
            <a:pPr marL="12700" algn="l">
              <a:lnSpc>
                <a:spcPct val="100000"/>
              </a:lnSpc>
              <a:spcBef>
                <a:spcPts val="95"/>
              </a:spcBef>
            </a:pPr>
            <a:r>
              <a:rPr lang="en-US" b="1" cap="none" spc="-85" dirty="0">
                <a:solidFill>
                  <a:schemeClr val="tx1">
                    <a:lumMod val="95000"/>
                    <a:lumOff val="5000"/>
                  </a:schemeClr>
                </a:solidFill>
                <a:latin typeface="Aptos" panose="020B0004020202020204" pitchFamily="34" charset="0"/>
              </a:rPr>
              <a:t>Advantages </a:t>
            </a:r>
            <a:r>
              <a:rPr lang="en-US" b="1" cap="none" spc="-180" dirty="0">
                <a:solidFill>
                  <a:schemeClr val="tx1">
                    <a:lumMod val="95000"/>
                    <a:lumOff val="5000"/>
                  </a:schemeClr>
                </a:solidFill>
                <a:latin typeface="Aptos" panose="020B0004020202020204" pitchFamily="34" charset="0"/>
              </a:rPr>
              <a:t>Of </a:t>
            </a:r>
            <a:r>
              <a:rPr lang="en-US" b="1" cap="none" spc="-160" dirty="0">
                <a:solidFill>
                  <a:schemeClr val="tx1">
                    <a:lumMod val="95000"/>
                    <a:lumOff val="5000"/>
                  </a:schemeClr>
                </a:solidFill>
                <a:latin typeface="Aptos" panose="020B0004020202020204" pitchFamily="34" charset="0"/>
              </a:rPr>
              <a:t>Expert</a:t>
            </a:r>
            <a:r>
              <a:rPr lang="en-US" b="1" cap="none" spc="-360" dirty="0">
                <a:solidFill>
                  <a:schemeClr val="tx1">
                    <a:lumMod val="95000"/>
                    <a:lumOff val="5000"/>
                  </a:schemeClr>
                </a:solidFill>
                <a:latin typeface="Aptos" panose="020B0004020202020204" pitchFamily="34" charset="0"/>
              </a:rPr>
              <a:t> </a:t>
            </a:r>
            <a:r>
              <a:rPr lang="en-US" b="1" cap="none" spc="-20" dirty="0">
                <a:solidFill>
                  <a:schemeClr val="tx1">
                    <a:lumMod val="95000"/>
                    <a:lumOff val="5000"/>
                  </a:schemeClr>
                </a:solidFill>
                <a:latin typeface="Aptos" panose="020B0004020202020204" pitchFamily="34" charset="0"/>
              </a:rPr>
              <a:t>Systems</a:t>
            </a:r>
            <a:endParaRPr lang="en-US" b="1" cap="none" dirty="0">
              <a:solidFill>
                <a:schemeClr val="tx1">
                  <a:lumMod val="95000"/>
                  <a:lumOff val="5000"/>
                </a:schemeClr>
              </a:solidFill>
              <a:latin typeface="Aptos" panose="020B0004020202020204" pitchFamily="34" charset="0"/>
            </a:endParaRPr>
          </a:p>
        </p:txBody>
      </p:sp>
      <p:sp>
        <p:nvSpPr>
          <p:cNvPr id="3" name="object 3"/>
          <p:cNvSpPr txBox="1"/>
          <p:nvPr/>
        </p:nvSpPr>
        <p:spPr>
          <a:xfrm>
            <a:off x="2333308" y="2133601"/>
            <a:ext cx="7525384" cy="4577535"/>
          </a:xfrm>
          <a:prstGeom prst="rect">
            <a:avLst/>
          </a:prstGeom>
        </p:spPr>
        <p:txBody>
          <a:bodyPr vert="horz" wrap="square" lIns="0" tIns="12065" rIns="0" bIns="0" rtlCol="0">
            <a:spAutoFit/>
          </a:bodyPr>
          <a:lstStyle/>
          <a:p>
            <a:pPr marL="12065" marR="5080">
              <a:spcBef>
                <a:spcPts val="95"/>
              </a:spcBef>
              <a:buClr>
                <a:srgbClr val="D24717"/>
              </a:buClr>
              <a:buSzPct val="83928"/>
              <a:tabLst>
                <a:tab pos="287020" algn="l"/>
              </a:tabLst>
            </a:pPr>
            <a:r>
              <a:rPr sz="2800" spc="-80" dirty="0">
                <a:latin typeface="Aptos" panose="020B0004020202020204" pitchFamily="34" charset="0"/>
                <a:cs typeface="Times New Roman"/>
              </a:rPr>
              <a:t>Put </a:t>
            </a:r>
            <a:r>
              <a:rPr sz="2800" spc="-100" dirty="0">
                <a:latin typeface="Aptos" panose="020B0004020202020204" pitchFamily="34" charset="0"/>
                <a:cs typeface="Times New Roman"/>
              </a:rPr>
              <a:t>another </a:t>
            </a:r>
            <a:r>
              <a:rPr sz="2800" spc="-225" dirty="0">
                <a:latin typeface="Aptos" panose="020B0004020202020204" pitchFamily="34" charset="0"/>
                <a:cs typeface="Times New Roman"/>
              </a:rPr>
              <a:t>way, </a:t>
            </a:r>
            <a:r>
              <a:rPr sz="2800" spc="-110" dirty="0">
                <a:latin typeface="Aptos" panose="020B0004020202020204" pitchFamily="34" charset="0"/>
                <a:cs typeface="Times New Roman"/>
              </a:rPr>
              <a:t>E.S. </a:t>
            </a:r>
            <a:r>
              <a:rPr sz="2800" spc="-225" dirty="0">
                <a:latin typeface="Aptos" panose="020B0004020202020204" pitchFamily="34" charset="0"/>
                <a:cs typeface="Times New Roman"/>
              </a:rPr>
              <a:t>have </a:t>
            </a:r>
            <a:r>
              <a:rPr sz="2800" spc="-85" dirty="0">
                <a:latin typeface="Aptos" panose="020B0004020202020204" pitchFamily="34" charset="0"/>
                <a:cs typeface="Times New Roman"/>
              </a:rPr>
              <a:t>the </a:t>
            </a:r>
            <a:r>
              <a:rPr sz="2800" spc="-160" dirty="0">
                <a:latin typeface="Aptos" panose="020B0004020202020204" pitchFamily="34" charset="0"/>
                <a:cs typeface="Times New Roman"/>
              </a:rPr>
              <a:t>following </a:t>
            </a:r>
            <a:r>
              <a:rPr sz="2800" spc="-180" dirty="0">
                <a:latin typeface="Aptos" panose="020B0004020202020204" pitchFamily="34" charset="0"/>
                <a:cs typeface="Times New Roman"/>
              </a:rPr>
              <a:t>advantages </a:t>
            </a:r>
            <a:r>
              <a:rPr sz="2800" spc="-235" dirty="0">
                <a:latin typeface="Aptos" panose="020B0004020202020204" pitchFamily="34" charset="0"/>
                <a:cs typeface="Times New Roman"/>
              </a:rPr>
              <a:t>over  </a:t>
            </a:r>
            <a:r>
              <a:rPr sz="2800" spc="-165" dirty="0">
                <a:latin typeface="Aptos" panose="020B0004020202020204" pitchFamily="34" charset="0"/>
                <a:cs typeface="Times New Roman"/>
              </a:rPr>
              <a:t>human</a:t>
            </a:r>
            <a:r>
              <a:rPr sz="2800" spc="-70" dirty="0">
                <a:latin typeface="Aptos" panose="020B0004020202020204" pitchFamily="34" charset="0"/>
                <a:cs typeface="Times New Roman"/>
              </a:rPr>
              <a:t> </a:t>
            </a:r>
            <a:r>
              <a:rPr sz="2800" spc="-60" dirty="0">
                <a:latin typeface="Aptos" panose="020B0004020202020204" pitchFamily="34" charset="0"/>
                <a:cs typeface="Times New Roman"/>
              </a:rPr>
              <a:t>experts:</a:t>
            </a:r>
            <a:endParaRPr sz="2800" dirty="0">
              <a:latin typeface="Aptos" panose="020B0004020202020204" pitchFamily="34" charset="0"/>
              <a:cs typeface="Times New Roman"/>
            </a:endParaRPr>
          </a:p>
          <a:p>
            <a:pPr marL="788670" lvl="1" indent="-457200">
              <a:spcBef>
                <a:spcPts val="414"/>
              </a:spcBef>
              <a:buClr>
                <a:srgbClr val="9B2C1F"/>
              </a:buClr>
              <a:buSzPct val="80357"/>
              <a:buFont typeface="Arial" panose="020B0604020202020204" pitchFamily="34" charset="0"/>
              <a:buChar char="•"/>
              <a:tabLst>
                <a:tab pos="561340" algn="l"/>
              </a:tabLst>
            </a:pPr>
            <a:r>
              <a:rPr sz="2800" spc="-140" dirty="0">
                <a:latin typeface="Aptos" panose="020B0004020202020204" pitchFamily="34" charset="0"/>
                <a:cs typeface="Times New Roman"/>
              </a:rPr>
              <a:t>The </a:t>
            </a:r>
            <a:r>
              <a:rPr sz="2800" spc="-150" dirty="0">
                <a:latin typeface="Aptos" panose="020B0004020202020204" pitchFamily="34" charset="0"/>
                <a:cs typeface="Times New Roman"/>
              </a:rPr>
              <a:t>knowledge </a:t>
            </a:r>
            <a:r>
              <a:rPr sz="2800" spc="-180" dirty="0">
                <a:latin typeface="Aptos" panose="020B0004020202020204" pitchFamily="34" charset="0"/>
                <a:cs typeface="Times New Roman"/>
              </a:rPr>
              <a:t>is</a:t>
            </a:r>
            <a:r>
              <a:rPr sz="2800" spc="75" dirty="0">
                <a:latin typeface="Aptos" panose="020B0004020202020204" pitchFamily="34" charset="0"/>
                <a:cs typeface="Times New Roman"/>
              </a:rPr>
              <a:t> </a:t>
            </a:r>
            <a:r>
              <a:rPr sz="2800" spc="-95" dirty="0">
                <a:solidFill>
                  <a:srgbClr val="FF0000"/>
                </a:solidFill>
                <a:latin typeface="Aptos" panose="020B0004020202020204" pitchFamily="34" charset="0"/>
                <a:cs typeface="Times New Roman"/>
              </a:rPr>
              <a:t>permanent</a:t>
            </a:r>
            <a:endParaRPr sz="2800" dirty="0">
              <a:latin typeface="Aptos" panose="020B0004020202020204" pitchFamily="34" charset="0"/>
              <a:cs typeface="Times New Roman"/>
            </a:endParaRPr>
          </a:p>
          <a:p>
            <a:pPr marL="788670" lvl="1" indent="-457200">
              <a:spcBef>
                <a:spcPts val="395"/>
              </a:spcBef>
              <a:buClr>
                <a:srgbClr val="9B2C1F"/>
              </a:buClr>
              <a:buSzPct val="80357"/>
              <a:buFont typeface="Arial" panose="020B0604020202020204" pitchFamily="34" charset="0"/>
              <a:buChar char="•"/>
              <a:tabLst>
                <a:tab pos="561340" algn="l"/>
              </a:tabLst>
            </a:pPr>
            <a:r>
              <a:rPr sz="2800" spc="-140" dirty="0">
                <a:latin typeface="Aptos" panose="020B0004020202020204" pitchFamily="34" charset="0"/>
                <a:cs typeface="Times New Roman"/>
              </a:rPr>
              <a:t>The </a:t>
            </a:r>
            <a:r>
              <a:rPr sz="2800" spc="-150" dirty="0">
                <a:latin typeface="Aptos" panose="020B0004020202020204" pitchFamily="34" charset="0"/>
                <a:cs typeface="Times New Roman"/>
              </a:rPr>
              <a:t>knowledge </a:t>
            </a:r>
            <a:r>
              <a:rPr sz="2800" spc="-180" dirty="0">
                <a:latin typeface="Aptos" panose="020B0004020202020204" pitchFamily="34" charset="0"/>
                <a:cs typeface="Times New Roman"/>
              </a:rPr>
              <a:t>is </a:t>
            </a:r>
            <a:r>
              <a:rPr sz="2800" spc="-185" dirty="0">
                <a:solidFill>
                  <a:srgbClr val="FF0000"/>
                </a:solidFill>
                <a:latin typeface="Aptos" panose="020B0004020202020204" pitchFamily="34" charset="0"/>
                <a:cs typeface="Times New Roman"/>
              </a:rPr>
              <a:t>easily</a:t>
            </a:r>
            <a:r>
              <a:rPr sz="2800" spc="170" dirty="0">
                <a:solidFill>
                  <a:srgbClr val="FF0000"/>
                </a:solidFill>
                <a:latin typeface="Aptos" panose="020B0004020202020204" pitchFamily="34" charset="0"/>
                <a:cs typeface="Times New Roman"/>
              </a:rPr>
              <a:t> </a:t>
            </a:r>
            <a:r>
              <a:rPr sz="2800" spc="-110" dirty="0">
                <a:solidFill>
                  <a:srgbClr val="FF0000"/>
                </a:solidFill>
                <a:latin typeface="Aptos" panose="020B0004020202020204" pitchFamily="34" charset="0"/>
                <a:cs typeface="Times New Roman"/>
              </a:rPr>
              <a:t>replicated</a:t>
            </a:r>
            <a:endParaRPr sz="2800" dirty="0">
              <a:latin typeface="Aptos" panose="020B0004020202020204" pitchFamily="34" charset="0"/>
              <a:cs typeface="Times New Roman"/>
            </a:endParaRPr>
          </a:p>
          <a:p>
            <a:pPr marL="789305" marR="361315" lvl="1" indent="-457200">
              <a:spcBef>
                <a:spcPts val="395"/>
              </a:spcBef>
              <a:buClr>
                <a:srgbClr val="9B2C1F"/>
              </a:buClr>
              <a:buSzPct val="80357"/>
              <a:buFont typeface="Arial" panose="020B0604020202020204" pitchFamily="34" charset="0"/>
              <a:buChar char="•"/>
              <a:tabLst>
                <a:tab pos="561340" algn="l"/>
              </a:tabLst>
            </a:pPr>
            <a:r>
              <a:rPr sz="2800" spc="-140" dirty="0">
                <a:latin typeface="Aptos" panose="020B0004020202020204" pitchFamily="34" charset="0"/>
                <a:cs typeface="Times New Roman"/>
              </a:rPr>
              <a:t>The </a:t>
            </a:r>
            <a:r>
              <a:rPr sz="2800" spc="-150" dirty="0">
                <a:latin typeface="Aptos" panose="020B0004020202020204" pitchFamily="34" charset="0"/>
                <a:cs typeface="Times New Roman"/>
              </a:rPr>
              <a:t>knowledge </a:t>
            </a:r>
            <a:r>
              <a:rPr sz="2800" spc="-180" dirty="0">
                <a:latin typeface="Aptos" panose="020B0004020202020204" pitchFamily="34" charset="0"/>
                <a:cs typeface="Times New Roman"/>
              </a:rPr>
              <a:t>is </a:t>
            </a:r>
            <a:r>
              <a:rPr sz="2800" spc="-90" dirty="0">
                <a:solidFill>
                  <a:srgbClr val="FF0000"/>
                </a:solidFill>
                <a:latin typeface="Aptos" panose="020B0004020202020204" pitchFamily="34" charset="0"/>
                <a:cs typeface="Times New Roman"/>
              </a:rPr>
              <a:t>represented </a:t>
            </a:r>
            <a:r>
              <a:rPr sz="2800" spc="-130" dirty="0">
                <a:solidFill>
                  <a:srgbClr val="FF0000"/>
                </a:solidFill>
                <a:latin typeface="Aptos" panose="020B0004020202020204" pitchFamily="34" charset="0"/>
                <a:cs typeface="Times New Roman"/>
              </a:rPr>
              <a:t>explicitly</a:t>
            </a:r>
            <a:r>
              <a:rPr sz="2800" spc="-130" dirty="0">
                <a:latin typeface="Aptos" panose="020B0004020202020204" pitchFamily="34" charset="0"/>
                <a:cs typeface="Times New Roman"/>
              </a:rPr>
              <a:t>, </a:t>
            </a:r>
            <a:r>
              <a:rPr sz="2800" spc="-160" dirty="0">
                <a:latin typeface="Aptos" panose="020B0004020202020204" pitchFamily="34" charset="0"/>
                <a:cs typeface="Times New Roman"/>
              </a:rPr>
              <a:t>and </a:t>
            </a:r>
            <a:r>
              <a:rPr sz="2800" spc="-170" dirty="0">
                <a:latin typeface="Aptos" panose="020B0004020202020204" pitchFamily="34" charset="0"/>
                <a:cs typeface="Times New Roman"/>
              </a:rPr>
              <a:t>can </a:t>
            </a:r>
            <a:r>
              <a:rPr sz="2800" spc="-325" dirty="0">
                <a:latin typeface="Aptos" panose="020B0004020202020204" pitchFamily="34" charset="0"/>
                <a:cs typeface="Times New Roman"/>
              </a:rPr>
              <a:t>be  </a:t>
            </a:r>
            <a:r>
              <a:rPr sz="2800" spc="-150" dirty="0">
                <a:latin typeface="Aptos" panose="020B0004020202020204" pitchFamily="34" charset="0"/>
                <a:cs typeface="Times New Roman"/>
              </a:rPr>
              <a:t>evaluated</a:t>
            </a:r>
            <a:endParaRPr sz="2800" dirty="0">
              <a:latin typeface="Aptos" panose="020B0004020202020204" pitchFamily="34" charset="0"/>
              <a:cs typeface="Times New Roman"/>
            </a:endParaRPr>
          </a:p>
          <a:p>
            <a:pPr marL="789305" marR="1134110" lvl="1" indent="-457200">
              <a:spcBef>
                <a:spcPts val="409"/>
              </a:spcBef>
              <a:buClr>
                <a:srgbClr val="9B2C1F"/>
              </a:buClr>
              <a:buSzPct val="80357"/>
              <a:buFont typeface="Arial" panose="020B0604020202020204" pitchFamily="34" charset="0"/>
              <a:buChar char="•"/>
              <a:tabLst>
                <a:tab pos="561340" algn="l"/>
              </a:tabLst>
            </a:pPr>
            <a:r>
              <a:rPr sz="2800" spc="-140" dirty="0">
                <a:latin typeface="Aptos" panose="020B0004020202020204" pitchFamily="34" charset="0"/>
                <a:cs typeface="Times New Roman"/>
              </a:rPr>
              <a:t>The </a:t>
            </a:r>
            <a:r>
              <a:rPr sz="2800" spc="-155" dirty="0">
                <a:latin typeface="Aptos" panose="020B0004020202020204" pitchFamily="34" charset="0"/>
                <a:cs typeface="Times New Roman"/>
              </a:rPr>
              <a:t>system </a:t>
            </a:r>
            <a:r>
              <a:rPr sz="2800" spc="-180" dirty="0">
                <a:latin typeface="Aptos" panose="020B0004020202020204" pitchFamily="34" charset="0"/>
                <a:cs typeface="Times New Roman"/>
              </a:rPr>
              <a:t>is </a:t>
            </a:r>
            <a:r>
              <a:rPr sz="2800" spc="-114" dirty="0">
                <a:solidFill>
                  <a:srgbClr val="FF0000"/>
                </a:solidFill>
                <a:latin typeface="Aptos" panose="020B0004020202020204" pitchFamily="34" charset="0"/>
                <a:cs typeface="Times New Roman"/>
              </a:rPr>
              <a:t>consistent </a:t>
            </a:r>
            <a:r>
              <a:rPr sz="2800" spc="-60" dirty="0">
                <a:latin typeface="Aptos" panose="020B0004020202020204" pitchFamily="34" charset="0"/>
                <a:cs typeface="Times New Roman"/>
              </a:rPr>
              <a:t>- </a:t>
            </a:r>
            <a:r>
              <a:rPr sz="2800" spc="-145" dirty="0">
                <a:latin typeface="Aptos" panose="020B0004020202020204" pitchFamily="34" charset="0"/>
                <a:cs typeface="Times New Roman"/>
              </a:rPr>
              <a:t>whereas </a:t>
            </a:r>
            <a:r>
              <a:rPr sz="2800" spc="-160" dirty="0">
                <a:latin typeface="Aptos" panose="020B0004020202020204" pitchFamily="34" charset="0"/>
                <a:cs typeface="Times New Roman"/>
              </a:rPr>
              <a:t>human  </a:t>
            </a:r>
            <a:r>
              <a:rPr sz="2800" spc="-90" dirty="0">
                <a:latin typeface="Aptos" panose="020B0004020202020204" pitchFamily="34" charset="0"/>
                <a:cs typeface="Times New Roman"/>
              </a:rPr>
              <a:t>practitioners </a:t>
            </a:r>
            <a:r>
              <a:rPr sz="2800" spc="-225" dirty="0">
                <a:latin typeface="Aptos" panose="020B0004020202020204" pitchFamily="34" charset="0"/>
                <a:cs typeface="Times New Roman"/>
              </a:rPr>
              <a:t>have </a:t>
            </a:r>
            <a:r>
              <a:rPr sz="2800" spc="-165" dirty="0">
                <a:latin typeface="Aptos" panose="020B0004020202020204" pitchFamily="34" charset="0"/>
                <a:cs typeface="Times New Roman"/>
              </a:rPr>
              <a:t>bad </a:t>
            </a:r>
            <a:r>
              <a:rPr sz="2800" spc="-155" dirty="0">
                <a:latin typeface="Aptos" panose="020B0004020202020204" pitchFamily="34" charset="0"/>
                <a:cs typeface="Times New Roman"/>
              </a:rPr>
              <a:t>days, </a:t>
            </a:r>
            <a:r>
              <a:rPr sz="2800" spc="-100" dirty="0">
                <a:latin typeface="Aptos" panose="020B0004020202020204" pitchFamily="34" charset="0"/>
                <a:cs typeface="Times New Roman"/>
              </a:rPr>
              <a:t>computers</a:t>
            </a:r>
            <a:r>
              <a:rPr sz="2800" spc="130" dirty="0">
                <a:latin typeface="Aptos" panose="020B0004020202020204" pitchFamily="34" charset="0"/>
                <a:cs typeface="Times New Roman"/>
              </a:rPr>
              <a:t> </a:t>
            </a:r>
            <a:r>
              <a:rPr sz="2800" spc="-80" dirty="0">
                <a:latin typeface="Aptos" panose="020B0004020202020204" pitchFamily="34" charset="0"/>
                <a:cs typeface="Times New Roman"/>
              </a:rPr>
              <a:t>don’t.</a:t>
            </a:r>
            <a:endParaRPr sz="2800" dirty="0">
              <a:latin typeface="Aptos" panose="020B0004020202020204" pitchFamily="34" charset="0"/>
              <a:cs typeface="Times New Roman"/>
            </a:endParaRPr>
          </a:p>
          <a:p>
            <a:pPr marL="788670" lvl="1" indent="-457200">
              <a:spcBef>
                <a:spcPts val="400"/>
              </a:spcBef>
              <a:buClr>
                <a:srgbClr val="9B2C1F"/>
              </a:buClr>
              <a:buSzPct val="80357"/>
              <a:buFont typeface="Arial" panose="020B0604020202020204" pitchFamily="34" charset="0"/>
              <a:buChar char="•"/>
              <a:tabLst>
                <a:tab pos="561340" algn="l"/>
              </a:tabLst>
            </a:pPr>
            <a:r>
              <a:rPr sz="2800" spc="-95" dirty="0">
                <a:latin typeface="Aptos" panose="020B0004020202020204" pitchFamily="34" charset="0"/>
                <a:cs typeface="Times New Roman"/>
              </a:rPr>
              <a:t>Once </a:t>
            </a:r>
            <a:r>
              <a:rPr sz="2800" spc="-65" dirty="0">
                <a:latin typeface="Aptos" panose="020B0004020202020204" pitchFamily="34" charset="0"/>
                <a:cs typeface="Times New Roman"/>
              </a:rPr>
              <a:t>built, </a:t>
            </a:r>
            <a:r>
              <a:rPr sz="2800" spc="-110" dirty="0">
                <a:solidFill>
                  <a:srgbClr val="FF0000"/>
                </a:solidFill>
                <a:latin typeface="Aptos" panose="020B0004020202020204" pitchFamily="34" charset="0"/>
                <a:cs typeface="Times New Roman"/>
              </a:rPr>
              <a:t>running </a:t>
            </a:r>
            <a:r>
              <a:rPr sz="2800" spc="-140" dirty="0">
                <a:solidFill>
                  <a:srgbClr val="FF0000"/>
                </a:solidFill>
                <a:latin typeface="Aptos" panose="020B0004020202020204" pitchFamily="34" charset="0"/>
                <a:cs typeface="Times New Roman"/>
              </a:rPr>
              <a:t>costs </a:t>
            </a:r>
            <a:r>
              <a:rPr sz="2800" spc="-114" dirty="0">
                <a:solidFill>
                  <a:srgbClr val="FF0000"/>
                </a:solidFill>
                <a:latin typeface="Aptos" panose="020B0004020202020204" pitchFamily="34" charset="0"/>
                <a:cs typeface="Times New Roman"/>
              </a:rPr>
              <a:t>are</a:t>
            </a:r>
            <a:r>
              <a:rPr sz="2800" spc="-70" dirty="0">
                <a:solidFill>
                  <a:srgbClr val="FF0000"/>
                </a:solidFill>
                <a:latin typeface="Aptos" panose="020B0004020202020204" pitchFamily="34" charset="0"/>
                <a:cs typeface="Times New Roman"/>
              </a:rPr>
              <a:t> </a:t>
            </a:r>
            <a:r>
              <a:rPr sz="2800" spc="-160" dirty="0">
                <a:solidFill>
                  <a:srgbClr val="FF0000"/>
                </a:solidFill>
                <a:latin typeface="Aptos" panose="020B0004020202020204" pitchFamily="34" charset="0"/>
                <a:cs typeface="Times New Roman"/>
              </a:rPr>
              <a:t>low</a:t>
            </a:r>
            <a:endParaRPr sz="2800" dirty="0">
              <a:latin typeface="Aptos" panose="020B0004020202020204" pitchFamily="34" charset="0"/>
              <a:cs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86200" y="914400"/>
            <a:ext cx="6550356" cy="635000"/>
          </a:xfrm>
          <a:prstGeom prst="rect">
            <a:avLst/>
          </a:prstGeom>
        </p:spPr>
        <p:txBody>
          <a:bodyPr vert="horz" wrap="square" lIns="0" tIns="12065" rIns="0" bIns="0" rtlCol="0" anchor="ctr">
            <a:spAutoFit/>
          </a:bodyPr>
          <a:lstStyle/>
          <a:p>
            <a:pPr marL="12700" algn="l">
              <a:lnSpc>
                <a:spcPct val="100000"/>
              </a:lnSpc>
              <a:spcBef>
                <a:spcPts val="95"/>
              </a:spcBef>
            </a:pPr>
            <a:r>
              <a:rPr lang="en-US" b="1" cap="none" spc="-35" dirty="0">
                <a:solidFill>
                  <a:schemeClr val="tx1">
                    <a:lumMod val="95000"/>
                    <a:lumOff val="5000"/>
                  </a:schemeClr>
                </a:solidFill>
                <a:latin typeface="Aptos" panose="020B0004020202020204" pitchFamily="34" charset="0"/>
              </a:rPr>
              <a:t>Disadvantages </a:t>
            </a:r>
            <a:r>
              <a:rPr lang="en-US" b="1" cap="none" spc="-180" dirty="0">
                <a:solidFill>
                  <a:schemeClr val="tx1">
                    <a:lumMod val="95000"/>
                    <a:lumOff val="5000"/>
                  </a:schemeClr>
                </a:solidFill>
                <a:latin typeface="Aptos" panose="020B0004020202020204" pitchFamily="34" charset="0"/>
              </a:rPr>
              <a:t>Of </a:t>
            </a:r>
            <a:r>
              <a:rPr lang="en-US" b="1" cap="none" spc="-160" dirty="0">
                <a:solidFill>
                  <a:schemeClr val="tx1">
                    <a:lumMod val="95000"/>
                    <a:lumOff val="5000"/>
                  </a:schemeClr>
                </a:solidFill>
                <a:latin typeface="Aptos" panose="020B0004020202020204" pitchFamily="34" charset="0"/>
              </a:rPr>
              <a:t>ES</a:t>
            </a:r>
            <a:endParaRPr lang="en-US" b="1" cap="none" dirty="0">
              <a:solidFill>
                <a:schemeClr val="tx1">
                  <a:lumMod val="95000"/>
                  <a:lumOff val="5000"/>
                </a:schemeClr>
              </a:solidFill>
              <a:latin typeface="Aptos" panose="020B0004020202020204" pitchFamily="34" charset="0"/>
            </a:endParaRPr>
          </a:p>
        </p:txBody>
      </p:sp>
      <p:sp>
        <p:nvSpPr>
          <p:cNvPr id="3" name="object 3"/>
          <p:cNvSpPr txBox="1"/>
          <p:nvPr/>
        </p:nvSpPr>
        <p:spPr>
          <a:xfrm>
            <a:off x="1676400" y="1752600"/>
            <a:ext cx="8686800" cy="4814780"/>
          </a:xfrm>
          <a:prstGeom prst="rect">
            <a:avLst/>
          </a:prstGeom>
        </p:spPr>
        <p:txBody>
          <a:bodyPr vert="horz" wrap="square" lIns="0" tIns="13335" rIns="0" bIns="0" rtlCol="0">
            <a:spAutoFit/>
          </a:bodyPr>
          <a:lstStyle/>
          <a:p>
            <a:pPr marL="469265" marR="67310" indent="-457200">
              <a:buClr>
                <a:srgbClr val="D24717"/>
              </a:buClr>
              <a:buSzPct val="84615"/>
              <a:buFont typeface="Arial" panose="020B0604020202020204" pitchFamily="34" charset="0"/>
              <a:buChar char="•"/>
              <a:tabLst>
                <a:tab pos="287655" algn="l"/>
              </a:tabLst>
            </a:pPr>
            <a:r>
              <a:rPr lang="en-US" sz="2600" spc="-145" dirty="0">
                <a:latin typeface="Aptos" panose="020B0004020202020204" pitchFamily="34" charset="0"/>
                <a:cs typeface="Times New Roman"/>
              </a:rPr>
              <a:t>Developing </a:t>
            </a:r>
            <a:r>
              <a:rPr lang="en-US" sz="2600" spc="-160" dirty="0">
                <a:latin typeface="Aptos" panose="020B0004020202020204" pitchFamily="34" charset="0"/>
                <a:cs typeface="Times New Roman"/>
              </a:rPr>
              <a:t>an </a:t>
            </a:r>
            <a:r>
              <a:rPr lang="en-US" sz="2600" spc="-45" dirty="0">
                <a:latin typeface="Aptos" panose="020B0004020202020204" pitchFamily="34" charset="0"/>
                <a:cs typeface="Times New Roman"/>
              </a:rPr>
              <a:t>expert </a:t>
            </a:r>
            <a:r>
              <a:rPr lang="en-US" sz="2600" spc="-140" dirty="0">
                <a:latin typeface="Aptos" panose="020B0004020202020204" pitchFamily="34" charset="0"/>
                <a:cs typeface="Times New Roman"/>
              </a:rPr>
              <a:t>system </a:t>
            </a:r>
            <a:r>
              <a:rPr lang="en-US" sz="2600" spc="-160" dirty="0">
                <a:latin typeface="Aptos" panose="020B0004020202020204" pitchFamily="34" charset="0"/>
                <a:cs typeface="Times New Roman"/>
              </a:rPr>
              <a:t>usually </a:t>
            </a:r>
            <a:r>
              <a:rPr lang="en-US" sz="2600" spc="-130" dirty="0">
                <a:latin typeface="Aptos" panose="020B0004020202020204" pitchFamily="34" charset="0"/>
                <a:cs typeface="Times New Roman"/>
              </a:rPr>
              <a:t>costs </a:t>
            </a:r>
            <a:r>
              <a:rPr lang="en-US" sz="2600" spc="-204" dirty="0">
                <a:latin typeface="Aptos" panose="020B0004020202020204" pitchFamily="34" charset="0"/>
                <a:cs typeface="Times New Roman"/>
              </a:rPr>
              <a:t>a </a:t>
            </a:r>
            <a:r>
              <a:rPr lang="en-US" sz="2600" spc="-95" dirty="0">
                <a:latin typeface="Aptos" panose="020B0004020202020204" pitchFamily="34" charset="0"/>
                <a:cs typeface="Times New Roman"/>
              </a:rPr>
              <a:t>great </a:t>
            </a:r>
            <a:r>
              <a:rPr lang="en-US" sz="2600" spc="-130" dirty="0">
                <a:latin typeface="Aptos" panose="020B0004020202020204" pitchFamily="34" charset="0"/>
                <a:cs typeface="Times New Roman"/>
              </a:rPr>
              <a:t>deal </a:t>
            </a:r>
            <a:r>
              <a:rPr lang="en-US" sz="2600" spc="-155" dirty="0">
                <a:latin typeface="Aptos" panose="020B0004020202020204" pitchFamily="34" charset="0"/>
                <a:cs typeface="Times New Roman"/>
              </a:rPr>
              <a:t>of </a:t>
            </a:r>
            <a:r>
              <a:rPr lang="en-US" sz="2600" spc="-180" dirty="0">
                <a:latin typeface="Aptos" panose="020B0004020202020204" pitchFamily="34" charset="0"/>
                <a:cs typeface="Times New Roman"/>
              </a:rPr>
              <a:t>time  </a:t>
            </a:r>
            <a:r>
              <a:rPr lang="en-US" sz="2600" spc="-145" dirty="0">
                <a:latin typeface="Aptos" panose="020B0004020202020204" pitchFamily="34" charset="0"/>
                <a:cs typeface="Times New Roman"/>
              </a:rPr>
              <a:t>and</a:t>
            </a:r>
            <a:r>
              <a:rPr lang="en-US" sz="2600" spc="-80" dirty="0">
                <a:latin typeface="Aptos" panose="020B0004020202020204" pitchFamily="34" charset="0"/>
                <a:cs typeface="Times New Roman"/>
              </a:rPr>
              <a:t> </a:t>
            </a:r>
            <a:r>
              <a:rPr lang="en-US" sz="2600" spc="-150" dirty="0">
                <a:latin typeface="Aptos" panose="020B0004020202020204" pitchFamily="34" charset="0"/>
                <a:cs typeface="Times New Roman"/>
              </a:rPr>
              <a:t>money</a:t>
            </a:r>
            <a:endParaRPr lang="en-US" sz="2600" dirty="0">
              <a:latin typeface="Aptos" panose="020B0004020202020204" pitchFamily="34" charset="0"/>
              <a:cs typeface="Times New Roman"/>
            </a:endParaRPr>
          </a:p>
          <a:p>
            <a:pPr marL="469265" indent="-457200">
              <a:buClr>
                <a:srgbClr val="D24717"/>
              </a:buClr>
              <a:buSzPct val="84615"/>
              <a:buFont typeface="Arial" panose="020B0604020202020204" pitchFamily="34" charset="0"/>
              <a:buChar char="•"/>
              <a:tabLst>
                <a:tab pos="287655" algn="l"/>
              </a:tabLst>
            </a:pPr>
            <a:r>
              <a:rPr lang="en-US" sz="2600" spc="-125" dirty="0">
                <a:latin typeface="Aptos" panose="020B0004020202020204" pitchFamily="34" charset="0"/>
                <a:cs typeface="Times New Roman"/>
              </a:rPr>
              <a:t>Historically, </a:t>
            </a:r>
            <a:r>
              <a:rPr lang="en-US" sz="2600" spc="-65" dirty="0">
                <a:latin typeface="Aptos" panose="020B0004020202020204" pitchFamily="34" charset="0"/>
                <a:cs typeface="Times New Roman"/>
              </a:rPr>
              <a:t>there </a:t>
            </a:r>
            <a:r>
              <a:rPr lang="en-US" sz="2600" spc="-190" dirty="0">
                <a:latin typeface="Aptos" panose="020B0004020202020204" pitchFamily="34" charset="0"/>
                <a:cs typeface="Times New Roman"/>
              </a:rPr>
              <a:t>has </a:t>
            </a:r>
            <a:r>
              <a:rPr lang="en-US" sz="2600" spc="-110" dirty="0">
                <a:latin typeface="Aptos" panose="020B0004020202020204" pitchFamily="34" charset="0"/>
                <a:cs typeface="Times New Roman"/>
              </a:rPr>
              <a:t>been </a:t>
            </a:r>
            <a:r>
              <a:rPr lang="en-US" sz="2600" spc="-204" dirty="0">
                <a:latin typeface="Aptos" panose="020B0004020202020204" pitchFamily="34" charset="0"/>
                <a:cs typeface="Times New Roman"/>
              </a:rPr>
              <a:t>a </a:t>
            </a:r>
            <a:r>
              <a:rPr lang="en-US" sz="2600" spc="-165" dirty="0">
                <a:latin typeface="Aptos" panose="020B0004020202020204" pitchFamily="34" charset="0"/>
                <a:cs typeface="Times New Roman"/>
              </a:rPr>
              <a:t>high </a:t>
            </a:r>
            <a:r>
              <a:rPr lang="en-US" sz="2600" spc="-125" dirty="0">
                <a:latin typeface="Aptos" panose="020B0004020202020204" pitchFamily="34" charset="0"/>
                <a:cs typeface="Times New Roman"/>
              </a:rPr>
              <a:t>failure </a:t>
            </a:r>
            <a:r>
              <a:rPr lang="en-US" sz="2600" spc="-70" dirty="0">
                <a:latin typeface="Aptos" panose="020B0004020202020204" pitchFamily="34" charset="0"/>
                <a:cs typeface="Times New Roman"/>
              </a:rPr>
              <a:t>rate </a:t>
            </a:r>
            <a:r>
              <a:rPr lang="en-US" sz="2600" spc="-120" dirty="0">
                <a:latin typeface="Aptos" panose="020B0004020202020204" pitchFamily="34" charset="0"/>
                <a:cs typeface="Times New Roman"/>
              </a:rPr>
              <a:t>in </a:t>
            </a:r>
            <a:r>
              <a:rPr lang="en-US" sz="2600" spc="-105" dirty="0">
                <a:latin typeface="Aptos" panose="020B0004020202020204" pitchFamily="34" charset="0"/>
                <a:cs typeface="Times New Roman"/>
              </a:rPr>
              <a:t>E.S.</a:t>
            </a:r>
            <a:r>
              <a:rPr lang="en-US" sz="2600" spc="330" dirty="0">
                <a:latin typeface="Aptos" panose="020B0004020202020204" pitchFamily="34" charset="0"/>
                <a:cs typeface="Times New Roman"/>
              </a:rPr>
              <a:t> </a:t>
            </a:r>
            <a:r>
              <a:rPr lang="en-US" sz="2600" spc="-95" dirty="0">
                <a:latin typeface="Aptos" panose="020B0004020202020204" pitchFamily="34" charset="0"/>
                <a:cs typeface="Times New Roman"/>
              </a:rPr>
              <a:t>Projects</a:t>
            </a:r>
            <a:endParaRPr lang="en-US" sz="2600" dirty="0">
              <a:latin typeface="Aptos" panose="020B0004020202020204" pitchFamily="34" charset="0"/>
              <a:cs typeface="Times New Roman"/>
            </a:endParaRPr>
          </a:p>
          <a:p>
            <a:pPr marL="789940" marR="167005" lvl="1" indent="-457200">
              <a:buClr>
                <a:srgbClr val="9B2C1F"/>
              </a:buClr>
              <a:buSzPct val="78846"/>
              <a:buFont typeface="Courier New" panose="02070309020205020404" pitchFamily="49" charset="0"/>
              <a:buChar char="o"/>
              <a:tabLst>
                <a:tab pos="561975" algn="l"/>
              </a:tabLst>
            </a:pPr>
            <a:r>
              <a:rPr lang="en-US" sz="2600" spc="-130" dirty="0">
                <a:latin typeface="Aptos" panose="020B0004020202020204" pitchFamily="34" charset="0"/>
                <a:cs typeface="Times New Roman"/>
              </a:rPr>
              <a:t>The </a:t>
            </a:r>
            <a:r>
              <a:rPr lang="en-US" sz="2600" spc="-85" dirty="0">
                <a:latin typeface="Aptos" panose="020B0004020202020204" pitchFamily="34" charset="0"/>
                <a:cs typeface="Times New Roman"/>
              </a:rPr>
              <a:t>project </a:t>
            </a:r>
            <a:r>
              <a:rPr lang="en-US" sz="2600" spc="-225" dirty="0">
                <a:latin typeface="Aptos" panose="020B0004020202020204" pitchFamily="34" charset="0"/>
                <a:cs typeface="Times New Roman"/>
              </a:rPr>
              <a:t>may </a:t>
            </a:r>
            <a:r>
              <a:rPr lang="en-US" sz="2600" spc="-135" dirty="0">
                <a:latin typeface="Aptos" panose="020B0004020202020204" pitchFamily="34" charset="0"/>
                <a:cs typeface="Times New Roman"/>
              </a:rPr>
              <a:t>well </a:t>
            </a:r>
            <a:r>
              <a:rPr lang="en-US" sz="2600" spc="-165" dirty="0">
                <a:latin typeface="Aptos" panose="020B0004020202020204" pitchFamily="34" charset="0"/>
                <a:cs typeface="Times New Roman"/>
              </a:rPr>
              <a:t>fail </a:t>
            </a:r>
            <a:r>
              <a:rPr lang="en-US" sz="2600" spc="-100" dirty="0">
                <a:latin typeface="Aptos" panose="020B0004020202020204" pitchFamily="34" charset="0"/>
                <a:cs typeface="Times New Roman"/>
              </a:rPr>
              <a:t>during </a:t>
            </a:r>
            <a:r>
              <a:rPr lang="en-US" sz="2600" spc="-114" dirty="0">
                <a:latin typeface="Aptos" panose="020B0004020202020204" pitchFamily="34" charset="0"/>
                <a:cs typeface="Times New Roman"/>
              </a:rPr>
              <a:t>development </a:t>
            </a:r>
            <a:r>
              <a:rPr lang="en-US" sz="2600" spc="-50" dirty="0">
                <a:latin typeface="Aptos" panose="020B0004020202020204" pitchFamily="34" charset="0"/>
                <a:cs typeface="Times New Roman"/>
              </a:rPr>
              <a:t>- </a:t>
            </a:r>
            <a:r>
              <a:rPr lang="en-US" sz="2600" spc="-110" dirty="0">
                <a:latin typeface="Aptos" panose="020B0004020202020204" pitchFamily="34" charset="0"/>
                <a:cs typeface="Times New Roman"/>
              </a:rPr>
              <a:t>most </a:t>
            </a:r>
            <a:r>
              <a:rPr lang="en-US" sz="2600" spc="-204" dirty="0">
                <a:latin typeface="Aptos" panose="020B0004020202020204" pitchFamily="34" charset="0"/>
                <a:cs typeface="Times New Roman"/>
              </a:rPr>
              <a:t>likely  </a:t>
            </a:r>
            <a:r>
              <a:rPr lang="en-US" sz="2600" spc="-105" dirty="0">
                <a:latin typeface="Aptos" panose="020B0004020202020204" pitchFamily="34" charset="0"/>
                <a:cs typeface="Times New Roman"/>
              </a:rPr>
              <a:t>during </a:t>
            </a:r>
            <a:r>
              <a:rPr lang="en-US" sz="2600" spc="-75" dirty="0">
                <a:latin typeface="Aptos" panose="020B0004020202020204" pitchFamily="34" charset="0"/>
                <a:cs typeface="Times New Roman"/>
              </a:rPr>
              <a:t>the </a:t>
            </a:r>
            <a:r>
              <a:rPr lang="en-US" sz="2600" spc="-160" dirty="0">
                <a:latin typeface="Aptos" panose="020B0004020202020204" pitchFamily="34" charset="0"/>
                <a:cs typeface="Times New Roman"/>
              </a:rPr>
              <a:t>“knowledge </a:t>
            </a:r>
            <a:r>
              <a:rPr lang="en-US" sz="2600" spc="-145" dirty="0">
                <a:latin typeface="Aptos" panose="020B0004020202020204" pitchFamily="34" charset="0"/>
                <a:cs typeface="Times New Roman"/>
              </a:rPr>
              <a:t>acquisition”</a:t>
            </a:r>
            <a:r>
              <a:rPr lang="en-US" sz="2600" spc="-150" dirty="0">
                <a:latin typeface="Aptos" panose="020B0004020202020204" pitchFamily="34" charset="0"/>
                <a:cs typeface="Times New Roman"/>
              </a:rPr>
              <a:t> </a:t>
            </a:r>
            <a:r>
              <a:rPr lang="en-US" sz="2600" spc="-120" dirty="0">
                <a:latin typeface="Aptos" panose="020B0004020202020204" pitchFamily="34" charset="0"/>
                <a:cs typeface="Times New Roman"/>
              </a:rPr>
              <a:t>phase.</a:t>
            </a:r>
            <a:endParaRPr lang="en-US" sz="2600" dirty="0">
              <a:latin typeface="Aptos" panose="020B0004020202020204" pitchFamily="34" charset="0"/>
              <a:cs typeface="Times New Roman"/>
            </a:endParaRPr>
          </a:p>
          <a:p>
            <a:pPr marL="789940" marR="5080" lvl="1" indent="-457200">
              <a:buClr>
                <a:srgbClr val="9B2C1F"/>
              </a:buClr>
              <a:buSzPct val="78846"/>
              <a:buFont typeface="Courier New" panose="02070309020205020404" pitchFamily="49" charset="0"/>
              <a:buChar char="o"/>
              <a:tabLst>
                <a:tab pos="561975" algn="l"/>
              </a:tabLst>
            </a:pPr>
            <a:r>
              <a:rPr lang="en-US" sz="2600" spc="-130" dirty="0">
                <a:latin typeface="Aptos" panose="020B0004020202020204" pitchFamily="34" charset="0"/>
                <a:cs typeface="Times New Roman"/>
              </a:rPr>
              <a:t>The </a:t>
            </a:r>
            <a:r>
              <a:rPr lang="en-US" sz="2600" spc="-120" dirty="0">
                <a:latin typeface="Aptos" panose="020B0004020202020204" pitchFamily="34" charset="0"/>
                <a:cs typeface="Times New Roman"/>
              </a:rPr>
              <a:t>development </a:t>
            </a:r>
            <a:r>
              <a:rPr lang="en-US" sz="2600" spc="-225" dirty="0">
                <a:latin typeface="Aptos" panose="020B0004020202020204" pitchFamily="34" charset="0"/>
                <a:cs typeface="Times New Roman"/>
              </a:rPr>
              <a:t>may </a:t>
            </a:r>
            <a:r>
              <a:rPr lang="en-US" sz="2600" spc="-105" dirty="0">
                <a:latin typeface="Aptos" panose="020B0004020202020204" pitchFamily="34" charset="0"/>
                <a:cs typeface="Times New Roman"/>
              </a:rPr>
              <a:t>succeed, </a:t>
            </a:r>
            <a:r>
              <a:rPr lang="en-US" sz="2600" spc="-80" dirty="0">
                <a:latin typeface="Aptos" panose="020B0004020202020204" pitchFamily="34" charset="0"/>
                <a:cs typeface="Times New Roman"/>
              </a:rPr>
              <a:t>but </a:t>
            </a:r>
            <a:r>
              <a:rPr lang="en-US" sz="2600" spc="-75" dirty="0">
                <a:latin typeface="Aptos" panose="020B0004020202020204" pitchFamily="34" charset="0"/>
                <a:cs typeface="Times New Roman"/>
              </a:rPr>
              <a:t>the </a:t>
            </a:r>
            <a:r>
              <a:rPr lang="en-US" sz="2600" spc="-125" dirty="0">
                <a:latin typeface="Aptos" panose="020B0004020202020204" pitchFamily="34" charset="0"/>
                <a:cs typeface="Times New Roman"/>
              </a:rPr>
              <a:t>organization </a:t>
            </a:r>
            <a:r>
              <a:rPr lang="en-US" sz="2600" spc="-225" dirty="0">
                <a:latin typeface="Aptos" panose="020B0004020202020204" pitchFamily="34" charset="0"/>
                <a:cs typeface="Times New Roman"/>
              </a:rPr>
              <a:t>may </a:t>
            </a:r>
            <a:r>
              <a:rPr lang="en-US" sz="2600" spc="-250" dirty="0">
                <a:latin typeface="Aptos" panose="020B0004020202020204" pitchFamily="34" charset="0"/>
                <a:cs typeface="Times New Roman"/>
              </a:rPr>
              <a:t>fail  </a:t>
            </a:r>
            <a:r>
              <a:rPr lang="en-US" sz="2600" spc="-35" dirty="0">
                <a:latin typeface="Aptos" panose="020B0004020202020204" pitchFamily="34" charset="0"/>
                <a:cs typeface="Times New Roman"/>
              </a:rPr>
              <a:t>to </a:t>
            </a:r>
            <a:r>
              <a:rPr lang="en-US" sz="2600" spc="-120" dirty="0">
                <a:latin typeface="Aptos" panose="020B0004020202020204" pitchFamily="34" charset="0"/>
                <a:cs typeface="Times New Roman"/>
              </a:rPr>
              <a:t>accept </a:t>
            </a:r>
            <a:r>
              <a:rPr lang="en-US" sz="2600" spc="-145" dirty="0">
                <a:latin typeface="Aptos" panose="020B0004020202020204" pitchFamily="34" charset="0"/>
                <a:cs typeface="Times New Roman"/>
              </a:rPr>
              <a:t>and </a:t>
            </a:r>
            <a:r>
              <a:rPr lang="en-US" sz="2600" spc="-135" dirty="0">
                <a:latin typeface="Aptos" panose="020B0004020202020204" pitchFamily="34" charset="0"/>
                <a:cs typeface="Times New Roman"/>
              </a:rPr>
              <a:t>use </a:t>
            </a:r>
            <a:r>
              <a:rPr lang="en-US" sz="2600" spc="-75" dirty="0">
                <a:latin typeface="Aptos" panose="020B0004020202020204" pitchFamily="34" charset="0"/>
                <a:cs typeface="Times New Roman"/>
              </a:rPr>
              <a:t>the </a:t>
            </a:r>
            <a:r>
              <a:rPr lang="en-US" sz="2600" spc="-140" dirty="0">
                <a:latin typeface="Aptos" panose="020B0004020202020204" pitchFamily="34" charset="0"/>
                <a:cs typeface="Times New Roman"/>
              </a:rPr>
              <a:t>finished</a:t>
            </a:r>
            <a:r>
              <a:rPr lang="en-US" sz="2600" spc="55" dirty="0">
                <a:latin typeface="Aptos" panose="020B0004020202020204" pitchFamily="34" charset="0"/>
                <a:cs typeface="Times New Roman"/>
              </a:rPr>
              <a:t> </a:t>
            </a:r>
            <a:r>
              <a:rPr lang="en-US" sz="2600" spc="-105" dirty="0">
                <a:latin typeface="Aptos" panose="020B0004020202020204" pitchFamily="34" charset="0"/>
                <a:cs typeface="Times New Roman"/>
              </a:rPr>
              <a:t>system.</a:t>
            </a:r>
            <a:endParaRPr lang="en-US" sz="2600" dirty="0">
              <a:latin typeface="Aptos" panose="020B0004020202020204" pitchFamily="34" charset="0"/>
              <a:cs typeface="Times New Roman"/>
            </a:endParaRPr>
          </a:p>
          <a:p>
            <a:pPr marL="469265" indent="-457200">
              <a:buClr>
                <a:srgbClr val="D24717"/>
              </a:buClr>
              <a:buSzPct val="84615"/>
              <a:buFont typeface="Arial" panose="020B0604020202020204" pitchFamily="34" charset="0"/>
              <a:buChar char="•"/>
              <a:tabLst>
                <a:tab pos="287655" algn="l"/>
              </a:tabLst>
            </a:pPr>
            <a:r>
              <a:rPr lang="en-US" sz="2600" spc="-330" dirty="0">
                <a:latin typeface="Aptos" panose="020B0004020202020204" pitchFamily="34" charset="0"/>
                <a:cs typeface="Times New Roman"/>
              </a:rPr>
              <a:t>A  </a:t>
            </a:r>
            <a:r>
              <a:rPr lang="en-US" sz="2600" spc="-150" dirty="0">
                <a:latin typeface="Aptos" panose="020B0004020202020204" pitchFamily="34" charset="0"/>
                <a:cs typeface="Times New Roman"/>
              </a:rPr>
              <a:t>human </a:t>
            </a:r>
            <a:r>
              <a:rPr lang="en-US" sz="2600" spc="-45" dirty="0">
                <a:latin typeface="Aptos" panose="020B0004020202020204" pitchFamily="34" charset="0"/>
                <a:cs typeface="Times New Roman"/>
              </a:rPr>
              <a:t>expert </a:t>
            </a:r>
            <a:r>
              <a:rPr lang="en-US" sz="2600" spc="-160" dirty="0">
                <a:latin typeface="Aptos" panose="020B0004020202020204" pitchFamily="34" charset="0"/>
                <a:cs typeface="Times New Roman"/>
              </a:rPr>
              <a:t>can </a:t>
            </a:r>
            <a:r>
              <a:rPr lang="en-US" sz="2600" spc="-105" dirty="0">
                <a:latin typeface="Aptos" panose="020B0004020202020204" pitchFamily="34" charset="0"/>
                <a:cs typeface="Times New Roman"/>
              </a:rPr>
              <a:t>update </a:t>
            </a:r>
            <a:r>
              <a:rPr lang="en-US" sz="2600" spc="-20" dirty="0">
                <a:latin typeface="Aptos" panose="020B0004020202020204" pitchFamily="34" charset="0"/>
                <a:cs typeface="Times New Roman"/>
              </a:rPr>
              <a:t>his/her </a:t>
            </a:r>
            <a:r>
              <a:rPr lang="en-US" sz="2600" spc="-140" dirty="0">
                <a:latin typeface="Aptos" panose="020B0004020202020204" pitchFamily="34" charset="0"/>
                <a:cs typeface="Times New Roman"/>
              </a:rPr>
              <a:t>knowledge </a:t>
            </a:r>
            <a:r>
              <a:rPr lang="en-US" sz="2600" spc="-120" dirty="0">
                <a:latin typeface="Aptos" panose="020B0004020202020204" pitchFamily="34" charset="0"/>
                <a:cs typeface="Times New Roman"/>
              </a:rPr>
              <a:t>in </a:t>
            </a:r>
            <a:r>
              <a:rPr lang="en-US" sz="2600" spc="-75" dirty="0">
                <a:latin typeface="Aptos" panose="020B0004020202020204" pitchFamily="34" charset="0"/>
                <a:cs typeface="Times New Roman"/>
              </a:rPr>
              <a:t>the </a:t>
            </a:r>
            <a:r>
              <a:rPr lang="en-US" sz="2600" spc="-114" dirty="0">
                <a:latin typeface="Aptos" panose="020B0004020202020204" pitchFamily="34" charset="0"/>
                <a:cs typeface="Times New Roman"/>
              </a:rPr>
              <a:t>light</a:t>
            </a:r>
            <a:r>
              <a:rPr lang="en-US" sz="2600" spc="110" dirty="0">
                <a:latin typeface="Aptos" panose="020B0004020202020204" pitchFamily="34" charset="0"/>
                <a:cs typeface="Times New Roman"/>
              </a:rPr>
              <a:t> </a:t>
            </a:r>
            <a:r>
              <a:rPr lang="en-US" sz="2600" spc="-150" dirty="0">
                <a:latin typeface="Aptos" panose="020B0004020202020204" pitchFamily="34" charset="0"/>
                <a:cs typeface="Times New Roman"/>
              </a:rPr>
              <a:t>of</a:t>
            </a:r>
            <a:endParaRPr lang="en-US" sz="2600" dirty="0">
              <a:latin typeface="Aptos" panose="020B0004020202020204" pitchFamily="34" charset="0"/>
              <a:cs typeface="Times New Roman"/>
            </a:endParaRPr>
          </a:p>
          <a:p>
            <a:pPr marL="789305" lvl="1" indent="-457200">
              <a:buClr>
                <a:srgbClr val="9B2C1F"/>
              </a:buClr>
              <a:buSzPct val="78846"/>
              <a:buFont typeface="Courier New" panose="02070309020205020404" pitchFamily="49" charset="0"/>
              <a:buChar char="o"/>
              <a:tabLst>
                <a:tab pos="561975" algn="l"/>
              </a:tabLst>
            </a:pPr>
            <a:r>
              <a:rPr lang="en-US" sz="2600" spc="-130" dirty="0">
                <a:latin typeface="Aptos" panose="020B0004020202020204" pitchFamily="34" charset="0"/>
                <a:cs typeface="Times New Roman"/>
              </a:rPr>
              <a:t>Common</a:t>
            </a:r>
            <a:r>
              <a:rPr lang="en-US" sz="2600" spc="-80" dirty="0">
                <a:latin typeface="Aptos" panose="020B0004020202020204" pitchFamily="34" charset="0"/>
                <a:cs typeface="Times New Roman"/>
              </a:rPr>
              <a:t> </a:t>
            </a:r>
            <a:r>
              <a:rPr lang="en-US" sz="2600" spc="-140" dirty="0">
                <a:latin typeface="Aptos" panose="020B0004020202020204" pitchFamily="34" charset="0"/>
                <a:cs typeface="Times New Roman"/>
              </a:rPr>
              <a:t>sense</a:t>
            </a:r>
            <a:endParaRPr lang="en-US" sz="2600" dirty="0">
              <a:latin typeface="Aptos" panose="020B0004020202020204" pitchFamily="34" charset="0"/>
              <a:cs typeface="Times New Roman"/>
            </a:endParaRPr>
          </a:p>
          <a:p>
            <a:pPr marL="789305" lvl="1" indent="-457200">
              <a:buClr>
                <a:srgbClr val="9B2C1F"/>
              </a:buClr>
              <a:buSzPct val="78846"/>
              <a:buFont typeface="Courier New" panose="02070309020205020404" pitchFamily="49" charset="0"/>
              <a:buChar char="o"/>
              <a:tabLst>
                <a:tab pos="561975" algn="l"/>
              </a:tabLst>
            </a:pPr>
            <a:r>
              <a:rPr lang="en-US" sz="2600" spc="-150" dirty="0">
                <a:latin typeface="Aptos" panose="020B0004020202020204" pitchFamily="34" charset="0"/>
                <a:cs typeface="Times New Roman"/>
              </a:rPr>
              <a:t>Knowledge </a:t>
            </a:r>
            <a:r>
              <a:rPr lang="en-US" sz="2600" spc="-105" dirty="0">
                <a:latin typeface="Aptos" panose="020B0004020202020204" pitchFamily="34" charset="0"/>
                <a:cs typeface="Times New Roman"/>
              </a:rPr>
              <a:t>derived </a:t>
            </a:r>
            <a:r>
              <a:rPr lang="en-US" sz="2600" spc="-114" dirty="0">
                <a:latin typeface="Aptos" panose="020B0004020202020204" pitchFamily="34" charset="0"/>
                <a:cs typeface="Times New Roman"/>
              </a:rPr>
              <a:t>from </a:t>
            </a:r>
            <a:r>
              <a:rPr lang="en-US" sz="2600" spc="-65" dirty="0">
                <a:latin typeface="Aptos" panose="020B0004020202020204" pitchFamily="34" charset="0"/>
                <a:cs typeface="Times New Roman"/>
              </a:rPr>
              <a:t>other</a:t>
            </a:r>
            <a:r>
              <a:rPr lang="en-US" sz="2600" spc="75" dirty="0">
                <a:latin typeface="Aptos" panose="020B0004020202020204" pitchFamily="34" charset="0"/>
                <a:cs typeface="Times New Roman"/>
              </a:rPr>
              <a:t> </a:t>
            </a:r>
            <a:r>
              <a:rPr lang="en-US" sz="2600" spc="-135" dirty="0">
                <a:latin typeface="Aptos" panose="020B0004020202020204" pitchFamily="34" charset="0"/>
                <a:cs typeface="Times New Roman"/>
              </a:rPr>
              <a:t>domain</a:t>
            </a:r>
            <a:endParaRPr lang="en-US" sz="2600" dirty="0">
              <a:latin typeface="Aptos" panose="020B0004020202020204" pitchFamily="34" charset="0"/>
              <a:cs typeface="Times New Roman"/>
            </a:endParaRPr>
          </a:p>
          <a:p>
            <a:pPr marL="744220" marR="3723640" lvl="1" indent="-457200">
              <a:buClr>
                <a:srgbClr val="9B2C1F"/>
              </a:buClr>
              <a:buSzPct val="78846"/>
              <a:buFont typeface="Courier New" panose="02070309020205020404" pitchFamily="49" charset="0"/>
              <a:buChar char="o"/>
              <a:tabLst>
                <a:tab pos="561975" algn="l"/>
              </a:tabLst>
            </a:pPr>
            <a:r>
              <a:rPr lang="en-US" sz="2600" spc="-110" dirty="0">
                <a:latin typeface="Aptos" panose="020B0004020202020204" pitchFamily="34" charset="0"/>
                <a:cs typeface="Times New Roman"/>
              </a:rPr>
              <a:t>Contacts </a:t>
            </a:r>
            <a:r>
              <a:rPr lang="en-US" sz="2600" spc="-100" dirty="0">
                <a:latin typeface="Aptos" panose="020B0004020202020204" pitchFamily="34" charset="0"/>
                <a:cs typeface="Times New Roman"/>
              </a:rPr>
              <a:t>with </a:t>
            </a:r>
            <a:r>
              <a:rPr lang="en-US" sz="2600" spc="-65" dirty="0">
                <a:latin typeface="Aptos" panose="020B0004020202020204" pitchFamily="34" charset="0"/>
                <a:cs typeface="Times New Roman"/>
              </a:rPr>
              <a:t>other </a:t>
            </a:r>
            <a:r>
              <a:rPr lang="en-US" sz="2600" spc="-100" dirty="0">
                <a:latin typeface="Aptos" panose="020B0004020202020204" pitchFamily="34" charset="0"/>
                <a:cs typeface="Times New Roman"/>
              </a:rPr>
              <a:t>experts. </a:t>
            </a:r>
            <a:r>
              <a:rPr lang="en-US" sz="2600" spc="-225" dirty="0">
                <a:latin typeface="Aptos" panose="020B0004020202020204" pitchFamily="34" charset="0"/>
                <a:cs typeface="Times New Roman"/>
              </a:rPr>
              <a:t>An </a:t>
            </a:r>
            <a:r>
              <a:rPr lang="en-US" sz="2600" spc="-45" dirty="0">
                <a:latin typeface="Aptos" panose="020B0004020202020204" pitchFamily="34" charset="0"/>
                <a:cs typeface="Times New Roman"/>
              </a:rPr>
              <a:t>expert </a:t>
            </a:r>
            <a:r>
              <a:rPr lang="en-US" sz="2600" spc="-140" dirty="0">
                <a:latin typeface="Aptos" panose="020B0004020202020204" pitchFamily="34" charset="0"/>
                <a:cs typeface="Times New Roman"/>
              </a:rPr>
              <a:t>system</a:t>
            </a:r>
            <a:r>
              <a:rPr lang="en-US" sz="2600" spc="-380" dirty="0">
                <a:latin typeface="Aptos" panose="020B0004020202020204" pitchFamily="34" charset="0"/>
                <a:cs typeface="Times New Roman"/>
              </a:rPr>
              <a:t> </a:t>
            </a:r>
            <a:r>
              <a:rPr lang="en-US" sz="2600" spc="-100" dirty="0">
                <a:latin typeface="Aptos" panose="020B0004020202020204" pitchFamily="34" charset="0"/>
                <a:cs typeface="Times New Roman"/>
              </a:rPr>
              <a:t>can’t.</a:t>
            </a:r>
            <a:endParaRPr lang="en-US" sz="2600" dirty="0">
              <a:latin typeface="Aptos" panose="020B0004020202020204" pitchFamily="34" charset="0"/>
              <a:cs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1542" y="341198"/>
            <a:ext cx="7598258" cy="635000"/>
          </a:xfrm>
          <a:prstGeom prst="rect">
            <a:avLst/>
          </a:prstGeom>
        </p:spPr>
        <p:txBody>
          <a:bodyPr vert="horz" wrap="square" lIns="0" tIns="12065" rIns="0" bIns="0" rtlCol="0" anchor="ctr">
            <a:spAutoFit/>
          </a:bodyPr>
          <a:lstStyle/>
          <a:p>
            <a:pPr marL="12700">
              <a:lnSpc>
                <a:spcPct val="100000"/>
              </a:lnSpc>
              <a:spcBef>
                <a:spcPts val="95"/>
              </a:spcBef>
            </a:pPr>
            <a:r>
              <a:rPr spc="235" dirty="0"/>
              <a:t>KBS</a:t>
            </a:r>
            <a:r>
              <a:rPr spc="-280" dirty="0"/>
              <a:t> </a:t>
            </a:r>
            <a:r>
              <a:rPr spc="-85" dirty="0"/>
              <a:t>Advantages</a:t>
            </a:r>
            <a:endParaRPr dirty="0"/>
          </a:p>
        </p:txBody>
      </p:sp>
      <p:sp>
        <p:nvSpPr>
          <p:cNvPr id="3" name="object 3"/>
          <p:cNvSpPr txBox="1"/>
          <p:nvPr/>
        </p:nvSpPr>
        <p:spPr>
          <a:xfrm>
            <a:off x="2231543" y="943444"/>
            <a:ext cx="6092825" cy="5848350"/>
          </a:xfrm>
          <a:prstGeom prst="rect">
            <a:avLst/>
          </a:prstGeom>
        </p:spPr>
        <p:txBody>
          <a:bodyPr vert="horz" wrap="square" lIns="0" tIns="50165" rIns="0" bIns="0" rtlCol="0">
            <a:spAutoFit/>
          </a:bodyPr>
          <a:lstStyle/>
          <a:p>
            <a:pPr marL="287020" indent="-274320">
              <a:spcBef>
                <a:spcPts val="395"/>
              </a:spcBef>
              <a:buClr>
                <a:srgbClr val="D24717"/>
              </a:buClr>
              <a:buSzPct val="85416"/>
              <a:buFont typeface="Arial"/>
              <a:buChar char=""/>
              <a:tabLst>
                <a:tab pos="286385" algn="l"/>
                <a:tab pos="287020" algn="l"/>
              </a:tabLst>
            </a:pPr>
            <a:r>
              <a:rPr sz="2400" spc="-140" dirty="0">
                <a:latin typeface="Times New Roman"/>
                <a:cs typeface="Times New Roman"/>
              </a:rPr>
              <a:t>Economical</a:t>
            </a:r>
            <a:endParaRPr sz="2400">
              <a:latin typeface="Times New Roman"/>
              <a:cs typeface="Times New Roman"/>
            </a:endParaRPr>
          </a:p>
          <a:p>
            <a:pPr marL="561340" lvl="1" indent="-228600">
              <a:spcBef>
                <a:spcPts val="300"/>
              </a:spcBef>
              <a:buClr>
                <a:srgbClr val="9B2C1F"/>
              </a:buClr>
              <a:buSzPct val="85416"/>
              <a:buFont typeface="Arial"/>
              <a:buChar char=""/>
              <a:tabLst>
                <a:tab pos="561340" algn="l"/>
              </a:tabLst>
            </a:pPr>
            <a:r>
              <a:rPr sz="2400" spc="-114" dirty="0">
                <a:latin typeface="Times New Roman"/>
                <a:cs typeface="Times New Roman"/>
              </a:rPr>
              <a:t>lower </a:t>
            </a:r>
            <a:r>
              <a:rPr sz="2400" spc="-100" dirty="0">
                <a:latin typeface="Times New Roman"/>
                <a:cs typeface="Times New Roman"/>
              </a:rPr>
              <a:t>cost </a:t>
            </a:r>
            <a:r>
              <a:rPr sz="2400" spc="-55" dirty="0">
                <a:latin typeface="Times New Roman"/>
                <a:cs typeface="Times New Roman"/>
              </a:rPr>
              <a:t>per</a:t>
            </a:r>
            <a:r>
              <a:rPr sz="2400" spc="15" dirty="0">
                <a:latin typeface="Times New Roman"/>
                <a:cs typeface="Times New Roman"/>
              </a:rPr>
              <a:t> </a:t>
            </a:r>
            <a:r>
              <a:rPr sz="2400" spc="-85" dirty="0">
                <a:latin typeface="Times New Roman"/>
                <a:cs typeface="Times New Roman"/>
              </a:rPr>
              <a:t>user</a:t>
            </a:r>
            <a:endParaRPr sz="2400">
              <a:latin typeface="Times New Roman"/>
              <a:cs typeface="Times New Roman"/>
            </a:endParaRPr>
          </a:p>
          <a:p>
            <a:pPr marL="287020" indent="-274320">
              <a:spcBef>
                <a:spcPts val="1205"/>
              </a:spcBef>
              <a:buClr>
                <a:srgbClr val="D24717"/>
              </a:buClr>
              <a:buSzPct val="85416"/>
              <a:buFont typeface="Arial"/>
              <a:buChar char=""/>
              <a:tabLst>
                <a:tab pos="286385" algn="l"/>
                <a:tab pos="287020" algn="l"/>
              </a:tabLst>
            </a:pPr>
            <a:r>
              <a:rPr sz="2400" spc="-160" dirty="0">
                <a:latin typeface="Times New Roman"/>
                <a:cs typeface="Times New Roman"/>
              </a:rPr>
              <a:t>Availability</a:t>
            </a:r>
            <a:endParaRPr sz="2400">
              <a:latin typeface="Times New Roman"/>
              <a:cs typeface="Times New Roman"/>
            </a:endParaRPr>
          </a:p>
          <a:p>
            <a:pPr marL="561340" lvl="1" indent="-228600">
              <a:spcBef>
                <a:spcPts val="300"/>
              </a:spcBef>
              <a:buClr>
                <a:srgbClr val="9B2C1F"/>
              </a:buClr>
              <a:buSzPct val="85416"/>
              <a:buFont typeface="Arial"/>
              <a:buChar char=""/>
              <a:tabLst>
                <a:tab pos="561340" algn="l"/>
              </a:tabLst>
            </a:pPr>
            <a:r>
              <a:rPr sz="2400" spc="-145" dirty="0">
                <a:latin typeface="Times New Roman"/>
                <a:cs typeface="Times New Roman"/>
              </a:rPr>
              <a:t>accessible </a:t>
            </a:r>
            <a:r>
              <a:rPr sz="2400" spc="-105" dirty="0">
                <a:latin typeface="Times New Roman"/>
                <a:cs typeface="Times New Roman"/>
              </a:rPr>
              <a:t>anytime, </a:t>
            </a:r>
            <a:r>
              <a:rPr sz="2400" spc="-114" dirty="0">
                <a:latin typeface="Times New Roman"/>
                <a:cs typeface="Times New Roman"/>
              </a:rPr>
              <a:t>almost</a:t>
            </a:r>
            <a:r>
              <a:rPr sz="2400" spc="-70" dirty="0">
                <a:latin typeface="Times New Roman"/>
                <a:cs typeface="Times New Roman"/>
              </a:rPr>
              <a:t> </a:t>
            </a:r>
            <a:r>
              <a:rPr sz="2400" spc="-130" dirty="0">
                <a:latin typeface="Times New Roman"/>
                <a:cs typeface="Times New Roman"/>
              </a:rPr>
              <a:t>anywhere</a:t>
            </a:r>
            <a:endParaRPr sz="2400">
              <a:latin typeface="Times New Roman"/>
              <a:cs typeface="Times New Roman"/>
            </a:endParaRPr>
          </a:p>
          <a:p>
            <a:pPr marL="287020" indent="-274320">
              <a:spcBef>
                <a:spcPts val="1200"/>
              </a:spcBef>
              <a:buClr>
                <a:srgbClr val="D24717"/>
              </a:buClr>
              <a:buSzPct val="85416"/>
              <a:buFont typeface="Arial"/>
              <a:buChar char=""/>
              <a:tabLst>
                <a:tab pos="286385" algn="l"/>
                <a:tab pos="287020" algn="l"/>
              </a:tabLst>
            </a:pPr>
            <a:r>
              <a:rPr sz="2400" spc="-130" dirty="0">
                <a:latin typeface="Times New Roman"/>
                <a:cs typeface="Times New Roman"/>
              </a:rPr>
              <a:t>Response</a:t>
            </a:r>
            <a:r>
              <a:rPr sz="2400" spc="-95" dirty="0">
                <a:latin typeface="Times New Roman"/>
                <a:cs typeface="Times New Roman"/>
              </a:rPr>
              <a:t> </a:t>
            </a:r>
            <a:r>
              <a:rPr sz="2400" spc="-80" dirty="0">
                <a:latin typeface="Times New Roman"/>
                <a:cs typeface="Times New Roman"/>
              </a:rPr>
              <a:t>time</a:t>
            </a:r>
            <a:endParaRPr sz="2400">
              <a:latin typeface="Times New Roman"/>
              <a:cs typeface="Times New Roman"/>
            </a:endParaRPr>
          </a:p>
          <a:p>
            <a:pPr marL="561340" lvl="1" indent="-228600">
              <a:spcBef>
                <a:spcPts val="300"/>
              </a:spcBef>
              <a:buClr>
                <a:srgbClr val="9B2C1F"/>
              </a:buClr>
              <a:buSzPct val="85416"/>
              <a:buFont typeface="Arial"/>
              <a:buChar char=""/>
              <a:tabLst>
                <a:tab pos="561340" algn="l"/>
              </a:tabLst>
            </a:pPr>
            <a:r>
              <a:rPr sz="2400" spc="-90" dirty="0">
                <a:latin typeface="Times New Roman"/>
                <a:cs typeface="Times New Roman"/>
              </a:rPr>
              <a:t>often </a:t>
            </a:r>
            <a:r>
              <a:rPr sz="2400" spc="-105" dirty="0">
                <a:latin typeface="Times New Roman"/>
                <a:cs typeface="Times New Roman"/>
              </a:rPr>
              <a:t>faster than </a:t>
            </a:r>
            <a:r>
              <a:rPr sz="2400" spc="-135" dirty="0">
                <a:latin typeface="Times New Roman"/>
                <a:cs typeface="Times New Roman"/>
              </a:rPr>
              <a:t>human</a:t>
            </a:r>
            <a:r>
              <a:rPr sz="2400" spc="25" dirty="0">
                <a:latin typeface="Times New Roman"/>
                <a:cs typeface="Times New Roman"/>
              </a:rPr>
              <a:t> </a:t>
            </a:r>
            <a:r>
              <a:rPr sz="2400" spc="-65" dirty="0">
                <a:latin typeface="Times New Roman"/>
                <a:cs typeface="Times New Roman"/>
              </a:rPr>
              <a:t>experts</a:t>
            </a:r>
            <a:endParaRPr sz="2400">
              <a:latin typeface="Times New Roman"/>
              <a:cs typeface="Times New Roman"/>
            </a:endParaRPr>
          </a:p>
          <a:p>
            <a:pPr marL="287020" indent="-274320">
              <a:spcBef>
                <a:spcPts val="1200"/>
              </a:spcBef>
              <a:buClr>
                <a:srgbClr val="D24717"/>
              </a:buClr>
              <a:buSzPct val="85416"/>
              <a:buFont typeface="Arial"/>
              <a:buChar char=""/>
              <a:tabLst>
                <a:tab pos="286385" algn="l"/>
                <a:tab pos="287020" algn="l"/>
              </a:tabLst>
            </a:pPr>
            <a:r>
              <a:rPr sz="2400" spc="-120" dirty="0">
                <a:latin typeface="Times New Roman"/>
                <a:cs typeface="Times New Roman"/>
              </a:rPr>
              <a:t>Reliability</a:t>
            </a:r>
            <a:endParaRPr sz="2400">
              <a:latin typeface="Times New Roman"/>
              <a:cs typeface="Times New Roman"/>
            </a:endParaRPr>
          </a:p>
          <a:p>
            <a:pPr marL="561340" lvl="1" indent="-228600">
              <a:spcBef>
                <a:spcPts val="300"/>
              </a:spcBef>
              <a:buClr>
                <a:srgbClr val="9B2C1F"/>
              </a:buClr>
              <a:buSzPct val="85416"/>
              <a:buFont typeface="Arial"/>
              <a:buChar char=""/>
              <a:tabLst>
                <a:tab pos="561340" algn="l"/>
              </a:tabLst>
            </a:pPr>
            <a:r>
              <a:rPr sz="2400" spc="-145" dirty="0">
                <a:latin typeface="Times New Roman"/>
                <a:cs typeface="Times New Roman"/>
              </a:rPr>
              <a:t>can </a:t>
            </a:r>
            <a:r>
              <a:rPr sz="2400" spc="-110" dirty="0">
                <a:latin typeface="Times New Roman"/>
                <a:cs typeface="Times New Roman"/>
              </a:rPr>
              <a:t>be </a:t>
            </a:r>
            <a:r>
              <a:rPr sz="2400" spc="-75" dirty="0">
                <a:latin typeface="Times New Roman"/>
                <a:cs typeface="Times New Roman"/>
              </a:rPr>
              <a:t>greater </a:t>
            </a:r>
            <a:r>
              <a:rPr sz="2400" spc="-105" dirty="0">
                <a:latin typeface="Times New Roman"/>
                <a:cs typeface="Times New Roman"/>
              </a:rPr>
              <a:t>than </a:t>
            </a:r>
            <a:r>
              <a:rPr sz="2400" spc="-80" dirty="0">
                <a:latin typeface="Times New Roman"/>
                <a:cs typeface="Times New Roman"/>
              </a:rPr>
              <a:t>that </a:t>
            </a:r>
            <a:r>
              <a:rPr sz="2400" spc="-140" dirty="0">
                <a:latin typeface="Times New Roman"/>
                <a:cs typeface="Times New Roman"/>
              </a:rPr>
              <a:t>of human</a:t>
            </a:r>
            <a:r>
              <a:rPr sz="2400" spc="210" dirty="0">
                <a:latin typeface="Times New Roman"/>
                <a:cs typeface="Times New Roman"/>
              </a:rPr>
              <a:t> </a:t>
            </a:r>
            <a:r>
              <a:rPr sz="2400" spc="-65" dirty="0">
                <a:latin typeface="Times New Roman"/>
                <a:cs typeface="Times New Roman"/>
              </a:rPr>
              <a:t>experts</a:t>
            </a:r>
            <a:endParaRPr sz="2400">
              <a:latin typeface="Times New Roman"/>
              <a:cs typeface="Times New Roman"/>
            </a:endParaRPr>
          </a:p>
          <a:p>
            <a:pPr marL="561340" lvl="1" indent="-228600">
              <a:spcBef>
                <a:spcPts val="305"/>
              </a:spcBef>
              <a:buClr>
                <a:srgbClr val="9B2C1F"/>
              </a:buClr>
              <a:buSzPct val="85416"/>
              <a:buFont typeface="Arial"/>
              <a:buChar char=""/>
              <a:tabLst>
                <a:tab pos="561340" algn="l"/>
              </a:tabLst>
            </a:pPr>
            <a:r>
              <a:rPr sz="2400" spc="-105" dirty="0">
                <a:latin typeface="Times New Roman"/>
                <a:cs typeface="Times New Roman"/>
              </a:rPr>
              <a:t>no </a:t>
            </a:r>
            <a:r>
              <a:rPr sz="2400" spc="-75" dirty="0">
                <a:latin typeface="Times New Roman"/>
                <a:cs typeface="Times New Roman"/>
              </a:rPr>
              <a:t>distraction, </a:t>
            </a:r>
            <a:r>
              <a:rPr sz="2400" spc="-105" dirty="0">
                <a:latin typeface="Times New Roman"/>
                <a:cs typeface="Times New Roman"/>
              </a:rPr>
              <a:t>fatigue, </a:t>
            </a:r>
            <a:r>
              <a:rPr sz="2400" spc="-100" dirty="0">
                <a:latin typeface="Times New Roman"/>
                <a:cs typeface="Times New Roman"/>
              </a:rPr>
              <a:t>emotional </a:t>
            </a:r>
            <a:r>
              <a:rPr sz="2400" spc="-105" dirty="0">
                <a:latin typeface="Times New Roman"/>
                <a:cs typeface="Times New Roman"/>
              </a:rPr>
              <a:t>involvement,</a:t>
            </a:r>
            <a:r>
              <a:rPr sz="2400" spc="-270" dirty="0">
                <a:latin typeface="Times New Roman"/>
                <a:cs typeface="Times New Roman"/>
              </a:rPr>
              <a:t> </a:t>
            </a:r>
            <a:r>
              <a:rPr sz="2400" spc="-190" dirty="0">
                <a:latin typeface="Times New Roman"/>
                <a:cs typeface="Times New Roman"/>
              </a:rPr>
              <a:t>…</a:t>
            </a:r>
            <a:endParaRPr sz="2400">
              <a:latin typeface="Times New Roman"/>
              <a:cs typeface="Times New Roman"/>
            </a:endParaRPr>
          </a:p>
          <a:p>
            <a:pPr marL="287020" indent="-274320">
              <a:spcBef>
                <a:spcPts val="1200"/>
              </a:spcBef>
              <a:buClr>
                <a:srgbClr val="D24717"/>
              </a:buClr>
              <a:buSzPct val="85416"/>
              <a:buFont typeface="Arial"/>
              <a:buChar char=""/>
              <a:tabLst>
                <a:tab pos="286385" algn="l"/>
                <a:tab pos="287020" algn="l"/>
              </a:tabLst>
            </a:pPr>
            <a:r>
              <a:rPr sz="2400" spc="-125" dirty="0">
                <a:latin typeface="Times New Roman"/>
                <a:cs typeface="Times New Roman"/>
              </a:rPr>
              <a:t>Explanation</a:t>
            </a:r>
            <a:endParaRPr sz="2400">
              <a:latin typeface="Times New Roman"/>
              <a:cs typeface="Times New Roman"/>
            </a:endParaRPr>
          </a:p>
          <a:p>
            <a:pPr marL="561340" lvl="1" indent="-228600">
              <a:spcBef>
                <a:spcPts val="300"/>
              </a:spcBef>
              <a:buClr>
                <a:srgbClr val="9B2C1F"/>
              </a:buClr>
              <a:buSzPct val="85416"/>
              <a:buFont typeface="Arial"/>
              <a:buChar char=""/>
              <a:tabLst>
                <a:tab pos="561340" algn="l"/>
              </a:tabLst>
            </a:pPr>
            <a:r>
              <a:rPr sz="2400" spc="-120" dirty="0">
                <a:latin typeface="Times New Roman"/>
                <a:cs typeface="Times New Roman"/>
              </a:rPr>
              <a:t>reasoning </a:t>
            </a:r>
            <a:r>
              <a:rPr sz="2400" spc="-105" dirty="0">
                <a:latin typeface="Times New Roman"/>
                <a:cs typeface="Times New Roman"/>
              </a:rPr>
              <a:t>steps </a:t>
            </a:r>
            <a:r>
              <a:rPr sz="2400" spc="-75" dirty="0">
                <a:latin typeface="Times New Roman"/>
                <a:cs typeface="Times New Roman"/>
              </a:rPr>
              <a:t>that </a:t>
            </a:r>
            <a:r>
              <a:rPr sz="2400" spc="-125" dirty="0">
                <a:latin typeface="Times New Roman"/>
                <a:cs typeface="Times New Roman"/>
              </a:rPr>
              <a:t>lead </a:t>
            </a:r>
            <a:r>
              <a:rPr sz="2400" spc="-35" dirty="0">
                <a:latin typeface="Times New Roman"/>
                <a:cs typeface="Times New Roman"/>
              </a:rPr>
              <a:t>to </a:t>
            </a:r>
            <a:r>
              <a:rPr sz="2400" spc="-190" dirty="0">
                <a:latin typeface="Times New Roman"/>
                <a:cs typeface="Times New Roman"/>
              </a:rPr>
              <a:t>a </a:t>
            </a:r>
            <a:r>
              <a:rPr sz="2400" spc="-80" dirty="0">
                <a:latin typeface="Times New Roman"/>
                <a:cs typeface="Times New Roman"/>
              </a:rPr>
              <a:t>particular</a:t>
            </a:r>
            <a:r>
              <a:rPr sz="2400" spc="190" dirty="0">
                <a:latin typeface="Times New Roman"/>
                <a:cs typeface="Times New Roman"/>
              </a:rPr>
              <a:t> </a:t>
            </a:r>
            <a:r>
              <a:rPr sz="2400" spc="-150" dirty="0">
                <a:latin typeface="Times New Roman"/>
                <a:cs typeface="Times New Roman"/>
              </a:rPr>
              <a:t>conclusion</a:t>
            </a:r>
            <a:endParaRPr sz="2400">
              <a:latin typeface="Times New Roman"/>
              <a:cs typeface="Times New Roman"/>
            </a:endParaRPr>
          </a:p>
          <a:p>
            <a:pPr marL="287020" indent="-274320">
              <a:spcBef>
                <a:spcPts val="1200"/>
              </a:spcBef>
              <a:buClr>
                <a:srgbClr val="D24717"/>
              </a:buClr>
              <a:buSzPct val="85416"/>
              <a:buFont typeface="Arial"/>
              <a:buChar char=""/>
              <a:tabLst>
                <a:tab pos="286385" algn="l"/>
                <a:tab pos="287020" algn="l"/>
              </a:tabLst>
            </a:pPr>
            <a:r>
              <a:rPr sz="2400" spc="-95" dirty="0">
                <a:latin typeface="Times New Roman"/>
                <a:cs typeface="Times New Roman"/>
              </a:rPr>
              <a:t>Intellectual</a:t>
            </a:r>
            <a:r>
              <a:rPr sz="2400" spc="-65" dirty="0">
                <a:latin typeface="Times New Roman"/>
                <a:cs typeface="Times New Roman"/>
              </a:rPr>
              <a:t> </a:t>
            </a:r>
            <a:r>
              <a:rPr sz="2400" spc="-55" dirty="0">
                <a:latin typeface="Times New Roman"/>
                <a:cs typeface="Times New Roman"/>
              </a:rPr>
              <a:t>property</a:t>
            </a:r>
            <a:endParaRPr sz="2400">
              <a:latin typeface="Times New Roman"/>
              <a:cs typeface="Times New Roman"/>
            </a:endParaRPr>
          </a:p>
          <a:p>
            <a:pPr marL="561340" lvl="1" indent="-228600">
              <a:spcBef>
                <a:spcPts val="300"/>
              </a:spcBef>
              <a:buClr>
                <a:srgbClr val="9B2C1F"/>
              </a:buClr>
              <a:buSzPct val="85416"/>
              <a:buFont typeface="Arial"/>
              <a:buChar char=""/>
              <a:tabLst>
                <a:tab pos="561340" algn="l"/>
              </a:tabLst>
            </a:pPr>
            <a:r>
              <a:rPr sz="2400" spc="-125" dirty="0">
                <a:latin typeface="Times New Roman"/>
                <a:cs typeface="Times New Roman"/>
              </a:rPr>
              <a:t>can’t </a:t>
            </a:r>
            <a:r>
              <a:rPr sz="2400" spc="-155" dirty="0">
                <a:latin typeface="Times New Roman"/>
                <a:cs typeface="Times New Roman"/>
              </a:rPr>
              <a:t>walk </a:t>
            </a:r>
            <a:r>
              <a:rPr sz="2400" spc="-55" dirty="0">
                <a:latin typeface="Times New Roman"/>
                <a:cs typeface="Times New Roman"/>
              </a:rPr>
              <a:t>out </a:t>
            </a:r>
            <a:r>
              <a:rPr sz="2400" spc="-140" dirty="0">
                <a:latin typeface="Times New Roman"/>
                <a:cs typeface="Times New Roman"/>
              </a:rPr>
              <a:t>of </a:t>
            </a:r>
            <a:r>
              <a:rPr sz="2400" spc="-70" dirty="0">
                <a:latin typeface="Times New Roman"/>
                <a:cs typeface="Times New Roman"/>
              </a:rPr>
              <a:t>the</a:t>
            </a:r>
            <a:r>
              <a:rPr sz="2400" spc="145" dirty="0">
                <a:latin typeface="Times New Roman"/>
                <a:cs typeface="Times New Roman"/>
              </a:rPr>
              <a:t> </a:t>
            </a:r>
            <a:r>
              <a:rPr sz="2400" spc="-70" dirty="0">
                <a:latin typeface="Times New Roman"/>
                <a:cs typeface="Times New Roman"/>
              </a:rPr>
              <a:t>door</a:t>
            </a:r>
            <a:endParaRPr sz="2400">
              <a:latin typeface="Times New Roman"/>
              <a:cs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0836" y="243586"/>
            <a:ext cx="7154164" cy="635000"/>
          </a:xfrm>
          <a:prstGeom prst="rect">
            <a:avLst/>
          </a:prstGeom>
        </p:spPr>
        <p:txBody>
          <a:bodyPr vert="horz" wrap="square" lIns="0" tIns="12065" rIns="0" bIns="0" rtlCol="0" anchor="ctr">
            <a:spAutoFit/>
          </a:bodyPr>
          <a:lstStyle/>
          <a:p>
            <a:pPr marL="12700">
              <a:lnSpc>
                <a:spcPct val="100000"/>
              </a:lnSpc>
              <a:spcBef>
                <a:spcPts val="95"/>
              </a:spcBef>
            </a:pPr>
            <a:r>
              <a:rPr spc="229" dirty="0"/>
              <a:t>KBS</a:t>
            </a:r>
            <a:r>
              <a:rPr spc="-254" dirty="0"/>
              <a:t> </a:t>
            </a:r>
            <a:r>
              <a:rPr spc="-85" dirty="0"/>
              <a:t>Problems</a:t>
            </a:r>
            <a:endParaRPr dirty="0"/>
          </a:p>
        </p:txBody>
      </p:sp>
      <p:sp>
        <p:nvSpPr>
          <p:cNvPr id="3" name="object 3"/>
          <p:cNvSpPr txBox="1"/>
          <p:nvPr/>
        </p:nvSpPr>
        <p:spPr>
          <a:xfrm>
            <a:off x="2231542" y="702310"/>
            <a:ext cx="7654290" cy="6036310"/>
          </a:xfrm>
          <a:prstGeom prst="rect">
            <a:avLst/>
          </a:prstGeom>
        </p:spPr>
        <p:txBody>
          <a:bodyPr vert="horz" wrap="square" lIns="0" tIns="62865" rIns="0" bIns="0" rtlCol="0">
            <a:spAutoFit/>
          </a:bodyPr>
          <a:lstStyle/>
          <a:p>
            <a:pPr marL="287020" indent="-274320">
              <a:spcBef>
                <a:spcPts val="495"/>
              </a:spcBef>
              <a:buClr>
                <a:srgbClr val="D24717"/>
              </a:buClr>
              <a:buSzPct val="85416"/>
              <a:buFont typeface="Arial"/>
              <a:buChar char=""/>
              <a:tabLst>
                <a:tab pos="286385" algn="l"/>
                <a:tab pos="287020" algn="l"/>
              </a:tabLst>
            </a:pPr>
            <a:r>
              <a:rPr sz="2400" spc="-114" dirty="0">
                <a:latin typeface="Times New Roman"/>
                <a:cs typeface="Times New Roman"/>
              </a:rPr>
              <a:t>Limited</a:t>
            </a:r>
            <a:r>
              <a:rPr sz="2400" spc="-80" dirty="0">
                <a:latin typeface="Times New Roman"/>
                <a:cs typeface="Times New Roman"/>
              </a:rPr>
              <a:t> </a:t>
            </a:r>
            <a:r>
              <a:rPr sz="2400" spc="-125" dirty="0">
                <a:latin typeface="Times New Roman"/>
                <a:cs typeface="Times New Roman"/>
              </a:rPr>
              <a:t>knowledge</a:t>
            </a:r>
            <a:endParaRPr sz="2400" dirty="0">
              <a:latin typeface="Times New Roman"/>
              <a:cs typeface="Times New Roman"/>
            </a:endParaRPr>
          </a:p>
          <a:p>
            <a:pPr marL="561340" lvl="1" indent="-228600">
              <a:spcBef>
                <a:spcPts val="395"/>
              </a:spcBef>
              <a:buClr>
                <a:srgbClr val="9B2C1F"/>
              </a:buClr>
              <a:buSzPct val="85416"/>
              <a:buFont typeface="Arial"/>
              <a:buChar char=""/>
              <a:tabLst>
                <a:tab pos="561340" algn="l"/>
              </a:tabLst>
            </a:pPr>
            <a:r>
              <a:rPr sz="2400" spc="-185" dirty="0">
                <a:latin typeface="Times New Roman"/>
                <a:cs typeface="Times New Roman"/>
              </a:rPr>
              <a:t>“shallow” </a:t>
            </a:r>
            <a:r>
              <a:rPr sz="2400" spc="-125" dirty="0">
                <a:latin typeface="Times New Roman"/>
                <a:cs typeface="Times New Roman"/>
              </a:rPr>
              <a:t>knowledge</a:t>
            </a:r>
            <a:endParaRPr sz="2400" dirty="0">
              <a:latin typeface="Times New Roman"/>
              <a:cs typeface="Times New Roman"/>
            </a:endParaRPr>
          </a:p>
          <a:p>
            <a:pPr marL="739140" lvl="2" indent="-229235">
              <a:spcBef>
                <a:spcPts val="395"/>
              </a:spcBef>
              <a:buClr>
                <a:srgbClr val="E6B0AB"/>
              </a:buClr>
              <a:buSzPct val="85416"/>
              <a:buFont typeface="Arial"/>
              <a:buChar char=""/>
              <a:tabLst>
                <a:tab pos="739775" algn="l"/>
              </a:tabLst>
            </a:pPr>
            <a:r>
              <a:rPr sz="2400" spc="-100" dirty="0">
                <a:latin typeface="Times New Roman"/>
                <a:cs typeface="Times New Roman"/>
              </a:rPr>
              <a:t>no </a:t>
            </a:r>
            <a:r>
              <a:rPr sz="2400" spc="-170" dirty="0">
                <a:latin typeface="Times New Roman"/>
                <a:cs typeface="Times New Roman"/>
              </a:rPr>
              <a:t>“deep” </a:t>
            </a:r>
            <a:r>
              <a:rPr sz="2400" spc="-100" dirty="0">
                <a:latin typeface="Times New Roman"/>
                <a:cs typeface="Times New Roman"/>
              </a:rPr>
              <a:t>understanding </a:t>
            </a:r>
            <a:r>
              <a:rPr sz="2400" spc="-140" dirty="0">
                <a:latin typeface="Times New Roman"/>
                <a:cs typeface="Times New Roman"/>
              </a:rPr>
              <a:t>of </a:t>
            </a:r>
            <a:r>
              <a:rPr sz="2400" spc="-70" dirty="0">
                <a:latin typeface="Times New Roman"/>
                <a:cs typeface="Times New Roman"/>
              </a:rPr>
              <a:t>the </a:t>
            </a:r>
            <a:r>
              <a:rPr sz="2400" spc="-105" dirty="0">
                <a:latin typeface="Times New Roman"/>
                <a:cs typeface="Times New Roman"/>
              </a:rPr>
              <a:t>concepts </a:t>
            </a:r>
            <a:r>
              <a:rPr sz="2400" spc="-135" dirty="0">
                <a:latin typeface="Times New Roman"/>
                <a:cs typeface="Times New Roman"/>
              </a:rPr>
              <a:t>and </a:t>
            </a:r>
            <a:r>
              <a:rPr sz="2400" spc="-65" dirty="0">
                <a:latin typeface="Times New Roman"/>
                <a:cs typeface="Times New Roman"/>
              </a:rPr>
              <a:t>their</a:t>
            </a:r>
            <a:r>
              <a:rPr sz="2400" spc="90" dirty="0">
                <a:latin typeface="Times New Roman"/>
                <a:cs typeface="Times New Roman"/>
              </a:rPr>
              <a:t> </a:t>
            </a:r>
            <a:r>
              <a:rPr sz="2400" spc="-130" dirty="0">
                <a:latin typeface="Times New Roman"/>
                <a:cs typeface="Times New Roman"/>
              </a:rPr>
              <a:t>relationships</a:t>
            </a:r>
            <a:endParaRPr sz="2400" dirty="0">
              <a:latin typeface="Times New Roman"/>
              <a:cs typeface="Times New Roman"/>
            </a:endParaRPr>
          </a:p>
          <a:p>
            <a:pPr marL="561340" lvl="1" indent="-228600">
              <a:spcBef>
                <a:spcPts val="409"/>
              </a:spcBef>
              <a:buClr>
                <a:srgbClr val="9B2C1F"/>
              </a:buClr>
              <a:buSzPct val="85416"/>
              <a:buFont typeface="Arial"/>
              <a:buChar char=""/>
              <a:tabLst>
                <a:tab pos="561340" algn="l"/>
              </a:tabLst>
            </a:pPr>
            <a:r>
              <a:rPr sz="2400" spc="-105" dirty="0">
                <a:latin typeface="Times New Roman"/>
                <a:cs typeface="Times New Roman"/>
              </a:rPr>
              <a:t>no </a:t>
            </a:r>
            <a:r>
              <a:rPr sz="2400" spc="-150" dirty="0">
                <a:latin typeface="Times New Roman"/>
                <a:cs typeface="Times New Roman"/>
              </a:rPr>
              <a:t>“common-sense”</a:t>
            </a:r>
            <a:r>
              <a:rPr sz="2400" spc="-265" dirty="0">
                <a:latin typeface="Times New Roman"/>
                <a:cs typeface="Times New Roman"/>
              </a:rPr>
              <a:t> </a:t>
            </a:r>
            <a:r>
              <a:rPr sz="2400" spc="-125" dirty="0">
                <a:latin typeface="Times New Roman"/>
                <a:cs typeface="Times New Roman"/>
              </a:rPr>
              <a:t>knowledge</a:t>
            </a:r>
            <a:endParaRPr sz="2400" dirty="0">
              <a:latin typeface="Times New Roman"/>
              <a:cs typeface="Times New Roman"/>
            </a:endParaRPr>
          </a:p>
          <a:p>
            <a:pPr marL="561340" lvl="1" indent="-228600">
              <a:spcBef>
                <a:spcPts val="400"/>
              </a:spcBef>
              <a:buClr>
                <a:srgbClr val="9B2C1F"/>
              </a:buClr>
              <a:buSzPct val="85416"/>
              <a:buFont typeface="Arial"/>
              <a:buChar char=""/>
              <a:tabLst>
                <a:tab pos="561340" algn="l"/>
              </a:tabLst>
            </a:pPr>
            <a:r>
              <a:rPr sz="2400" spc="-105" dirty="0">
                <a:latin typeface="Times New Roman"/>
                <a:cs typeface="Times New Roman"/>
              </a:rPr>
              <a:t>no </a:t>
            </a:r>
            <a:r>
              <a:rPr sz="2400" spc="-125" dirty="0">
                <a:latin typeface="Times New Roman"/>
                <a:cs typeface="Times New Roman"/>
              </a:rPr>
              <a:t>knowledge </a:t>
            </a:r>
            <a:r>
              <a:rPr sz="2400" spc="-105" dirty="0">
                <a:latin typeface="Times New Roman"/>
                <a:cs typeface="Times New Roman"/>
              </a:rPr>
              <a:t>from </a:t>
            </a:r>
            <a:r>
              <a:rPr sz="2400" spc="-150" dirty="0">
                <a:latin typeface="Times New Roman"/>
                <a:cs typeface="Times New Roman"/>
              </a:rPr>
              <a:t>possibly </a:t>
            </a:r>
            <a:r>
              <a:rPr sz="2400" spc="-105" dirty="0">
                <a:latin typeface="Times New Roman"/>
                <a:cs typeface="Times New Roman"/>
              </a:rPr>
              <a:t>relevant </a:t>
            </a:r>
            <a:r>
              <a:rPr sz="2400" spc="-80" dirty="0">
                <a:latin typeface="Times New Roman"/>
                <a:cs typeface="Times New Roman"/>
              </a:rPr>
              <a:t>related</a:t>
            </a:r>
            <a:r>
              <a:rPr sz="2400" spc="165" dirty="0">
                <a:latin typeface="Times New Roman"/>
                <a:cs typeface="Times New Roman"/>
              </a:rPr>
              <a:t> </a:t>
            </a:r>
            <a:r>
              <a:rPr sz="2400" spc="-135" dirty="0">
                <a:latin typeface="Times New Roman"/>
                <a:cs typeface="Times New Roman"/>
              </a:rPr>
              <a:t>domains</a:t>
            </a:r>
            <a:endParaRPr sz="2400" dirty="0">
              <a:latin typeface="Times New Roman"/>
              <a:cs typeface="Times New Roman"/>
            </a:endParaRPr>
          </a:p>
          <a:p>
            <a:pPr marL="561340" lvl="1" indent="-228600">
              <a:spcBef>
                <a:spcPts val="395"/>
              </a:spcBef>
              <a:buClr>
                <a:srgbClr val="9B2C1F"/>
              </a:buClr>
              <a:buSzPct val="85416"/>
              <a:buFont typeface="Arial"/>
              <a:buChar char=""/>
              <a:tabLst>
                <a:tab pos="561340" algn="l"/>
              </a:tabLst>
            </a:pPr>
            <a:r>
              <a:rPr sz="2400" spc="-145" dirty="0">
                <a:latin typeface="Times New Roman"/>
                <a:cs typeface="Times New Roman"/>
              </a:rPr>
              <a:t>“closed</a:t>
            </a:r>
            <a:r>
              <a:rPr sz="2400" spc="-90" dirty="0">
                <a:latin typeface="Times New Roman"/>
                <a:cs typeface="Times New Roman"/>
              </a:rPr>
              <a:t> </a:t>
            </a:r>
            <a:r>
              <a:rPr sz="2400" spc="-135" dirty="0">
                <a:latin typeface="Times New Roman"/>
                <a:cs typeface="Times New Roman"/>
              </a:rPr>
              <a:t>world”</a:t>
            </a:r>
            <a:endParaRPr sz="2400" dirty="0">
              <a:latin typeface="Times New Roman"/>
              <a:cs typeface="Times New Roman"/>
            </a:endParaRPr>
          </a:p>
          <a:p>
            <a:pPr marL="739140" lvl="2" indent="-229235">
              <a:spcBef>
                <a:spcPts val="409"/>
              </a:spcBef>
              <a:buClr>
                <a:srgbClr val="E6B0AB"/>
              </a:buClr>
              <a:buSzPct val="85416"/>
              <a:buFont typeface="Arial"/>
              <a:buChar char=""/>
              <a:tabLst>
                <a:tab pos="739775" algn="l"/>
              </a:tabLst>
            </a:pPr>
            <a:r>
              <a:rPr sz="2400" spc="-70" dirty="0">
                <a:latin typeface="Times New Roman"/>
                <a:cs typeface="Times New Roman"/>
              </a:rPr>
              <a:t>the </a:t>
            </a:r>
            <a:r>
              <a:rPr sz="2400" spc="-290" dirty="0">
                <a:latin typeface="Times New Roman"/>
                <a:cs typeface="Times New Roman"/>
              </a:rPr>
              <a:t>ES </a:t>
            </a:r>
            <a:r>
              <a:rPr sz="2400" spc="-150" dirty="0">
                <a:latin typeface="Times New Roman"/>
                <a:cs typeface="Times New Roman"/>
              </a:rPr>
              <a:t>knows </a:t>
            </a:r>
            <a:r>
              <a:rPr sz="2400" spc="-135" dirty="0">
                <a:latin typeface="Times New Roman"/>
                <a:cs typeface="Times New Roman"/>
              </a:rPr>
              <a:t>only </a:t>
            </a:r>
            <a:r>
              <a:rPr sz="2400" spc="-120" dirty="0">
                <a:latin typeface="Times New Roman"/>
                <a:cs typeface="Times New Roman"/>
              </a:rPr>
              <a:t>what </a:t>
            </a:r>
            <a:r>
              <a:rPr sz="2400" spc="-45" dirty="0">
                <a:latin typeface="Times New Roman"/>
                <a:cs typeface="Times New Roman"/>
              </a:rPr>
              <a:t>it </a:t>
            </a:r>
            <a:r>
              <a:rPr sz="2400" spc="-175" dirty="0">
                <a:latin typeface="Times New Roman"/>
                <a:cs typeface="Times New Roman"/>
              </a:rPr>
              <a:t>has </a:t>
            </a:r>
            <a:r>
              <a:rPr sz="2400" spc="-105" dirty="0">
                <a:latin typeface="Times New Roman"/>
                <a:cs typeface="Times New Roman"/>
              </a:rPr>
              <a:t>been </a:t>
            </a:r>
            <a:r>
              <a:rPr sz="2400" spc="-110" dirty="0">
                <a:latin typeface="Times New Roman"/>
                <a:cs typeface="Times New Roman"/>
              </a:rPr>
              <a:t>explicitly</a:t>
            </a:r>
            <a:r>
              <a:rPr sz="2400" spc="75" dirty="0">
                <a:latin typeface="Times New Roman"/>
                <a:cs typeface="Times New Roman"/>
              </a:rPr>
              <a:t> </a:t>
            </a:r>
            <a:r>
              <a:rPr sz="2400" spc="-150" dirty="0">
                <a:latin typeface="Times New Roman"/>
                <a:cs typeface="Times New Roman"/>
              </a:rPr>
              <a:t>“told”</a:t>
            </a:r>
            <a:endParaRPr sz="2400" dirty="0">
              <a:latin typeface="Times New Roman"/>
              <a:cs typeface="Times New Roman"/>
            </a:endParaRPr>
          </a:p>
          <a:p>
            <a:pPr marL="739140" lvl="2" indent="-229235">
              <a:spcBef>
                <a:spcPts val="395"/>
              </a:spcBef>
              <a:buClr>
                <a:srgbClr val="E6B0AB"/>
              </a:buClr>
              <a:buSzPct val="85416"/>
              <a:buFont typeface="Arial"/>
              <a:buChar char=""/>
              <a:tabLst>
                <a:tab pos="739775" algn="l"/>
              </a:tabLst>
            </a:pPr>
            <a:r>
              <a:rPr sz="2400" spc="-45" dirty="0">
                <a:latin typeface="Times New Roman"/>
                <a:cs typeface="Times New Roman"/>
              </a:rPr>
              <a:t>it </a:t>
            </a:r>
            <a:r>
              <a:rPr sz="2400" spc="-110" dirty="0">
                <a:latin typeface="Times New Roman"/>
                <a:cs typeface="Times New Roman"/>
              </a:rPr>
              <a:t>doesn’t </a:t>
            </a:r>
            <a:r>
              <a:rPr sz="2400" spc="-140" dirty="0">
                <a:latin typeface="Times New Roman"/>
                <a:cs typeface="Times New Roman"/>
              </a:rPr>
              <a:t>know </a:t>
            </a:r>
            <a:r>
              <a:rPr sz="2400" spc="-120" dirty="0">
                <a:latin typeface="Times New Roman"/>
                <a:cs typeface="Times New Roman"/>
              </a:rPr>
              <a:t>what </a:t>
            </a:r>
            <a:r>
              <a:rPr sz="2400" spc="-45" dirty="0">
                <a:latin typeface="Times New Roman"/>
                <a:cs typeface="Times New Roman"/>
              </a:rPr>
              <a:t>it </a:t>
            </a:r>
            <a:r>
              <a:rPr sz="2400" spc="-110" dirty="0">
                <a:latin typeface="Times New Roman"/>
                <a:cs typeface="Times New Roman"/>
              </a:rPr>
              <a:t>doesn’t</a:t>
            </a:r>
            <a:r>
              <a:rPr sz="2400" spc="35" dirty="0">
                <a:latin typeface="Times New Roman"/>
                <a:cs typeface="Times New Roman"/>
              </a:rPr>
              <a:t> </a:t>
            </a:r>
            <a:r>
              <a:rPr sz="2400" spc="-140" dirty="0">
                <a:latin typeface="Times New Roman"/>
                <a:cs typeface="Times New Roman"/>
              </a:rPr>
              <a:t>know</a:t>
            </a:r>
            <a:endParaRPr sz="2400" dirty="0">
              <a:latin typeface="Times New Roman"/>
              <a:cs typeface="Times New Roman"/>
            </a:endParaRPr>
          </a:p>
          <a:p>
            <a:pPr marL="287020" indent="-274320">
              <a:spcBef>
                <a:spcPts val="1295"/>
              </a:spcBef>
              <a:buClr>
                <a:srgbClr val="D24717"/>
              </a:buClr>
              <a:buSzPct val="85416"/>
              <a:buFont typeface="Arial"/>
              <a:buChar char=""/>
              <a:tabLst>
                <a:tab pos="286385" algn="l"/>
                <a:tab pos="287020" algn="l"/>
              </a:tabLst>
            </a:pPr>
            <a:r>
              <a:rPr sz="2400" spc="-145" dirty="0">
                <a:latin typeface="Times New Roman"/>
                <a:cs typeface="Times New Roman"/>
              </a:rPr>
              <a:t>Mechanical</a:t>
            </a:r>
            <a:r>
              <a:rPr sz="2400" spc="-80" dirty="0">
                <a:latin typeface="Times New Roman"/>
                <a:cs typeface="Times New Roman"/>
              </a:rPr>
              <a:t> </a:t>
            </a:r>
            <a:r>
              <a:rPr sz="2400" spc="-120" dirty="0">
                <a:latin typeface="Times New Roman"/>
                <a:cs typeface="Times New Roman"/>
              </a:rPr>
              <a:t>reasoning</a:t>
            </a:r>
            <a:endParaRPr sz="2400" dirty="0">
              <a:latin typeface="Times New Roman"/>
              <a:cs typeface="Times New Roman"/>
            </a:endParaRPr>
          </a:p>
          <a:p>
            <a:pPr marL="561340" marR="800100" lvl="1" indent="-228600">
              <a:spcBef>
                <a:spcPts val="409"/>
              </a:spcBef>
              <a:buClr>
                <a:srgbClr val="9B2C1F"/>
              </a:buClr>
              <a:buSzPct val="85416"/>
              <a:buFont typeface="Arial"/>
              <a:buChar char=""/>
              <a:tabLst>
                <a:tab pos="561340" algn="l"/>
              </a:tabLst>
            </a:pPr>
            <a:r>
              <a:rPr sz="2400" spc="-210" dirty="0">
                <a:latin typeface="Times New Roman"/>
                <a:cs typeface="Times New Roman"/>
              </a:rPr>
              <a:t>may </a:t>
            </a:r>
            <a:r>
              <a:rPr sz="2400" spc="-60" dirty="0">
                <a:latin typeface="Times New Roman"/>
                <a:cs typeface="Times New Roman"/>
              </a:rPr>
              <a:t>not </a:t>
            </a:r>
            <a:r>
              <a:rPr sz="2400" spc="-190" dirty="0">
                <a:latin typeface="Times New Roman"/>
                <a:cs typeface="Times New Roman"/>
              </a:rPr>
              <a:t>have </a:t>
            </a:r>
            <a:r>
              <a:rPr sz="2400" spc="-40" dirty="0">
                <a:latin typeface="Times New Roman"/>
                <a:cs typeface="Times New Roman"/>
              </a:rPr>
              <a:t>or </a:t>
            </a:r>
            <a:r>
              <a:rPr sz="2400" spc="-95" dirty="0">
                <a:latin typeface="Times New Roman"/>
                <a:cs typeface="Times New Roman"/>
              </a:rPr>
              <a:t>select </a:t>
            </a:r>
            <a:r>
              <a:rPr sz="2400" spc="-70" dirty="0">
                <a:latin typeface="Times New Roman"/>
                <a:cs typeface="Times New Roman"/>
              </a:rPr>
              <a:t>the </a:t>
            </a:r>
            <a:r>
              <a:rPr sz="2400" spc="-100" dirty="0">
                <a:latin typeface="Times New Roman"/>
                <a:cs typeface="Times New Roman"/>
              </a:rPr>
              <a:t>most </a:t>
            </a:r>
            <a:r>
              <a:rPr sz="2400" spc="-85" dirty="0">
                <a:latin typeface="Times New Roman"/>
                <a:cs typeface="Times New Roman"/>
              </a:rPr>
              <a:t>appropriate </a:t>
            </a:r>
            <a:r>
              <a:rPr sz="2400" spc="-100" dirty="0">
                <a:latin typeface="Times New Roman"/>
                <a:cs typeface="Times New Roman"/>
              </a:rPr>
              <a:t>method </a:t>
            </a:r>
            <a:r>
              <a:rPr sz="2400" spc="-85" dirty="0">
                <a:latin typeface="Times New Roman"/>
                <a:cs typeface="Times New Roman"/>
              </a:rPr>
              <a:t>for </a:t>
            </a:r>
            <a:r>
              <a:rPr sz="2400" spc="-515" dirty="0">
                <a:latin typeface="Times New Roman"/>
                <a:cs typeface="Times New Roman"/>
              </a:rPr>
              <a:t>a  </a:t>
            </a:r>
            <a:r>
              <a:rPr sz="2400" spc="-80" dirty="0">
                <a:latin typeface="Times New Roman"/>
                <a:cs typeface="Times New Roman"/>
              </a:rPr>
              <a:t>particular</a:t>
            </a:r>
            <a:r>
              <a:rPr sz="2400" spc="-75" dirty="0">
                <a:latin typeface="Times New Roman"/>
                <a:cs typeface="Times New Roman"/>
              </a:rPr>
              <a:t> </a:t>
            </a:r>
            <a:r>
              <a:rPr sz="2400" spc="-100" dirty="0">
                <a:latin typeface="Times New Roman"/>
                <a:cs typeface="Times New Roman"/>
              </a:rPr>
              <a:t>problem</a:t>
            </a:r>
            <a:endParaRPr sz="2400" dirty="0">
              <a:latin typeface="Times New Roman"/>
              <a:cs typeface="Times New Roman"/>
            </a:endParaRPr>
          </a:p>
          <a:p>
            <a:pPr marL="561340" lvl="1" indent="-228600">
              <a:spcBef>
                <a:spcPts val="400"/>
              </a:spcBef>
              <a:buClr>
                <a:srgbClr val="9B2C1F"/>
              </a:buClr>
              <a:buSzPct val="85416"/>
              <a:buFont typeface="Arial"/>
              <a:buChar char=""/>
              <a:tabLst>
                <a:tab pos="561340" algn="l"/>
              </a:tabLst>
            </a:pPr>
            <a:r>
              <a:rPr sz="2400" spc="-130" dirty="0">
                <a:latin typeface="Times New Roman"/>
                <a:cs typeface="Times New Roman"/>
              </a:rPr>
              <a:t>some </a:t>
            </a:r>
            <a:r>
              <a:rPr sz="2400" spc="-215" dirty="0">
                <a:latin typeface="Times New Roman"/>
                <a:cs typeface="Times New Roman"/>
              </a:rPr>
              <a:t>“easy” </a:t>
            </a:r>
            <a:r>
              <a:rPr sz="2400" spc="-110" dirty="0">
                <a:latin typeface="Times New Roman"/>
                <a:cs typeface="Times New Roman"/>
              </a:rPr>
              <a:t>problems </a:t>
            </a:r>
            <a:r>
              <a:rPr sz="2400" spc="-95" dirty="0">
                <a:latin typeface="Times New Roman"/>
                <a:cs typeface="Times New Roman"/>
              </a:rPr>
              <a:t>are </a:t>
            </a:r>
            <a:r>
              <a:rPr sz="2400" spc="-114" dirty="0">
                <a:latin typeface="Times New Roman"/>
                <a:cs typeface="Times New Roman"/>
              </a:rPr>
              <a:t>computationally </a:t>
            </a:r>
            <a:r>
              <a:rPr sz="2400" spc="-125" dirty="0">
                <a:latin typeface="Times New Roman"/>
                <a:cs typeface="Times New Roman"/>
              </a:rPr>
              <a:t>very</a:t>
            </a:r>
            <a:r>
              <a:rPr sz="2400" spc="25" dirty="0">
                <a:latin typeface="Times New Roman"/>
                <a:cs typeface="Times New Roman"/>
              </a:rPr>
              <a:t> </a:t>
            </a:r>
            <a:r>
              <a:rPr sz="2400" spc="-130" dirty="0">
                <a:latin typeface="Times New Roman"/>
                <a:cs typeface="Times New Roman"/>
              </a:rPr>
              <a:t>expensive</a:t>
            </a:r>
            <a:endParaRPr sz="2400" dirty="0">
              <a:latin typeface="Times New Roman"/>
              <a:cs typeface="Times New Roman"/>
            </a:endParaRPr>
          </a:p>
          <a:p>
            <a:pPr marL="287020" indent="-274320">
              <a:spcBef>
                <a:spcPts val="1295"/>
              </a:spcBef>
              <a:buClr>
                <a:srgbClr val="D24717"/>
              </a:buClr>
              <a:buSzPct val="85416"/>
              <a:buFont typeface="Arial"/>
              <a:buChar char=""/>
              <a:tabLst>
                <a:tab pos="286385" algn="l"/>
                <a:tab pos="287020" algn="l"/>
              </a:tabLst>
            </a:pPr>
            <a:r>
              <a:rPr sz="2400" spc="-180" dirty="0">
                <a:latin typeface="Times New Roman"/>
                <a:cs typeface="Times New Roman"/>
              </a:rPr>
              <a:t>Lack </a:t>
            </a:r>
            <a:r>
              <a:rPr sz="2400" spc="-140" dirty="0">
                <a:latin typeface="Times New Roman"/>
                <a:cs typeface="Times New Roman"/>
              </a:rPr>
              <a:t>of</a:t>
            </a:r>
            <a:r>
              <a:rPr sz="2400" spc="45" dirty="0">
                <a:latin typeface="Times New Roman"/>
                <a:cs typeface="Times New Roman"/>
              </a:rPr>
              <a:t> </a:t>
            </a:r>
            <a:r>
              <a:rPr sz="2400" spc="-25" dirty="0">
                <a:latin typeface="Times New Roman"/>
                <a:cs typeface="Times New Roman"/>
              </a:rPr>
              <a:t>trust</a:t>
            </a:r>
            <a:endParaRPr sz="2400" dirty="0">
              <a:latin typeface="Times New Roman"/>
              <a:cs typeface="Times New Roman"/>
            </a:endParaRPr>
          </a:p>
          <a:p>
            <a:pPr marL="561340" lvl="1" indent="-228600">
              <a:spcBef>
                <a:spcPts val="409"/>
              </a:spcBef>
              <a:buClr>
                <a:srgbClr val="9B2C1F"/>
              </a:buClr>
              <a:buSzPct val="85416"/>
              <a:buFont typeface="Arial"/>
              <a:buChar char=""/>
              <a:tabLst>
                <a:tab pos="561340" algn="l"/>
              </a:tabLst>
            </a:pPr>
            <a:r>
              <a:rPr sz="2400" spc="-100" dirty="0">
                <a:latin typeface="Times New Roman"/>
                <a:cs typeface="Times New Roman"/>
              </a:rPr>
              <a:t>users </a:t>
            </a:r>
            <a:r>
              <a:rPr sz="2400" spc="-210" dirty="0">
                <a:latin typeface="Times New Roman"/>
                <a:cs typeface="Times New Roman"/>
              </a:rPr>
              <a:t>may </a:t>
            </a:r>
            <a:r>
              <a:rPr sz="2400" spc="-60" dirty="0">
                <a:latin typeface="Times New Roman"/>
                <a:cs typeface="Times New Roman"/>
              </a:rPr>
              <a:t>not </a:t>
            </a:r>
            <a:r>
              <a:rPr sz="2400" spc="-110" dirty="0">
                <a:latin typeface="Times New Roman"/>
                <a:cs typeface="Times New Roman"/>
              </a:rPr>
              <a:t>want </a:t>
            </a:r>
            <a:r>
              <a:rPr sz="2400" spc="-35" dirty="0">
                <a:latin typeface="Times New Roman"/>
                <a:cs typeface="Times New Roman"/>
              </a:rPr>
              <a:t>to </a:t>
            </a:r>
            <a:r>
              <a:rPr sz="2400" spc="-165" dirty="0">
                <a:latin typeface="Times New Roman"/>
                <a:cs typeface="Times New Roman"/>
              </a:rPr>
              <a:t>leave </a:t>
            </a:r>
            <a:r>
              <a:rPr sz="2400" spc="-90" dirty="0">
                <a:latin typeface="Times New Roman"/>
                <a:cs typeface="Times New Roman"/>
              </a:rPr>
              <a:t>critical </a:t>
            </a:r>
            <a:r>
              <a:rPr sz="2400" spc="-130" dirty="0">
                <a:latin typeface="Times New Roman"/>
                <a:cs typeface="Times New Roman"/>
              </a:rPr>
              <a:t>decisions </a:t>
            </a:r>
            <a:r>
              <a:rPr sz="2400" spc="-35" dirty="0">
                <a:latin typeface="Times New Roman"/>
                <a:cs typeface="Times New Roman"/>
              </a:rPr>
              <a:t>to</a:t>
            </a:r>
            <a:r>
              <a:rPr sz="2400" spc="-65" dirty="0">
                <a:latin typeface="Times New Roman"/>
                <a:cs typeface="Times New Roman"/>
              </a:rPr>
              <a:t> </a:t>
            </a:r>
            <a:r>
              <a:rPr sz="2400" spc="-135" dirty="0">
                <a:latin typeface="Times New Roman"/>
                <a:cs typeface="Times New Roman"/>
              </a:rPr>
              <a:t>machines</a:t>
            </a:r>
            <a:endParaRPr sz="2400" dirty="0">
              <a:latin typeface="Times New Roman"/>
              <a:cs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4011-0A70-1A01-9F13-E55DA0199092}"/>
              </a:ext>
            </a:extLst>
          </p:cNvPr>
          <p:cNvSpPr>
            <a:spLocks noGrp="1"/>
          </p:cNvSpPr>
          <p:nvPr>
            <p:ph type="title"/>
          </p:nvPr>
        </p:nvSpPr>
        <p:spPr>
          <a:xfrm>
            <a:off x="1790700" y="3137923"/>
            <a:ext cx="8610600" cy="1293028"/>
          </a:xfrm>
        </p:spPr>
        <p:txBody>
          <a:bodyPr/>
          <a:lstStyle/>
          <a:p>
            <a:pPr algn="ctr"/>
            <a:r>
              <a:rPr lang="en-US" b="1" cap="none" dirty="0"/>
              <a:t>Thank You </a:t>
            </a:r>
            <a:r>
              <a:rPr lang="en-US" b="1" cap="none" dirty="0">
                <a:sym typeface="Wingdings" panose="05000000000000000000" pitchFamily="2" charset="2"/>
              </a:rPr>
              <a:t></a:t>
            </a:r>
            <a:endParaRPr lang="en-US" b="1" cap="none" dirty="0"/>
          </a:p>
        </p:txBody>
      </p:sp>
    </p:spTree>
    <p:extLst>
      <p:ext uri="{BB962C8B-B14F-4D97-AF65-F5344CB8AC3E}">
        <p14:creationId xmlns:p14="http://schemas.microsoft.com/office/powerpoint/2010/main" val="2649019226"/>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Vapor Trail</Template>
  <TotalTime>631</TotalTime>
  <Words>2548</Words>
  <Application>Microsoft Office PowerPoint</Application>
  <PresentationFormat>Widescreen</PresentationFormat>
  <Paragraphs>255</Paragraphs>
  <Slides>38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Aptos</vt:lpstr>
      <vt:lpstr>Aptos Display</vt:lpstr>
      <vt:lpstr>Arial</vt:lpstr>
      <vt:lpstr>Arial</vt:lpstr>
      <vt:lpstr>Century Gothic</vt:lpstr>
      <vt:lpstr>Courier New</vt:lpstr>
      <vt:lpstr>Nunito</vt:lpstr>
      <vt:lpstr>Times New Roman</vt:lpstr>
      <vt:lpstr>Trebuchet MS</vt:lpstr>
      <vt:lpstr>Wingdings</vt:lpstr>
      <vt:lpstr>Vapor Trail</vt:lpstr>
      <vt:lpstr>Knowledge-Based and Expert Systems</vt:lpstr>
      <vt:lpstr>Knowledge</vt:lpstr>
      <vt:lpstr>Knowledge-based system (KBS) </vt:lpstr>
      <vt:lpstr>Knowledge-based Systems (KBS)</vt:lpstr>
      <vt:lpstr>Knowledge-based Systems (KBS)</vt:lpstr>
      <vt:lpstr>Knowledge-based agent</vt:lpstr>
      <vt:lpstr>Why Do We Need KBS?</vt:lpstr>
      <vt:lpstr>Structure of knowledge-based systems.</vt:lpstr>
      <vt:lpstr>Knowledge-based Systems</vt:lpstr>
      <vt:lpstr>Main KBS components</vt:lpstr>
      <vt:lpstr>PowerPoint Presentation</vt:lpstr>
      <vt:lpstr>Main KBS components</vt:lpstr>
      <vt:lpstr>Main KBS components</vt:lpstr>
      <vt:lpstr>Main Reasoning Methods</vt:lpstr>
      <vt:lpstr>PowerPoint Presentation</vt:lpstr>
      <vt:lpstr>PowerPoint Presentation</vt:lpstr>
      <vt:lpstr>Main Reasoning Methods</vt:lpstr>
      <vt:lpstr>PowerPoint Presentation</vt:lpstr>
      <vt:lpstr>Types Of Knowledge</vt:lpstr>
      <vt:lpstr>Types Of Knowledge In AI</vt:lpstr>
      <vt:lpstr>Types Of Knowledge In AI</vt:lpstr>
      <vt:lpstr>Types Of Knowledge In AI</vt:lpstr>
      <vt:lpstr>Types Of Knowledge In AI</vt:lpstr>
      <vt:lpstr>Knowledge Representation In AI</vt:lpstr>
      <vt:lpstr>Techniques Of KR</vt:lpstr>
      <vt:lpstr>PowerPoint Presentation</vt:lpstr>
      <vt:lpstr>PowerPoint Presentation</vt:lpstr>
      <vt:lpstr>PowerPoint Presentation</vt:lpstr>
      <vt:lpstr>PowerPoint Presentation</vt:lpstr>
      <vt:lpstr>PowerPoint Presentation</vt:lpstr>
      <vt:lpstr>PowerPoint Presentation</vt:lpstr>
      <vt:lpstr>Experts</vt:lpstr>
      <vt:lpstr>Expert System </vt:lpstr>
      <vt:lpstr>Advantages Of Expert Systems</vt:lpstr>
      <vt:lpstr>Disadvantages Of ES</vt:lpstr>
      <vt:lpstr>KBS Advantages</vt:lpstr>
      <vt:lpstr>KBS Problems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umme aeman</dc:creator>
  <cp:lastModifiedBy>umme aeman</cp:lastModifiedBy>
  <cp:revision>145</cp:revision>
  <dcterms:created xsi:type="dcterms:W3CDTF">2026-01-23T10:38:02Z</dcterms:created>
  <dcterms:modified xsi:type="dcterms:W3CDTF">2026-03-03T07:29:36Z</dcterms:modified>
</cp:coreProperties>
</file>