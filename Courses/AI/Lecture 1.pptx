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53"/>
  </p:notesMasterIdLst>
  <p:sldIdLst>
    <p:sldId id="256" r:id="rId2"/>
    <p:sldId id="257" r:id="rId3"/>
    <p:sldId id="275" r:id="rId4"/>
    <p:sldId id="274" r:id="rId5"/>
    <p:sldId id="276" r:id="rId6"/>
    <p:sldId id="277" r:id="rId7"/>
    <p:sldId id="282" r:id="rId8"/>
    <p:sldId id="283" r:id="rId9"/>
    <p:sldId id="262" r:id="rId10"/>
    <p:sldId id="263" r:id="rId11"/>
    <p:sldId id="264" r:id="rId12"/>
    <p:sldId id="265" r:id="rId13"/>
    <p:sldId id="279" r:id="rId14"/>
    <p:sldId id="280" r:id="rId15"/>
    <p:sldId id="281" r:id="rId16"/>
    <p:sldId id="284" r:id="rId17"/>
    <p:sldId id="286" r:id="rId18"/>
    <p:sldId id="288" r:id="rId19"/>
    <p:sldId id="285" r:id="rId20"/>
    <p:sldId id="287" r:id="rId21"/>
    <p:sldId id="290" r:id="rId22"/>
    <p:sldId id="309" r:id="rId23"/>
    <p:sldId id="310" r:id="rId24"/>
    <p:sldId id="311" r:id="rId25"/>
    <p:sldId id="312" r:id="rId26"/>
    <p:sldId id="313" r:id="rId27"/>
    <p:sldId id="314" r:id="rId28"/>
    <p:sldId id="315" r:id="rId29"/>
    <p:sldId id="316" r:id="rId30"/>
    <p:sldId id="317" r:id="rId31"/>
    <p:sldId id="308"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7" r:id="rId47"/>
    <p:sldId id="278" r:id="rId48"/>
    <p:sldId id="305" r:id="rId49"/>
    <p:sldId id="306" r:id="rId50"/>
    <p:sldId id="272" r:id="rId51"/>
    <p:sldId id="273"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DD2E3-6ADA-4603-80A7-2400CD488A5B}"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B7A162-E989-4691-828A-DBCAE15BDF3C}" type="slidenum">
              <a:rPr lang="en-US" smtClean="0"/>
              <a:t>‹#›</a:t>
            </a:fld>
            <a:endParaRPr lang="en-US"/>
          </a:p>
        </p:txBody>
      </p:sp>
    </p:spTree>
    <p:extLst>
      <p:ext uri="{BB962C8B-B14F-4D97-AF65-F5344CB8AC3E}">
        <p14:creationId xmlns:p14="http://schemas.microsoft.com/office/powerpoint/2010/main" val="731895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 made thinking power</a:t>
            </a:r>
          </a:p>
        </p:txBody>
      </p:sp>
      <p:sp>
        <p:nvSpPr>
          <p:cNvPr id="4" name="Slide Number Placeholder 3"/>
          <p:cNvSpPr>
            <a:spLocks noGrp="1"/>
          </p:cNvSpPr>
          <p:nvPr>
            <p:ph type="sldNum" sz="quarter" idx="5"/>
          </p:nvPr>
        </p:nvSpPr>
        <p:spPr/>
        <p:txBody>
          <a:bodyPr/>
          <a:lstStyle/>
          <a:p>
            <a:fld id="{86B7A162-E989-4691-828A-DBCAE15BDF3C}" type="slidenum">
              <a:rPr lang="en-US" smtClean="0"/>
              <a:t>2</a:t>
            </a:fld>
            <a:endParaRPr lang="en-US"/>
          </a:p>
        </p:txBody>
      </p:sp>
    </p:spTree>
    <p:extLst>
      <p:ext uri="{BB962C8B-B14F-4D97-AF65-F5344CB8AC3E}">
        <p14:creationId xmlns:p14="http://schemas.microsoft.com/office/powerpoint/2010/main" val="3938254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Cognitive (how human brain thinks in each situation)</a:t>
            </a:r>
          </a:p>
        </p:txBody>
      </p:sp>
      <p:sp>
        <p:nvSpPr>
          <p:cNvPr id="4" name="Slide Number Placeholder 3"/>
          <p:cNvSpPr>
            <a:spLocks noGrp="1"/>
          </p:cNvSpPr>
          <p:nvPr>
            <p:ph type="sldNum" sz="quarter" idx="5"/>
          </p:nvPr>
        </p:nvSpPr>
        <p:spPr/>
        <p:txBody>
          <a:bodyPr/>
          <a:lstStyle/>
          <a:p>
            <a:fld id="{86B7A162-E989-4691-828A-DBCAE15BDF3C}" type="slidenum">
              <a:rPr lang="en-US" smtClean="0"/>
              <a:t>10</a:t>
            </a:fld>
            <a:endParaRPr lang="en-US"/>
          </a:p>
        </p:txBody>
      </p:sp>
    </p:spTree>
    <p:extLst>
      <p:ext uri="{BB962C8B-B14F-4D97-AF65-F5344CB8AC3E}">
        <p14:creationId xmlns:p14="http://schemas.microsoft.com/office/powerpoint/2010/main" val="3097169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 (current, history)</a:t>
            </a:r>
          </a:p>
        </p:txBody>
      </p:sp>
      <p:sp>
        <p:nvSpPr>
          <p:cNvPr id="4" name="Slide Number Placeholder 3"/>
          <p:cNvSpPr>
            <a:spLocks noGrp="1"/>
          </p:cNvSpPr>
          <p:nvPr>
            <p:ph type="sldNum" sz="quarter" idx="5"/>
          </p:nvPr>
        </p:nvSpPr>
        <p:spPr/>
        <p:txBody>
          <a:bodyPr/>
          <a:lstStyle/>
          <a:p>
            <a:fld id="{86B7A162-E989-4691-828A-DBCAE15BDF3C}" type="slidenum">
              <a:rPr lang="en-US" smtClean="0"/>
              <a:t>16</a:t>
            </a:fld>
            <a:endParaRPr lang="en-US"/>
          </a:p>
        </p:txBody>
      </p:sp>
    </p:spTree>
    <p:extLst>
      <p:ext uri="{BB962C8B-B14F-4D97-AF65-F5344CB8AC3E}">
        <p14:creationId xmlns:p14="http://schemas.microsoft.com/office/powerpoint/2010/main" val="2248181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Percept (current, history)</a:t>
            </a:r>
          </a:p>
        </p:txBody>
      </p:sp>
      <p:sp>
        <p:nvSpPr>
          <p:cNvPr id="4" name="Slide Number Placeholder 3"/>
          <p:cNvSpPr>
            <a:spLocks noGrp="1"/>
          </p:cNvSpPr>
          <p:nvPr>
            <p:ph type="sldNum" sz="quarter" idx="5"/>
          </p:nvPr>
        </p:nvSpPr>
        <p:spPr/>
        <p:txBody>
          <a:bodyPr/>
          <a:lstStyle/>
          <a:p>
            <a:fld id="{86B7A162-E989-4691-828A-DBCAE15BDF3C}" type="slidenum">
              <a:rPr lang="en-US" smtClean="0"/>
              <a:t>17</a:t>
            </a:fld>
            <a:endParaRPr lang="en-US"/>
          </a:p>
        </p:txBody>
      </p:sp>
    </p:spTree>
    <p:extLst>
      <p:ext uri="{BB962C8B-B14F-4D97-AF65-F5344CB8AC3E}">
        <p14:creationId xmlns:p14="http://schemas.microsoft.com/office/powerpoint/2010/main" val="1334105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1954 death. 1950 to 1956 (Classical/symbolic/problem solving AI era), </a:t>
            </a:r>
            <a:r>
              <a:rPr lang="en-US" sz="1200" dirty="0">
                <a:solidFill>
                  <a:schemeClr val="tx1">
                    <a:lumMod val="95000"/>
                    <a:lumOff val="5000"/>
                  </a:schemeClr>
                </a:solidFill>
                <a:highlight>
                  <a:srgbClr val="FFFF00"/>
                </a:highlight>
                <a:latin typeface="Aptos Display" panose="020B0004020202020204" pitchFamily="34" charset="0"/>
              </a:rPr>
              <a:t>expert systems(simple if-else), 2023 (</a:t>
            </a:r>
            <a:r>
              <a:rPr lang="en-US" sz="1200" dirty="0" err="1">
                <a:solidFill>
                  <a:schemeClr val="tx1">
                    <a:lumMod val="95000"/>
                    <a:lumOff val="5000"/>
                  </a:schemeClr>
                </a:solidFill>
                <a:highlight>
                  <a:srgbClr val="FFFF00"/>
                </a:highlight>
                <a:latin typeface="Aptos Display" panose="020B0004020202020204" pitchFamily="34" charset="0"/>
              </a:rPr>
              <a:t>chatgbt</a:t>
            </a:r>
            <a:r>
              <a:rPr lang="en-US" sz="1200" dirty="0">
                <a:solidFill>
                  <a:schemeClr val="tx1">
                    <a:lumMod val="95000"/>
                    <a:lumOff val="5000"/>
                  </a:schemeClr>
                </a:solidFill>
                <a:highlight>
                  <a:srgbClr val="FFFF00"/>
                </a:highlight>
                <a:latin typeface="Aptos Display" panose="020B0004020202020204" pitchFamily="34" charset="0"/>
              </a:rPr>
              <a:t>) 2018 (</a:t>
            </a:r>
            <a:r>
              <a:rPr lang="en-US" sz="1200" dirty="0" err="1">
                <a:solidFill>
                  <a:schemeClr val="tx1">
                    <a:lumMod val="95000"/>
                    <a:lumOff val="5000"/>
                  </a:schemeClr>
                </a:solidFill>
                <a:highlight>
                  <a:srgbClr val="FFFF00"/>
                </a:highlight>
                <a:latin typeface="Aptos Display" panose="020B0004020202020204" pitchFamily="34" charset="0"/>
              </a:rPr>
              <a:t>gbt</a:t>
            </a:r>
            <a:r>
              <a:rPr lang="en-US" sz="1200" dirty="0">
                <a:solidFill>
                  <a:schemeClr val="tx1">
                    <a:lumMod val="95000"/>
                    <a:lumOff val="5000"/>
                  </a:schemeClr>
                </a:solidFill>
                <a:highlight>
                  <a:srgbClr val="FFFF00"/>
                </a:highlight>
                <a:latin typeface="Aptos Display" panose="020B0004020202020204" pitchFamily="34" charset="0"/>
              </a:rPr>
              <a:t>, gbt2, gbt3)</a:t>
            </a:r>
            <a:endParaRPr lang="en-US" dirty="0"/>
          </a:p>
        </p:txBody>
      </p:sp>
      <p:sp>
        <p:nvSpPr>
          <p:cNvPr id="4" name="Slide Number Placeholder 3"/>
          <p:cNvSpPr>
            <a:spLocks noGrp="1"/>
          </p:cNvSpPr>
          <p:nvPr>
            <p:ph type="sldNum" sz="quarter" idx="5"/>
          </p:nvPr>
        </p:nvSpPr>
        <p:spPr/>
        <p:txBody>
          <a:bodyPr/>
          <a:lstStyle/>
          <a:p>
            <a:fld id="{86B7A162-E989-4691-828A-DBCAE15BDF3C}" type="slidenum">
              <a:rPr lang="en-US" smtClean="0"/>
              <a:t>48</a:t>
            </a:fld>
            <a:endParaRPr lang="en-US"/>
          </a:p>
        </p:txBody>
      </p:sp>
    </p:spTree>
    <p:extLst>
      <p:ext uri="{BB962C8B-B14F-4D97-AF65-F5344CB8AC3E}">
        <p14:creationId xmlns:p14="http://schemas.microsoft.com/office/powerpoint/2010/main" val="23137250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DC99CF0-0CAA-4932-8798-4D904B003775}" type="datetimeFigureOut">
              <a:rPr lang="en-US" smtClean="0"/>
              <a:t>2/18/2026</a:t>
            </a:fld>
            <a:endParaRPr lang="en-US"/>
          </a:p>
        </p:txBody>
      </p:sp>
      <p:sp>
        <p:nvSpPr>
          <p:cNvPr id="5" name="Footer Placeholder 4"/>
          <p:cNvSpPr>
            <a:spLocks noGrp="1"/>
          </p:cNvSpPr>
          <p:nvPr>
            <p:ph type="ftr" sz="quarter" idx="11"/>
          </p:nvPr>
        </p:nvSpPr>
        <p:spPr>
          <a:xfrm>
            <a:off x="1371600" y="4323847"/>
            <a:ext cx="6400800" cy="365125"/>
          </a:xfrm>
        </p:spPr>
        <p:txBody>
          <a:bodyPr/>
          <a:lstStyle/>
          <a:p>
            <a:endParaRPr lang="en-US"/>
          </a:p>
        </p:txBody>
      </p:sp>
      <p:sp>
        <p:nvSpPr>
          <p:cNvPr id="6" name="Slide Number Placeholder 5"/>
          <p:cNvSpPr>
            <a:spLocks noGrp="1"/>
          </p:cNvSpPr>
          <p:nvPr>
            <p:ph type="sldNum" sz="quarter" idx="12"/>
          </p:nvPr>
        </p:nvSpPr>
        <p:spPr>
          <a:xfrm>
            <a:off x="8077200" y="1430868"/>
            <a:ext cx="2743200"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900771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C99CF0-0CAA-4932-8798-4D904B003775}"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222282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2" y="753535"/>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6"/>
            <a:ext cx="10490200" cy="955675"/>
          </a:xfrm>
        </p:spPr>
        <p:txBody>
          <a:bodyPr>
            <a:normAutofit/>
          </a:bodyPr>
          <a:lstStyle>
            <a:lvl1pPr marL="0" indent="0" algn="r">
              <a:buNone/>
              <a:defRPr sz="22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2"/>
            <a:ext cx="2910840" cy="365125"/>
          </a:xfrm>
        </p:spPr>
        <p:txBody>
          <a:bodyPr/>
          <a:lstStyle>
            <a:lvl1pPr algn="r">
              <a:defRPr/>
            </a:lvl1pPr>
          </a:lstStyle>
          <a:p>
            <a:fld id="{1DC99CF0-0CAA-4932-8798-4D904B003775}" type="datetimeFigureOut">
              <a:rPr lang="en-US" smtClean="0"/>
              <a:t>2/18/2026</a:t>
            </a:fld>
            <a:endParaRPr lang="en-US"/>
          </a:p>
        </p:txBody>
      </p:sp>
      <p:sp>
        <p:nvSpPr>
          <p:cNvPr id="5" name="Footer Placeholder 4"/>
          <p:cNvSpPr>
            <a:spLocks noGrp="1"/>
          </p:cNvSpPr>
          <p:nvPr>
            <p:ph type="ftr" sz="quarter" idx="11"/>
          </p:nvPr>
        </p:nvSpPr>
        <p:spPr>
          <a:xfrm>
            <a:off x="685801" y="381003"/>
            <a:ext cx="6991492" cy="364065"/>
          </a:xfrm>
        </p:spPr>
        <p:txBody>
          <a:bodyPr/>
          <a:lstStyle/>
          <a:p>
            <a:endParaRPr lang="en-US"/>
          </a:p>
        </p:txBody>
      </p:sp>
      <p:sp>
        <p:nvSpPr>
          <p:cNvPr id="6" name="Slide Number Placeholder 5"/>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788603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1"/>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61"/>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7979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10" y="2183802"/>
            <a:ext cx="5079991" cy="823912"/>
          </a:xfrm>
        </p:spPr>
        <p:txBody>
          <a:bodyPr anchor="b">
            <a:normAutofit/>
          </a:bodyPr>
          <a:lstStyle>
            <a:lvl1pPr marL="0" indent="0">
              <a:buNone/>
              <a:defRPr sz="28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2" y="3132668"/>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8"/>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C99CF0-0CAA-4932-8798-4D904B003775}"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760805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C99CF0-0CAA-4932-8798-4D904B003775}"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51023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C99CF0-0CAA-4932-8798-4D904B003775}"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942126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1" y="746761"/>
            <a:ext cx="6510619"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201"/>
            <a:ext cx="4114800" cy="3094485"/>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1969079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7" y="751243"/>
            <a:ext cx="3644963" cy="5467443"/>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201"/>
            <a:ext cx="6873240" cy="3094485"/>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708460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2"/>
            <a:ext cx="10822035"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41"/>
            <a:ext cx="10821840" cy="3478161"/>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7"/>
            <a:ext cx="10820400" cy="701969"/>
          </a:xfrm>
        </p:spPr>
        <p:txBody>
          <a:bodyPr/>
          <a:lstStyle>
            <a:lvl1pPr marL="0" indent="0" algn="l">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961608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4"/>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5"/>
            <a:ext cx="10130516" cy="999067"/>
          </a:xfrm>
        </p:spPr>
        <p:txBody>
          <a:bodyPr anchor="ct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2"/>
            <a:ext cx="2910840" cy="365125"/>
          </a:xfrm>
        </p:spPr>
        <p:txBody>
          <a:bodyPr/>
          <a:lstStyle>
            <a:lvl1pPr algn="r">
              <a:defRPr/>
            </a:lvl1p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a:xfrm>
            <a:off x="685801" y="379943"/>
            <a:ext cx="6991492" cy="365125"/>
          </a:xfrm>
        </p:spPr>
        <p:txBody>
          <a:bodyPr/>
          <a:lstStyle/>
          <a:p>
            <a:endParaRPr lang="en-US"/>
          </a:p>
        </p:txBody>
      </p:sp>
      <p:sp>
        <p:nvSpPr>
          <p:cNvPr id="7" name="Slide Number Placeholder 6"/>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5922632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8" y="753534"/>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8"/>
            <a:ext cx="9592736" cy="444443"/>
          </a:xfrm>
        </p:spPr>
        <p:txBody>
          <a:bodyPr anchor="t">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8" y="3959864"/>
            <a:ext cx="10151533" cy="679871"/>
          </a:xfrm>
        </p:spPr>
        <p:txBody>
          <a:bodyPr anchor="ctr">
            <a:normAutofit/>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2"/>
            <a:ext cx="2910840" cy="365125"/>
          </a:xfrm>
        </p:spPr>
        <p:txBody>
          <a:bodyPr/>
          <a:lstStyle>
            <a:lvl1pPr algn="r">
              <a:defRPr/>
            </a:lvl1p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a:xfrm>
            <a:off x="685801" y="379943"/>
            <a:ext cx="6991492" cy="365125"/>
          </a:xfrm>
        </p:spPr>
        <p:txBody>
          <a:bodyPr/>
          <a:lstStyle/>
          <a:p>
            <a:endParaRPr lang="en-US"/>
          </a:p>
        </p:txBody>
      </p:sp>
      <p:sp>
        <p:nvSpPr>
          <p:cNvPr id="7" name="Slide Number Placeholder 6"/>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
        <p:nvSpPr>
          <p:cNvPr id="9" name="TextBox 8"/>
          <p:cNvSpPr txBox="1"/>
          <p:nvPr/>
        </p:nvSpPr>
        <p:spPr>
          <a:xfrm>
            <a:off x="476251"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1"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589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3"/>
            <a:ext cx="10146187"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7"/>
            <a:ext cx="10144655" cy="999885"/>
          </a:xfrm>
        </p:spPr>
        <p:txBody>
          <a:bodyPr anchor="t"/>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5"/>
            <a:ext cx="2910840" cy="365125"/>
          </a:xfrm>
        </p:spPr>
        <p:txBody>
          <a:bodyPr/>
          <a:lstStyle>
            <a:lvl1pPr algn="r">
              <a:defRPr/>
            </a:lvl1pPr>
          </a:lstStyle>
          <a:p>
            <a:fld id="{1DC99CF0-0CAA-4932-8798-4D904B003775}" type="datetimeFigureOut">
              <a:rPr lang="en-US" smtClean="0"/>
              <a:t>2/18/2026</a:t>
            </a:fld>
            <a:endParaRPr lang="en-US"/>
          </a:p>
        </p:txBody>
      </p:sp>
      <p:sp>
        <p:nvSpPr>
          <p:cNvPr id="6" name="Footer Placeholder 5"/>
          <p:cNvSpPr>
            <a:spLocks noGrp="1"/>
          </p:cNvSpPr>
          <p:nvPr>
            <p:ph type="ftr" sz="quarter" idx="11"/>
          </p:nvPr>
        </p:nvSpPr>
        <p:spPr>
          <a:xfrm>
            <a:off x="685801" y="378885"/>
            <a:ext cx="6991492" cy="365125"/>
          </a:xfrm>
        </p:spPr>
        <p:txBody>
          <a:bodyPr/>
          <a:lstStyle/>
          <a:p>
            <a:endParaRPr lang="en-US"/>
          </a:p>
        </p:txBody>
      </p:sp>
      <p:sp>
        <p:nvSpPr>
          <p:cNvPr id="7" name="Slide Number Placeholder 6"/>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658598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2" y="762001"/>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9" y="2904067"/>
            <a:ext cx="3456432" cy="3314618"/>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C99CF0-0CAA-4932-8798-4D904B003775}"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195238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2"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2"/>
            <a:ext cx="3451583" cy="682765"/>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6"/>
            <a:ext cx="3451583" cy="1344921"/>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5" y="4191002"/>
            <a:ext cx="3448935" cy="682765"/>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6" y="4873765"/>
            <a:ext cx="3448935" cy="1344921"/>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2" y="4191002"/>
            <a:ext cx="3456469" cy="682765"/>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9"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2" y="4873763"/>
            <a:ext cx="3452445" cy="1344921"/>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C99CF0-0CAA-4932-8798-4D904B003775}"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145106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61"/>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C99CF0-0CAA-4932-8798-4D904B003775}"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37371490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8"/>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8" y="745069"/>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3"/>
            <a:ext cx="2910840" cy="365125"/>
          </a:xfrm>
        </p:spPr>
        <p:txBody>
          <a:bodyPr/>
          <a:lstStyle>
            <a:lvl1pPr algn="r">
              <a:defRPr/>
            </a:lvl1pPr>
          </a:lstStyle>
          <a:p>
            <a:fld id="{1DC99CF0-0CAA-4932-8798-4D904B003775}" type="datetimeFigureOut">
              <a:rPr lang="en-US" smtClean="0"/>
              <a:t>2/18/2026</a:t>
            </a:fld>
            <a:endParaRPr lang="en-US"/>
          </a:p>
        </p:txBody>
      </p:sp>
      <p:sp>
        <p:nvSpPr>
          <p:cNvPr id="5" name="Footer Placeholder 4"/>
          <p:cNvSpPr>
            <a:spLocks noGrp="1"/>
          </p:cNvSpPr>
          <p:nvPr>
            <p:ph type="ftr" sz="quarter" idx="11"/>
          </p:nvPr>
        </p:nvSpPr>
        <p:spPr>
          <a:xfrm>
            <a:off x="685801" y="381002"/>
            <a:ext cx="6991492" cy="365125"/>
          </a:xfrm>
        </p:spPr>
        <p:txBody>
          <a:bodyPr/>
          <a:lstStyle/>
          <a:p>
            <a:endParaRPr lang="en-US"/>
          </a:p>
        </p:txBody>
      </p:sp>
      <p:sp>
        <p:nvSpPr>
          <p:cNvPr id="6" name="Slide Number Placeholder 5"/>
          <p:cNvSpPr>
            <a:spLocks noGrp="1"/>
          </p:cNvSpPr>
          <p:nvPr>
            <p:ph type="sldNum" sz="quarter" idx="12"/>
          </p:nvPr>
        </p:nvSpPr>
        <p:spPr>
          <a:xfrm>
            <a:off x="10862453" y="381002"/>
            <a:ext cx="643748" cy="365125"/>
          </a:xfrm>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768209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1"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C99CF0-0CAA-4932-8798-4D904B003775}"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476CE-2A86-4046-B471-1E7C824B13A2}" type="slidenum">
              <a:rPr lang="en-US" smtClean="0"/>
              <a:t>‹#›</a:t>
            </a:fld>
            <a:endParaRPr lang="en-US"/>
          </a:p>
        </p:txBody>
      </p:sp>
    </p:spTree>
    <p:extLst>
      <p:ext uri="{BB962C8B-B14F-4D97-AF65-F5344CB8AC3E}">
        <p14:creationId xmlns:p14="http://schemas.microsoft.com/office/powerpoint/2010/main" val="2193152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2"/>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2"/>
            <a:ext cx="2910840" cy="365125"/>
          </a:xfrm>
          <a:prstGeom prst="rect">
            <a:avLst/>
          </a:prstGeom>
        </p:spPr>
        <p:txBody>
          <a:bodyPr vert="horz" lIns="91440" tIns="45720" rIns="91440" bIns="45720" rtlCol="0" anchor="ctr"/>
          <a:lstStyle>
            <a:lvl1pPr algn="r">
              <a:defRPr sz="1051">
                <a:solidFill>
                  <a:schemeClr val="tx1">
                    <a:tint val="75000"/>
                  </a:schemeClr>
                </a:solidFill>
              </a:defRPr>
            </a:lvl1pPr>
          </a:lstStyle>
          <a:p>
            <a:fld id="{1DC99CF0-0CAA-4932-8798-4D904B003775}" type="datetimeFigureOut">
              <a:rPr lang="en-US" smtClean="0"/>
              <a:t>2/18/2026</a:t>
            </a:fld>
            <a:endParaRPr lang="en-US"/>
          </a:p>
        </p:txBody>
      </p:sp>
      <p:sp>
        <p:nvSpPr>
          <p:cNvPr id="5" name="Footer Placeholder 4"/>
          <p:cNvSpPr>
            <a:spLocks noGrp="1"/>
          </p:cNvSpPr>
          <p:nvPr>
            <p:ph type="ftr" sz="quarter" idx="3"/>
          </p:nvPr>
        </p:nvSpPr>
        <p:spPr>
          <a:xfrm>
            <a:off x="685800" y="6355847"/>
            <a:ext cx="7772400" cy="365125"/>
          </a:xfrm>
          <a:prstGeom prst="rect">
            <a:avLst/>
          </a:prstGeom>
        </p:spPr>
        <p:txBody>
          <a:bodyPr vert="horz" lIns="91440" tIns="45720" rIns="91440" bIns="45720" rtlCol="0" anchor="ctr"/>
          <a:lstStyle>
            <a:lvl1pPr algn="l">
              <a:defRPr sz="105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2"/>
            <a:ext cx="2743200" cy="365125"/>
          </a:xfrm>
          <a:prstGeom prst="rect">
            <a:avLst/>
          </a:prstGeom>
        </p:spPr>
        <p:txBody>
          <a:bodyPr vert="horz" lIns="91440" tIns="45720" rIns="91440" bIns="45720" rtlCol="0" anchor="ctr"/>
          <a:lstStyle>
            <a:lvl1pPr algn="r">
              <a:defRPr sz="1051">
                <a:solidFill>
                  <a:schemeClr val="tx1">
                    <a:tint val="75000"/>
                  </a:schemeClr>
                </a:solidFill>
              </a:defRPr>
            </a:lvl1pPr>
          </a:lstStyle>
          <a:p>
            <a:fld id="{389476CE-2A86-4046-B471-1E7C824B13A2}" type="slidenum">
              <a:rPr lang="en-US" smtClean="0"/>
              <a:t>‹#›</a:t>
            </a:fld>
            <a:endParaRPr lang="en-US"/>
          </a:p>
        </p:txBody>
      </p:sp>
    </p:spTree>
    <p:extLst>
      <p:ext uri="{BB962C8B-B14F-4D97-AF65-F5344CB8AC3E}">
        <p14:creationId xmlns:p14="http://schemas.microsoft.com/office/powerpoint/2010/main" val="2887705812"/>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Lst>
  <p:txStyles>
    <p:titleStyle>
      <a:lvl1pPr algn="r" defTabSz="914377"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hyperlink" Target="https://www.geeksforgeeks.org/artificial-intelligence/simple-reflex-agents-in-ai/" TargetMode="Externa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hyperlink" Target="https://www.geeksforgeeks.org/artificial-intelligence/simple-reflex-agents-in-ai/" TargetMode="Externa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geeksforgeeks.org/artificial-intelligence/simple-reflex-agents-in-ai/" TargetMode="Externa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F78F8-1AA4-27AE-316A-A617FFE79EBA}"/>
              </a:ext>
            </a:extLst>
          </p:cNvPr>
          <p:cNvSpPr>
            <a:spLocks noGrp="1"/>
          </p:cNvSpPr>
          <p:nvPr>
            <p:ph type="ctrTitle"/>
          </p:nvPr>
        </p:nvSpPr>
        <p:spPr>
          <a:xfrm>
            <a:off x="1225685" y="1807105"/>
            <a:ext cx="9448800" cy="1825096"/>
          </a:xfrm>
        </p:spPr>
        <p:txBody>
          <a:bodyPr>
            <a:normAutofit fontScale="90000"/>
          </a:bodyPr>
          <a:lstStyle/>
          <a:p>
            <a:r>
              <a:rPr lang="en-US" sz="6600" b="1" cap="none" dirty="0">
                <a:ln w="0"/>
                <a:solidFill>
                  <a:schemeClr val="accent2">
                    <a:lumMod val="60000"/>
                    <a:lumOff val="40000"/>
                  </a:schemeClr>
                </a:solidFill>
                <a:effectLst>
                  <a:reflection blurRad="6350" stA="53000" endA="300" endPos="35500" dir="5400000" sy="-90000" algn="bl" rotWithShape="0"/>
                </a:effectLst>
                <a:latin typeface="Aptos Display" panose="020B0004020202020204" pitchFamily="34" charset="0"/>
              </a:rPr>
              <a:t>Introduction to Artificial Intelligence (AI)</a:t>
            </a:r>
          </a:p>
        </p:txBody>
      </p:sp>
      <p:sp>
        <p:nvSpPr>
          <p:cNvPr id="3" name="Subtitle 2">
            <a:extLst>
              <a:ext uri="{FF2B5EF4-FFF2-40B4-BE49-F238E27FC236}">
                <a16:creationId xmlns:a16="http://schemas.microsoft.com/office/drawing/2014/main" id="{EC0D4A12-B52C-8447-0156-A4A701E9D70B}"/>
              </a:ext>
            </a:extLst>
          </p:cNvPr>
          <p:cNvSpPr>
            <a:spLocks noGrp="1"/>
          </p:cNvSpPr>
          <p:nvPr>
            <p:ph type="subTitle" idx="1"/>
          </p:nvPr>
        </p:nvSpPr>
        <p:spPr>
          <a:xfrm>
            <a:off x="1392678" y="3719749"/>
            <a:ext cx="2556753" cy="685800"/>
          </a:xfrm>
        </p:spPr>
        <p:txBody>
          <a:bodyPr/>
          <a:lstStyle/>
          <a:p>
            <a:r>
              <a:rPr lang="en-US" cap="none" dirty="0">
                <a:latin typeface="Aptos" panose="020B0004020202020204" pitchFamily="34" charset="0"/>
              </a:rPr>
              <a:t>By Umme Aeman</a:t>
            </a:r>
          </a:p>
        </p:txBody>
      </p:sp>
    </p:spTree>
    <p:extLst>
      <p:ext uri="{BB962C8B-B14F-4D97-AF65-F5344CB8AC3E}">
        <p14:creationId xmlns:p14="http://schemas.microsoft.com/office/powerpoint/2010/main" val="855118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What is Intelligence?</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1257096" y="2023355"/>
            <a:ext cx="10007533" cy="4586591"/>
          </a:xfrm>
        </p:spPr>
        <p:txBody>
          <a:bodyPr>
            <a:normAutofit fontScale="92500" lnSpcReduction="10000"/>
          </a:bodyPr>
          <a:lstStyle/>
          <a:p>
            <a:pPr marL="0">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Intelligence is the ability of an entity to:</a:t>
            </a:r>
          </a:p>
          <a:p>
            <a:pPr marL="457189" lvl="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Learn from experience</a:t>
            </a:r>
          </a:p>
          <a:p>
            <a:pPr marL="457189" lvl="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Understand and apply knowledge</a:t>
            </a:r>
          </a:p>
          <a:p>
            <a:pPr marL="457189" lvl="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Reason and solve problems</a:t>
            </a:r>
          </a:p>
          <a:p>
            <a:pPr marL="457189" lvl="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Adapt to new situations</a:t>
            </a:r>
          </a:p>
          <a:p>
            <a:pPr marL="457189" lvl="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Make decisions to achieve goals</a:t>
            </a:r>
            <a:endParaRPr lang="en-US" sz="2800" kern="100" dirty="0">
              <a:solidFill>
                <a:srgbClr val="0D0D0D"/>
              </a:solidFill>
              <a:latin typeface="Aptos" panose="020B0004020202020204" pitchFamily="34" charset="0"/>
              <a:ea typeface="Aptos" panose="020B0004020202020204" pitchFamily="34" charset="0"/>
              <a:cs typeface="Times New Roman" panose="02020603050405020304" pitchFamily="18" charset="0"/>
            </a:endParaRPr>
          </a:p>
          <a:p>
            <a:pPr marL="114297" indent="-34289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In humans, intelligence includes thinking, perception, memory, learning, creativity, and problem solving.</a:t>
            </a:r>
          </a:p>
          <a:p>
            <a:pPr marL="114297" indent="-34289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In machines, intelligence is simulated through algorithms, data, and computational models.</a:t>
            </a:r>
          </a:p>
          <a:p>
            <a:pPr marL="114297" indent="-342891">
              <a:lnSpc>
                <a:spcPct val="107000"/>
              </a:lnSpc>
              <a:spcBef>
                <a:spcPts val="0"/>
              </a:spcBef>
              <a:spcAft>
                <a:spcPts val="800"/>
              </a:spcAft>
            </a:pPr>
            <a:r>
              <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Intelligence could be defined as the capacity to acquire and apply knowledge.</a:t>
            </a:r>
          </a:p>
          <a:p>
            <a:pPr marL="228594" lvl="1" indent="0">
              <a:lnSpc>
                <a:spcPct val="107000"/>
              </a:lnSpc>
              <a:spcBef>
                <a:spcPts val="0"/>
              </a:spcBef>
              <a:spcAft>
                <a:spcPts val="800"/>
              </a:spcAft>
              <a:buNone/>
            </a:pPr>
            <a:endParaRPr lang="en-US" sz="2400" kern="100" dirty="0">
              <a:solidFill>
                <a:srgbClr val="0D0D0D"/>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64203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Why Every Security Pro Should Know The Intelligence Cycle">
            <a:extLst>
              <a:ext uri="{FF2B5EF4-FFF2-40B4-BE49-F238E27FC236}">
                <a16:creationId xmlns:a16="http://schemas.microsoft.com/office/drawing/2014/main" id="{8391118A-0450-A4D5-D837-298209C15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8173" y="809245"/>
            <a:ext cx="6275556" cy="583626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7D5A5DAB-0243-16CE-CC40-866D1732055E}"/>
              </a:ext>
            </a:extLst>
          </p:cNvPr>
          <p:cNvCxnSpPr>
            <a:cxnSpLocks/>
          </p:cNvCxnSpPr>
          <p:nvPr/>
        </p:nvCxnSpPr>
        <p:spPr>
          <a:xfrm>
            <a:off x="4265579" y="1721796"/>
            <a:ext cx="510703" cy="457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861943B5-362F-29DF-A607-102A4AC1FB85}"/>
              </a:ext>
            </a:extLst>
          </p:cNvPr>
          <p:cNvSpPr/>
          <p:nvPr/>
        </p:nvSpPr>
        <p:spPr>
          <a:xfrm>
            <a:off x="2017882" y="1102922"/>
            <a:ext cx="2373551" cy="786092"/>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Feedback is received</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New requirements arise</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The cycle </a:t>
            </a:r>
            <a:r>
              <a:rPr lang="en-US" altLang="en-US" sz="1400" b="1" dirty="0">
                <a:solidFill>
                  <a:schemeClr val="tx1"/>
                </a:solidFill>
                <a:latin typeface="Arial" panose="020B0604020202020204" pitchFamily="34" charset="0"/>
              </a:rPr>
              <a:t>starts again</a:t>
            </a:r>
            <a:endParaRPr lang="en-US" altLang="en-US" sz="1400" dirty="0">
              <a:solidFill>
                <a:schemeClr val="tx1"/>
              </a:solidFill>
              <a:latin typeface="Arial" panose="020B0604020202020204" pitchFamily="34" charset="0"/>
            </a:endParaRPr>
          </a:p>
        </p:txBody>
      </p:sp>
      <p:sp>
        <p:nvSpPr>
          <p:cNvPr id="10" name="Rectangle 9">
            <a:extLst>
              <a:ext uri="{FF2B5EF4-FFF2-40B4-BE49-F238E27FC236}">
                <a16:creationId xmlns:a16="http://schemas.microsoft.com/office/drawing/2014/main" id="{09D20915-CC33-F62F-F9BB-89AA191AAC01}"/>
              </a:ext>
            </a:extLst>
          </p:cNvPr>
          <p:cNvSpPr/>
          <p:nvPr/>
        </p:nvSpPr>
        <p:spPr>
          <a:xfrm>
            <a:off x="6802671" y="709875"/>
            <a:ext cx="3593157" cy="786092"/>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ctr"/>
          <a:lstStyle/>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Decide what information is needed</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Set objectives and priorities</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Identify key questions to be answered</a:t>
            </a:r>
          </a:p>
        </p:txBody>
      </p:sp>
      <p:sp>
        <p:nvSpPr>
          <p:cNvPr id="12" name="Rectangle 11">
            <a:extLst>
              <a:ext uri="{FF2B5EF4-FFF2-40B4-BE49-F238E27FC236}">
                <a16:creationId xmlns:a16="http://schemas.microsoft.com/office/drawing/2014/main" id="{972A93BB-62ED-468F-7BA6-65EEA0C41581}"/>
              </a:ext>
            </a:extLst>
          </p:cNvPr>
          <p:cNvSpPr/>
          <p:nvPr/>
        </p:nvSpPr>
        <p:spPr>
          <a:xfrm>
            <a:off x="8926747" y="2733555"/>
            <a:ext cx="2873311" cy="924039"/>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ctr"/>
          <a:lstStyle/>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Gather raw data from relevant sources</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Data may be structured or unstructured</a:t>
            </a:r>
          </a:p>
        </p:txBody>
      </p:sp>
      <p:sp>
        <p:nvSpPr>
          <p:cNvPr id="13" name="Rectangle 12">
            <a:extLst>
              <a:ext uri="{FF2B5EF4-FFF2-40B4-BE49-F238E27FC236}">
                <a16:creationId xmlns:a16="http://schemas.microsoft.com/office/drawing/2014/main" id="{1DAE83B8-DA54-E9B0-18C5-392C6AFFC70A}"/>
              </a:ext>
            </a:extLst>
          </p:cNvPr>
          <p:cNvSpPr/>
          <p:nvPr/>
        </p:nvSpPr>
        <p:spPr>
          <a:xfrm>
            <a:off x="8206900" y="5481764"/>
            <a:ext cx="3593157" cy="1095529"/>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ctr"/>
          <a:lstStyle/>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Organize, clean, and prepare data</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Remove irrelevant or duplicate information</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Convert data into usable form</a:t>
            </a:r>
          </a:p>
        </p:txBody>
      </p:sp>
      <p:sp>
        <p:nvSpPr>
          <p:cNvPr id="16" name="Rectangle 15">
            <a:extLst>
              <a:ext uri="{FF2B5EF4-FFF2-40B4-BE49-F238E27FC236}">
                <a16:creationId xmlns:a16="http://schemas.microsoft.com/office/drawing/2014/main" id="{2807F40B-790C-1292-CB29-45AAD834B206}"/>
              </a:ext>
            </a:extLst>
          </p:cNvPr>
          <p:cNvSpPr/>
          <p:nvPr/>
        </p:nvSpPr>
        <p:spPr>
          <a:xfrm>
            <a:off x="311286" y="5467107"/>
            <a:ext cx="3954295" cy="786092"/>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ctr"/>
          <a:lstStyle/>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Analyze processed information</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Interpret patterns and insights</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Produce conclusions or recommendations</a:t>
            </a:r>
          </a:p>
        </p:txBody>
      </p:sp>
      <p:sp>
        <p:nvSpPr>
          <p:cNvPr id="17" name="Rectangle 16">
            <a:extLst>
              <a:ext uri="{FF2B5EF4-FFF2-40B4-BE49-F238E27FC236}">
                <a16:creationId xmlns:a16="http://schemas.microsoft.com/office/drawing/2014/main" id="{ECF5F18D-9AB5-16DC-B79D-0D8DB122D3C4}"/>
              </a:ext>
            </a:extLst>
          </p:cNvPr>
          <p:cNvSpPr/>
          <p:nvPr/>
        </p:nvSpPr>
        <p:spPr>
          <a:xfrm>
            <a:off x="142676" y="2871502"/>
            <a:ext cx="3122579" cy="786092"/>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ctr"/>
          <a:lstStyle/>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Deliver the final intelligence to decision-makers</a:t>
            </a:r>
          </a:p>
          <a:p>
            <a:pPr marL="285744" indent="-285744" defTabSz="914377" eaLnBrk="0" fontAlgn="base" hangingPunct="0">
              <a:spcBef>
                <a:spcPct val="0"/>
              </a:spcBef>
              <a:spcAft>
                <a:spcPct val="0"/>
              </a:spcAft>
              <a:buFont typeface="Arial" panose="020B0604020202020204" pitchFamily="34" charset="0"/>
              <a:buChar char="•"/>
            </a:pPr>
            <a:r>
              <a:rPr lang="en-US" altLang="en-US" sz="1400" dirty="0">
                <a:solidFill>
                  <a:schemeClr val="tx1"/>
                </a:solidFill>
                <a:latin typeface="Arial" panose="020B0604020202020204" pitchFamily="34" charset="0"/>
              </a:rPr>
              <a:t>Present in reports, dashboards, or documents</a:t>
            </a:r>
          </a:p>
        </p:txBody>
      </p:sp>
    </p:spTree>
    <p:extLst>
      <p:ext uri="{BB962C8B-B14F-4D97-AF65-F5344CB8AC3E}">
        <p14:creationId xmlns:p14="http://schemas.microsoft.com/office/powerpoint/2010/main" val="274424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What is Artificial Intelligence?</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526915" y="1979582"/>
            <a:ext cx="11138171" cy="4800599"/>
          </a:xfrm>
        </p:spPr>
        <p:txBody>
          <a:bodyPr>
            <a:normAutofit/>
          </a:bodyPr>
          <a:lstStyle/>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Artificial Intelligence (AI) is a branch of computer science that aims to </a:t>
            </a:r>
            <a:r>
              <a:rPr lang="en-US" b="1" kern="100" dirty="0">
                <a:solidFill>
                  <a:srgbClr val="0D0D0D"/>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create machines</a:t>
            </a:r>
            <a:r>
              <a:rPr lang="en-US" b="1"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 or programs </a:t>
            </a:r>
            <a:r>
              <a:rPr lang="en-US" b="1" kern="100" dirty="0">
                <a:solidFill>
                  <a:srgbClr val="0D0D0D"/>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that can perform tasks which normally require human intelligence.</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“AI is the science and engineering of making intelligent machines.”</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AI focuses on </a:t>
            </a:r>
            <a:r>
              <a:rPr lang="en-US" b="1" kern="100" dirty="0">
                <a:solidFill>
                  <a:srgbClr val="0D0D0D"/>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thinking, learning, reasoning, and acting intelligently</a:t>
            </a: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AI is the study of how to make computers do things, which at the moment people can do better.</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 branch of computer science that is concerned with the automation of intelligent behavior of human beings.</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 branch of computer science that is concerned with the development of a thinking machine. (Teach the machines how  to think and they can think).</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A field of study in computer science that chases the goal of making a computer reason in a manner similar to humans.</a:t>
            </a:r>
          </a:p>
          <a:p>
            <a:pPr marL="571486" lvl="1" indent="-342891">
              <a:lnSpc>
                <a:spcPct val="107000"/>
              </a:lnSpc>
              <a:spcBef>
                <a:spcPts val="0"/>
              </a:spcBef>
              <a:spcAft>
                <a:spcPts val="800"/>
              </a:spcAft>
            </a:pPr>
            <a:r>
              <a:rPr lang="en-US" kern="100" dirty="0">
                <a:solidFill>
                  <a:srgbClr val="0D0D0D"/>
                </a:solidFill>
                <a:effectLst/>
                <a:latin typeface="Aptos" panose="020B0004020202020204" pitchFamily="34" charset="0"/>
                <a:ea typeface="Aptos" panose="020B0004020202020204" pitchFamily="34" charset="0"/>
                <a:cs typeface="Times New Roman" panose="02020603050405020304" pitchFamily="18" charset="0"/>
              </a:rPr>
              <a:t>It involves the design and study of computer programs that behave intelligently.</a:t>
            </a:r>
          </a:p>
        </p:txBody>
      </p:sp>
    </p:spTree>
    <p:extLst>
      <p:ext uri="{BB962C8B-B14F-4D97-AF65-F5344CB8AC3E}">
        <p14:creationId xmlns:p14="http://schemas.microsoft.com/office/powerpoint/2010/main" val="823347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What is Artificial Intelligence?</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1383557" y="2140085"/>
            <a:ext cx="9754615" cy="4484451"/>
          </a:xfrm>
        </p:spPr>
        <p:txBody>
          <a:bodyPr>
            <a:normAutofit fontScale="92500" lnSpcReduction="10000"/>
          </a:bodyPr>
          <a:lstStyle/>
          <a:p>
            <a:pPr marL="571486" lvl="1" indent="-342891">
              <a:lnSpc>
                <a:spcPct val="107000"/>
              </a:lnSpc>
              <a:spcBef>
                <a:spcPts val="0"/>
              </a:spcBef>
              <a:spcAft>
                <a:spcPts val="800"/>
              </a:spcAft>
            </a:pPr>
            <a:r>
              <a:rPr lang="en-US" sz="32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AI is the study of ideas that enable computers to be intelligent.</a:t>
            </a:r>
          </a:p>
          <a:p>
            <a:pPr marL="571486" lvl="1" indent="-342891">
              <a:lnSpc>
                <a:spcPct val="107000"/>
              </a:lnSpc>
              <a:spcBef>
                <a:spcPts val="0"/>
              </a:spcBef>
              <a:spcAft>
                <a:spcPts val="800"/>
              </a:spcAft>
            </a:pPr>
            <a:r>
              <a:rPr lang="en-US" sz="32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AI is the part of computer science concerned with design of computer systems that exhibit(Show outwardly) human intelligence.</a:t>
            </a:r>
          </a:p>
          <a:p>
            <a:pPr marL="571486" lvl="1" indent="-342891">
              <a:lnSpc>
                <a:spcPct val="107000"/>
              </a:lnSpc>
              <a:spcBef>
                <a:spcPts val="0"/>
              </a:spcBef>
              <a:spcAft>
                <a:spcPts val="800"/>
              </a:spcAft>
            </a:pPr>
            <a:r>
              <a:rPr lang="en-US" sz="32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AI is the science of making machines do things that would require intelligence if done by people.</a:t>
            </a:r>
          </a:p>
          <a:p>
            <a:pPr marL="571486" lvl="1" indent="-342891">
              <a:lnSpc>
                <a:spcPct val="107000"/>
              </a:lnSpc>
              <a:spcBef>
                <a:spcPts val="0"/>
              </a:spcBef>
              <a:spcAft>
                <a:spcPts val="800"/>
              </a:spcAft>
            </a:pPr>
            <a:r>
              <a:rPr lang="en-US" sz="3200" kern="100" dirty="0">
                <a:solidFill>
                  <a:srgbClr val="0D0D0D"/>
                </a:solidFill>
                <a:latin typeface="Aptos" panose="020B0004020202020204" pitchFamily="34" charset="0"/>
                <a:ea typeface="Aptos" panose="020B0004020202020204" pitchFamily="34" charset="0"/>
                <a:cs typeface="Times New Roman" panose="02020603050405020304" pitchFamily="18" charset="0"/>
              </a:rPr>
              <a:t>It is the collection of problems and methodologies studied by AI researchers.</a:t>
            </a:r>
          </a:p>
        </p:txBody>
      </p:sp>
    </p:spTree>
    <p:extLst>
      <p:ext uri="{BB962C8B-B14F-4D97-AF65-F5344CB8AC3E}">
        <p14:creationId xmlns:p14="http://schemas.microsoft.com/office/powerpoint/2010/main" val="1775665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What is Artificial Intelligence?</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1383557" y="2125495"/>
            <a:ext cx="10046444" cy="4353127"/>
          </a:xfrm>
        </p:spPr>
        <p:txBody>
          <a:bodyPr>
            <a:normAutofit lnSpcReduction="10000"/>
          </a:bodyPr>
          <a:lstStyle/>
          <a:p>
            <a:pPr eaLnBrk="1" hangingPunct="1">
              <a:defRPr/>
            </a:pPr>
            <a:r>
              <a:rPr lang="en-US" sz="2800" dirty="0">
                <a:solidFill>
                  <a:schemeClr val="tx1">
                    <a:lumMod val="95000"/>
                    <a:lumOff val="5000"/>
                  </a:schemeClr>
                </a:solidFill>
                <a:latin typeface="Aptos Display" panose="020B0004020202020204" pitchFamily="34" charset="0"/>
                <a:cs typeface="Times New Roman" charset="0"/>
              </a:rPr>
              <a:t>AI is the part of computer science concerned with designing intelligent computer systems, that is, computer systems that exhibit the characteristics we associate with intelligence in human behavior-understanding language, learning, reasoning and solving problems.</a:t>
            </a:r>
          </a:p>
          <a:p>
            <a:pPr eaLnBrk="1" hangingPunct="1">
              <a:defRPr/>
            </a:pPr>
            <a:endParaRPr lang="en-US" sz="2800" dirty="0">
              <a:solidFill>
                <a:schemeClr val="tx1">
                  <a:lumMod val="95000"/>
                  <a:lumOff val="5000"/>
                </a:schemeClr>
              </a:solidFill>
              <a:latin typeface="Aptos Display" panose="020B0004020202020204" pitchFamily="34" charset="0"/>
              <a:cs typeface="Times New Roman" charset="0"/>
            </a:endParaRPr>
          </a:p>
          <a:p>
            <a:pPr eaLnBrk="1" hangingPunct="1">
              <a:defRPr/>
            </a:pPr>
            <a:r>
              <a:rPr lang="en-US" sz="2800" dirty="0">
                <a:solidFill>
                  <a:schemeClr val="tx1">
                    <a:lumMod val="95000"/>
                    <a:lumOff val="5000"/>
                  </a:schemeClr>
                </a:solidFill>
                <a:latin typeface="Aptos Display" panose="020B0004020202020204" pitchFamily="34" charset="0"/>
                <a:cs typeface="Times New Roman" charset="0"/>
              </a:rPr>
              <a:t>Artificial Intelligence is based on Sound theoretical &amp; applied principals of computer science such as</a:t>
            </a:r>
          </a:p>
          <a:p>
            <a:pPr lvl="2" eaLnBrk="1" hangingPunct="1">
              <a:buFontTx/>
              <a:buChar char="•"/>
              <a:defRPr/>
            </a:pPr>
            <a:r>
              <a:rPr lang="en-US" sz="2800" dirty="0">
                <a:solidFill>
                  <a:schemeClr val="tx1">
                    <a:lumMod val="95000"/>
                    <a:lumOff val="5000"/>
                  </a:schemeClr>
                </a:solidFill>
                <a:latin typeface="Aptos Display" panose="020B0004020202020204" pitchFamily="34" charset="0"/>
                <a:cs typeface="Times New Roman" charset="0"/>
              </a:rPr>
              <a:t>  Data structures used for knowledge representation,</a:t>
            </a:r>
          </a:p>
          <a:p>
            <a:pPr lvl="2" eaLnBrk="1" hangingPunct="1">
              <a:buFontTx/>
              <a:buChar char="•"/>
              <a:defRPr/>
            </a:pPr>
            <a:r>
              <a:rPr lang="en-US" sz="2800" dirty="0">
                <a:solidFill>
                  <a:schemeClr val="tx1">
                    <a:lumMod val="95000"/>
                    <a:lumOff val="5000"/>
                  </a:schemeClr>
                </a:solidFill>
                <a:latin typeface="Aptos Display" panose="020B0004020202020204" pitchFamily="34" charset="0"/>
                <a:cs typeface="Times New Roman" charset="0"/>
              </a:rPr>
              <a:t>  Algorithms needed to apply that knowledge, </a:t>
            </a:r>
          </a:p>
          <a:p>
            <a:pPr lvl="2" eaLnBrk="1" hangingPunct="1">
              <a:buFontTx/>
              <a:buChar char="•"/>
              <a:defRPr/>
            </a:pPr>
            <a:r>
              <a:rPr lang="en-US" sz="2800" dirty="0">
                <a:solidFill>
                  <a:schemeClr val="tx1">
                    <a:lumMod val="95000"/>
                    <a:lumOff val="5000"/>
                  </a:schemeClr>
                </a:solidFill>
                <a:latin typeface="Aptos Display" panose="020B0004020202020204" pitchFamily="34" charset="0"/>
                <a:cs typeface="Times New Roman" charset="0"/>
              </a:rPr>
              <a:t>  Programming techniques used in their implementation.</a:t>
            </a:r>
            <a:endParaRPr lang="en-US" sz="2400" kern="100" dirty="0">
              <a:solidFill>
                <a:schemeClr val="tx1">
                  <a:lumMod val="95000"/>
                  <a:lumOff val="5000"/>
                </a:schemeClr>
              </a:solidFill>
              <a:latin typeface="Aptos Display"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55234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3245796" y="336357"/>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What is Artificial Intelligence?</a:t>
            </a:r>
          </a:p>
        </p:txBody>
      </p:sp>
      <p:pic>
        <p:nvPicPr>
          <p:cNvPr id="11" name="Picture 10">
            <a:extLst>
              <a:ext uri="{FF2B5EF4-FFF2-40B4-BE49-F238E27FC236}">
                <a16:creationId xmlns:a16="http://schemas.microsoft.com/office/drawing/2014/main" id="{894021FB-D341-9824-04CC-1D845CE58D0F}"/>
              </a:ext>
            </a:extLst>
          </p:cNvPr>
          <p:cNvPicPr>
            <a:picLocks noChangeAspect="1"/>
          </p:cNvPicPr>
          <p:nvPr/>
        </p:nvPicPr>
        <p:blipFill>
          <a:blip r:embed="rId2"/>
          <a:srcRect t="1309" b="2254"/>
          <a:stretch/>
        </p:blipFill>
        <p:spPr>
          <a:xfrm>
            <a:off x="3596903" y="1705319"/>
            <a:ext cx="6442043" cy="5016495"/>
          </a:xfrm>
          <a:prstGeom prst="rect">
            <a:avLst/>
          </a:prstGeom>
        </p:spPr>
      </p:pic>
    </p:spTree>
    <p:extLst>
      <p:ext uri="{BB962C8B-B14F-4D97-AF65-F5344CB8AC3E}">
        <p14:creationId xmlns:p14="http://schemas.microsoft.com/office/powerpoint/2010/main" val="351717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3245796" y="336357"/>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What is Artificial Intelligence?</a:t>
            </a:r>
          </a:p>
        </p:txBody>
      </p:sp>
      <p:pic>
        <p:nvPicPr>
          <p:cNvPr id="5122" name="Picture 2" descr="So you think you know what is Artificial Intelligence? | by Prashant Gupta  | HackerNoon.com | Medium">
            <a:extLst>
              <a:ext uri="{FF2B5EF4-FFF2-40B4-BE49-F238E27FC236}">
                <a16:creationId xmlns:a16="http://schemas.microsoft.com/office/drawing/2014/main" id="{8FD11272-7835-1284-13B2-7DBF72F5C4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319" y="1485989"/>
            <a:ext cx="9308661" cy="5269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448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3DFEEE7-A547-E5E1-408A-58CAC2BD178E}"/>
              </a:ext>
            </a:extLst>
          </p:cNvPr>
          <p:cNvSpPr>
            <a:spLocks noGrp="1" noChangeArrowheads="1"/>
          </p:cNvSpPr>
          <p:nvPr>
            <p:ph type="title"/>
          </p:nvPr>
        </p:nvSpPr>
        <p:spPr>
          <a:xfrm>
            <a:off x="3206885" y="530911"/>
            <a:ext cx="8610600" cy="1293028"/>
          </a:xfrm>
        </p:spPr>
        <p:txBody>
          <a:bodyPr/>
          <a:lstStyle/>
          <a:p>
            <a:pPr eaLnBrk="1" hangingPunct="1"/>
            <a:r>
              <a:rPr lang="en-US" altLang="en-US" b="1" cap="none" dirty="0">
                <a:latin typeface="Aptos Display" panose="020B0004020202020204" pitchFamily="34" charset="0"/>
              </a:rPr>
              <a:t>Acting humanly: Turing test</a:t>
            </a:r>
          </a:p>
        </p:txBody>
      </p:sp>
      <p:sp>
        <p:nvSpPr>
          <p:cNvPr id="5123" name="Rectangle 3">
            <a:extLst>
              <a:ext uri="{FF2B5EF4-FFF2-40B4-BE49-F238E27FC236}">
                <a16:creationId xmlns:a16="http://schemas.microsoft.com/office/drawing/2014/main" id="{EE4A9208-FF3A-4B16-E16E-784032BD5E62}"/>
              </a:ext>
            </a:extLst>
          </p:cNvPr>
          <p:cNvSpPr>
            <a:spLocks noGrp="1" noChangeArrowheads="1"/>
          </p:cNvSpPr>
          <p:nvPr>
            <p:ph type="body" idx="1"/>
          </p:nvPr>
        </p:nvSpPr>
        <p:spPr>
          <a:xfrm>
            <a:off x="175098" y="1906621"/>
            <a:ext cx="11770468" cy="2402732"/>
          </a:xfrm>
        </p:spPr>
        <p:txBody>
          <a:bodyPr>
            <a:normAutofit fontScale="92500" lnSpcReduction="10000"/>
          </a:bodyPr>
          <a:lstStyle/>
          <a:p>
            <a:pPr eaLnBrk="1" hangingPunct="1">
              <a:lnSpc>
                <a:spcPct val="80000"/>
              </a:lnSpc>
            </a:pPr>
            <a:r>
              <a:rPr lang="en-US" altLang="en-US" sz="2400" dirty="0">
                <a:latin typeface="Aptos Display" panose="020B0004020202020204" pitchFamily="34" charset="0"/>
              </a:rPr>
              <a:t>Turing (1950) "Computing machinery and intelligence":</a:t>
            </a:r>
          </a:p>
          <a:p>
            <a:pPr eaLnBrk="1" hangingPunct="1">
              <a:lnSpc>
                <a:spcPct val="80000"/>
              </a:lnSpc>
            </a:pPr>
            <a:r>
              <a:rPr lang="en-US" altLang="en-US" sz="2400" dirty="0">
                <a:latin typeface="Aptos Display" panose="020B0004020202020204" pitchFamily="34" charset="0"/>
              </a:rPr>
              <a:t>"Can machines think?" </a:t>
            </a:r>
            <a:r>
              <a:rPr lang="en-US" altLang="en-US" sz="2400" dirty="0">
                <a:latin typeface="Aptos Display" panose="020B0004020202020204" pitchFamily="34" charset="0"/>
                <a:sym typeface="Wingdings" panose="05000000000000000000" pitchFamily="2" charset="2"/>
              </a:rPr>
              <a:t></a:t>
            </a:r>
            <a:r>
              <a:rPr lang="en-US" altLang="en-US" sz="2400" dirty="0">
                <a:latin typeface="Aptos Display" panose="020B0004020202020204" pitchFamily="34" charset="0"/>
              </a:rPr>
              <a:t> "Can machines behave intelligently?"</a:t>
            </a:r>
          </a:p>
          <a:p>
            <a:pPr eaLnBrk="1" hangingPunct="1">
              <a:lnSpc>
                <a:spcPct val="80000"/>
              </a:lnSpc>
            </a:pPr>
            <a:r>
              <a:rPr lang="en-US" altLang="en-US" sz="2400" dirty="0">
                <a:latin typeface="Aptos Display" panose="020B0004020202020204" pitchFamily="34" charset="0"/>
              </a:rPr>
              <a:t>Operational test for intelligent behavior: the Imitation Game</a:t>
            </a:r>
          </a:p>
          <a:p>
            <a:pPr eaLnBrk="1" hangingPunct="1">
              <a:lnSpc>
                <a:spcPct val="80000"/>
              </a:lnSpc>
            </a:pPr>
            <a:r>
              <a:rPr lang="en-US" altLang="en-US" sz="2400" dirty="0">
                <a:latin typeface="Aptos Display" panose="020B0004020202020204" pitchFamily="34" charset="0"/>
              </a:rPr>
              <a:t>Predicted that by 2000, a machine might have a 30% chance of fooling a lay person for 5 minutes</a:t>
            </a:r>
          </a:p>
          <a:p>
            <a:pPr eaLnBrk="1" hangingPunct="1">
              <a:lnSpc>
                <a:spcPct val="80000"/>
              </a:lnSpc>
            </a:pPr>
            <a:r>
              <a:rPr lang="en-US" altLang="en-US" sz="2400" dirty="0">
                <a:latin typeface="Aptos Display" panose="020B0004020202020204" pitchFamily="34" charset="0"/>
              </a:rPr>
              <a:t>Anticipated all major arguments against AI in following 50 years</a:t>
            </a:r>
          </a:p>
          <a:p>
            <a:pPr eaLnBrk="1" hangingPunct="1">
              <a:lnSpc>
                <a:spcPct val="80000"/>
              </a:lnSpc>
            </a:pPr>
            <a:r>
              <a:rPr lang="en-US" altLang="en-US" sz="2400" dirty="0">
                <a:latin typeface="Aptos Display" panose="020B0004020202020204" pitchFamily="34" charset="0"/>
              </a:rPr>
              <a:t>Suggested major components of AI: </a:t>
            </a:r>
            <a:r>
              <a:rPr lang="en-US" altLang="en-US" sz="2400" dirty="0">
                <a:highlight>
                  <a:srgbClr val="FFFF00"/>
                </a:highlight>
                <a:latin typeface="Aptos Display" panose="020B0004020202020204" pitchFamily="34" charset="0"/>
              </a:rPr>
              <a:t>knowledge-based, automated reasoning</a:t>
            </a:r>
            <a:r>
              <a:rPr lang="en-US" altLang="en-US" sz="2400" dirty="0">
                <a:latin typeface="Aptos Display" panose="020B0004020202020204" pitchFamily="34" charset="0"/>
              </a:rPr>
              <a:t>, language understanding, learning</a:t>
            </a:r>
          </a:p>
        </p:txBody>
      </p:sp>
      <p:pic>
        <p:nvPicPr>
          <p:cNvPr id="5124" name="Picture 4">
            <a:extLst>
              <a:ext uri="{FF2B5EF4-FFF2-40B4-BE49-F238E27FC236}">
                <a16:creationId xmlns:a16="http://schemas.microsoft.com/office/drawing/2014/main" id="{EFEEF9CA-3D14-0ECA-4D12-D032135376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2880" y="4786887"/>
            <a:ext cx="4944448" cy="171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614D401-57E6-304D-0EBA-3F561D14061F}"/>
              </a:ext>
            </a:extLst>
          </p:cNvPr>
          <p:cNvPicPr>
            <a:picLocks noChangeAspect="1"/>
          </p:cNvPicPr>
          <p:nvPr/>
        </p:nvPicPr>
        <p:blipFill>
          <a:blip r:embed="rId3"/>
          <a:stretch>
            <a:fillRect/>
          </a:stretch>
        </p:blipFill>
        <p:spPr>
          <a:xfrm>
            <a:off x="250285" y="4519917"/>
            <a:ext cx="6353175" cy="1047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0AE2A09-7251-B6A3-C3C5-21ABA15A75D1}"/>
              </a:ext>
            </a:extLst>
          </p:cNvPr>
          <p:cNvSpPr>
            <a:spLocks noGrp="1" noChangeArrowheads="1"/>
          </p:cNvSpPr>
          <p:nvPr>
            <p:ph type="title"/>
          </p:nvPr>
        </p:nvSpPr>
        <p:spPr/>
        <p:txBody>
          <a:bodyPr/>
          <a:lstStyle/>
          <a:p>
            <a:pPr eaLnBrk="1" hangingPunct="1"/>
            <a:r>
              <a:rPr lang="en-US" altLang="en-US" b="1" cap="none" dirty="0">
                <a:latin typeface="Aptos Display" panose="020B0004020202020204" pitchFamily="34" charset="0"/>
              </a:rPr>
              <a:t>Thinking humanly: cognitive modeling</a:t>
            </a:r>
          </a:p>
        </p:txBody>
      </p:sp>
      <p:sp>
        <p:nvSpPr>
          <p:cNvPr id="6147" name="Rectangle 3">
            <a:extLst>
              <a:ext uri="{FF2B5EF4-FFF2-40B4-BE49-F238E27FC236}">
                <a16:creationId xmlns:a16="http://schemas.microsoft.com/office/drawing/2014/main" id="{B4ECE3A7-AB8D-BB4E-F0B9-CEADDE3F66E7}"/>
              </a:ext>
            </a:extLst>
          </p:cNvPr>
          <p:cNvSpPr>
            <a:spLocks noGrp="1" noChangeArrowheads="1"/>
          </p:cNvSpPr>
          <p:nvPr>
            <p:ph type="body" idx="1"/>
          </p:nvPr>
        </p:nvSpPr>
        <p:spPr>
          <a:xfrm>
            <a:off x="876705" y="1970825"/>
            <a:ext cx="10438590" cy="3554486"/>
          </a:xfrm>
        </p:spPr>
        <p:txBody>
          <a:bodyPr>
            <a:normAutofit lnSpcReduction="10000"/>
          </a:bodyPr>
          <a:lstStyle/>
          <a:p>
            <a:pPr eaLnBrk="1" hangingPunct="1">
              <a:lnSpc>
                <a:spcPct val="80000"/>
              </a:lnSpc>
            </a:pPr>
            <a:r>
              <a:rPr lang="en-US" altLang="en-US" sz="3200" dirty="0">
                <a:latin typeface="Aptos Display" panose="020B0004020202020204" pitchFamily="34" charset="0"/>
              </a:rPr>
              <a:t>1960s "cognitive revolution": information-processing psychology 
Requires scientific theories of internal activities of the brain
 How to validate? Requires </a:t>
            </a:r>
          </a:p>
          <a:p>
            <a:pPr lvl="1" eaLnBrk="1" hangingPunct="1">
              <a:lnSpc>
                <a:spcPct val="80000"/>
              </a:lnSpc>
              <a:buFontTx/>
              <a:buNone/>
            </a:pPr>
            <a:r>
              <a:rPr lang="en-US" altLang="en-US" sz="2800" dirty="0">
                <a:latin typeface="Aptos Display" panose="020B0004020202020204" pitchFamily="34" charset="0"/>
              </a:rPr>
              <a:t>    1) Predicting and testing behavior of human subjects (top-down) or</a:t>
            </a:r>
          </a:p>
          <a:p>
            <a:pPr lvl="1" eaLnBrk="1" hangingPunct="1">
              <a:lnSpc>
                <a:spcPct val="80000"/>
              </a:lnSpc>
              <a:buFontTx/>
              <a:buNone/>
            </a:pPr>
            <a:r>
              <a:rPr lang="en-US" altLang="en-US" sz="2800" dirty="0">
                <a:latin typeface="Aptos Display" panose="020B0004020202020204" pitchFamily="34" charset="0"/>
              </a:rPr>
              <a:t>    2) Direct identification from neurological data (bottom-up)
</a:t>
            </a:r>
            <a:r>
              <a:rPr lang="en-US" altLang="en-US" sz="2400" dirty="0">
                <a:latin typeface="Aptos Display" panose="020B0004020202020204" pitchFamily="34" charset="0"/>
              </a:rPr>
              <a:t>Both approaches (roughly, Cognitive Science and Cognitive Neuroscience) </a:t>
            </a:r>
          </a:p>
          <a:p>
            <a:pPr eaLnBrk="1" hangingPunct="1">
              <a:lnSpc>
                <a:spcPct val="80000"/>
              </a:lnSpc>
            </a:pPr>
            <a:r>
              <a:rPr lang="en-US" altLang="en-US" sz="3200" dirty="0">
                <a:latin typeface="Aptos Display" panose="020B0004020202020204" pitchFamily="34" charset="0"/>
              </a:rPr>
              <a:t>are now distinct from AI</a:t>
            </a:r>
          </a:p>
        </p:txBody>
      </p:sp>
      <p:pic>
        <p:nvPicPr>
          <p:cNvPr id="3" name="Picture 2">
            <a:extLst>
              <a:ext uri="{FF2B5EF4-FFF2-40B4-BE49-F238E27FC236}">
                <a16:creationId xmlns:a16="http://schemas.microsoft.com/office/drawing/2014/main" id="{E99D807B-32E5-5053-97C2-76324BE5BC7F}"/>
              </a:ext>
            </a:extLst>
          </p:cNvPr>
          <p:cNvPicPr>
            <a:picLocks noChangeAspect="1"/>
          </p:cNvPicPr>
          <p:nvPr/>
        </p:nvPicPr>
        <p:blipFill>
          <a:blip r:embed="rId3"/>
          <a:stretch>
            <a:fillRect/>
          </a:stretch>
        </p:blipFill>
        <p:spPr>
          <a:xfrm>
            <a:off x="876705" y="5430688"/>
            <a:ext cx="4619625" cy="1028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BB0173F-1EAF-E050-02BA-4C2FC72F2014}"/>
              </a:ext>
            </a:extLst>
          </p:cNvPr>
          <p:cNvSpPr>
            <a:spLocks noGrp="1" noChangeArrowheads="1"/>
          </p:cNvSpPr>
          <p:nvPr>
            <p:ph type="title"/>
          </p:nvPr>
        </p:nvSpPr>
        <p:spPr/>
        <p:txBody>
          <a:bodyPr/>
          <a:lstStyle/>
          <a:p>
            <a:pPr eaLnBrk="1" hangingPunct="1"/>
            <a:r>
              <a:rPr lang="en-US" altLang="en-US" b="1" cap="none" dirty="0">
                <a:latin typeface="Aptos Display" panose="020B0004020202020204" pitchFamily="34" charset="0"/>
              </a:rPr>
              <a:t>Thinking rationally: "laws of thought"</a:t>
            </a:r>
          </a:p>
        </p:txBody>
      </p:sp>
      <p:sp>
        <p:nvSpPr>
          <p:cNvPr id="7171" name="Rectangle 3">
            <a:extLst>
              <a:ext uri="{FF2B5EF4-FFF2-40B4-BE49-F238E27FC236}">
                <a16:creationId xmlns:a16="http://schemas.microsoft.com/office/drawing/2014/main" id="{114EA256-1403-6712-8DEC-94B0C885276D}"/>
              </a:ext>
            </a:extLst>
          </p:cNvPr>
          <p:cNvSpPr>
            <a:spLocks noGrp="1" noChangeArrowheads="1"/>
          </p:cNvSpPr>
          <p:nvPr>
            <p:ph type="body" idx="1"/>
          </p:nvPr>
        </p:nvSpPr>
        <p:spPr/>
        <p:txBody>
          <a:bodyPr>
            <a:normAutofit/>
          </a:bodyPr>
          <a:lstStyle/>
          <a:p>
            <a:pPr marL="609585" indent="-609585"/>
            <a:r>
              <a:rPr lang="en-US" altLang="en-US" sz="3200" dirty="0">
                <a:latin typeface="Aptos Display" panose="020B0004020202020204" pitchFamily="34" charset="0"/>
              </a:rPr>
              <a:t>Aristotle: what are correct arguments/thought processes?
Several Greek schools developed various forms of </a:t>
            </a:r>
            <a:r>
              <a:rPr lang="en-US" altLang="en-US" sz="3200" i="1" dirty="0">
                <a:latin typeface="Aptos Display" panose="020B0004020202020204" pitchFamily="34" charset="0"/>
              </a:rPr>
              <a:t>logic</a:t>
            </a:r>
            <a:r>
              <a:rPr lang="en-US" altLang="en-US" sz="3200" dirty="0">
                <a:latin typeface="Aptos Display" panose="020B0004020202020204" pitchFamily="34" charset="0"/>
              </a:rPr>
              <a:t>: </a:t>
            </a:r>
            <a:r>
              <a:rPr lang="en-US" altLang="en-US" sz="3200" i="1" dirty="0">
                <a:latin typeface="Aptos Display" panose="020B0004020202020204" pitchFamily="34" charset="0"/>
              </a:rPr>
              <a:t>notation</a:t>
            </a:r>
            <a:r>
              <a:rPr lang="en-US" altLang="en-US" sz="3200" dirty="0">
                <a:latin typeface="Aptos Display" panose="020B0004020202020204" pitchFamily="34" charset="0"/>
              </a:rPr>
              <a:t> and </a:t>
            </a:r>
            <a:r>
              <a:rPr lang="en-US" altLang="en-US" sz="3200" i="1" dirty="0">
                <a:latin typeface="Aptos Display" panose="020B0004020202020204" pitchFamily="34" charset="0"/>
              </a:rPr>
              <a:t>rules of derivation</a:t>
            </a:r>
            <a:r>
              <a:rPr lang="en-US" altLang="en-US" sz="3200" dirty="0">
                <a:latin typeface="Aptos Display" panose="020B0004020202020204" pitchFamily="34" charset="0"/>
              </a:rPr>
              <a:t> for thoughts; may or may not have proceeded to the idea of mechanization
Direct line through mathematics and philosophy to modern AI
Problems: </a:t>
            </a:r>
          </a:p>
          <a:p>
            <a:pPr marL="990575" lvl="1" indent="-533387">
              <a:buFontTx/>
              <a:buAutoNum type="arabicPeriod"/>
            </a:pPr>
            <a:r>
              <a:rPr lang="en-US" altLang="en-US" sz="2800" dirty="0">
                <a:latin typeface="Aptos Display" panose="020B0004020202020204" pitchFamily="34" charset="0"/>
              </a:rPr>
              <a:t>Not all intelligent behavior is mediated by logical deliberation</a:t>
            </a:r>
          </a:p>
          <a:p>
            <a:pPr marL="990575" lvl="1" indent="-533387">
              <a:buFontTx/>
              <a:buAutoNum type="arabicPeriod"/>
            </a:pPr>
            <a:r>
              <a:rPr lang="en-US" altLang="en-US" sz="2800" dirty="0">
                <a:latin typeface="Aptos Display" panose="020B0004020202020204" pitchFamily="34" charset="0"/>
              </a:rPr>
              <a:t>What is the purpose of thinking? What thoughts should I have?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D876A4E-5228-51B5-C25A-BD2354977F58}"/>
              </a:ext>
            </a:extLst>
          </p:cNvPr>
          <p:cNvSpPr>
            <a:spLocks noGrp="1" noChangeArrowheads="1"/>
          </p:cNvSpPr>
          <p:nvPr>
            <p:ph type="title"/>
          </p:nvPr>
        </p:nvSpPr>
        <p:spPr/>
        <p:txBody>
          <a:bodyPr/>
          <a:lstStyle/>
          <a:p>
            <a:pPr eaLnBrk="1" hangingPunct="1"/>
            <a:r>
              <a:rPr lang="en-US" altLang="en-US" cap="none" dirty="0">
                <a:latin typeface="Aptos Display" panose="020B0004020202020204" pitchFamily="34" charset="0"/>
              </a:rPr>
              <a:t>Acting rationally: rational agent</a:t>
            </a:r>
          </a:p>
        </p:txBody>
      </p:sp>
      <p:sp>
        <p:nvSpPr>
          <p:cNvPr id="8195" name="Rectangle 3">
            <a:extLst>
              <a:ext uri="{FF2B5EF4-FFF2-40B4-BE49-F238E27FC236}">
                <a16:creationId xmlns:a16="http://schemas.microsoft.com/office/drawing/2014/main" id="{AF9BAC3D-089C-0E6F-3E04-B105EABA761D}"/>
              </a:ext>
            </a:extLst>
          </p:cNvPr>
          <p:cNvSpPr>
            <a:spLocks noGrp="1" noChangeArrowheads="1"/>
          </p:cNvSpPr>
          <p:nvPr>
            <p:ph type="body" idx="1"/>
          </p:nvPr>
        </p:nvSpPr>
        <p:spPr/>
        <p:txBody>
          <a:bodyPr>
            <a:normAutofit/>
          </a:bodyPr>
          <a:lstStyle/>
          <a:p>
            <a:pPr eaLnBrk="1" hangingPunct="1"/>
            <a:r>
              <a:rPr lang="en-US" altLang="en-US" sz="3200" dirty="0">
                <a:latin typeface="Aptos Display" panose="020B0004020202020204" pitchFamily="34" charset="0"/>
              </a:rPr>
              <a:t> </a:t>
            </a:r>
            <a:r>
              <a:rPr lang="en-US" altLang="en-US" sz="3200" dirty="0">
                <a:solidFill>
                  <a:srgbClr val="FF0000"/>
                </a:solidFill>
                <a:latin typeface="Aptos Display" panose="020B0004020202020204" pitchFamily="34" charset="0"/>
              </a:rPr>
              <a:t>Rational</a:t>
            </a:r>
            <a:r>
              <a:rPr lang="en-US" altLang="en-US" sz="3200" dirty="0">
                <a:latin typeface="Aptos Display" panose="020B0004020202020204" pitchFamily="34" charset="0"/>
              </a:rPr>
              <a:t> behavior: </a:t>
            </a:r>
            <a:r>
              <a:rPr lang="en-US" altLang="en-US" sz="3200" dirty="0">
                <a:highlight>
                  <a:srgbClr val="FFFF00"/>
                </a:highlight>
                <a:latin typeface="Aptos Display" panose="020B0004020202020204" pitchFamily="34" charset="0"/>
              </a:rPr>
              <a:t>doing the right thing</a:t>
            </a:r>
            <a:r>
              <a:rPr lang="en-US" altLang="en-US" sz="3200" dirty="0">
                <a:latin typeface="Aptos Display" panose="020B0004020202020204" pitchFamily="34" charset="0"/>
              </a:rPr>
              <a:t>
The right thing: that which is expected to maximize goal achievement, given the available information
Doesn't necessarily involve thinking e.g., blinking reflex – but  thinking should be in the service of rational 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Schools of Thought</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66344" y="2189099"/>
            <a:ext cx="10304227" cy="4105823"/>
          </a:xfrm>
        </p:spPr>
        <p:txBody>
          <a:bodyPr>
            <a:normAutofit/>
          </a:bodyPr>
          <a:lstStyle/>
          <a:p>
            <a:pPr marL="0" indent="0">
              <a:buNone/>
            </a:pPr>
            <a:r>
              <a:rPr lang="en-US" sz="3200" b="1" dirty="0">
                <a:latin typeface="Aptos Display" panose="020B0004020202020204" pitchFamily="34" charset="0"/>
              </a:rPr>
              <a:t>1. Weak AI (</a:t>
            </a:r>
            <a:r>
              <a:rPr lang="en-US" sz="3200" b="1" dirty="0">
                <a:highlight>
                  <a:srgbClr val="FFFF00"/>
                </a:highlight>
                <a:latin typeface="Aptos Display" panose="020B0004020202020204" pitchFamily="34" charset="0"/>
              </a:rPr>
              <a:t>Narrow AI</a:t>
            </a:r>
            <a:r>
              <a:rPr lang="en-US" sz="3200" b="1" dirty="0">
                <a:latin typeface="Aptos Display" panose="020B0004020202020204" pitchFamily="34" charset="0"/>
              </a:rPr>
              <a:t>)</a:t>
            </a:r>
          </a:p>
          <a:p>
            <a:pPr marL="0" indent="0">
              <a:buNone/>
            </a:pPr>
            <a:r>
              <a:rPr lang="en-US" sz="2800" dirty="0">
                <a:latin typeface="Aptos Display" panose="020B0004020202020204" pitchFamily="34" charset="0"/>
              </a:rPr>
              <a:t>Weak AI refers to AI systems that are designed and trained to perform a specific task or a limited set of tasks. These systems do not possess consciousness or true understanding.</a:t>
            </a:r>
          </a:p>
          <a:p>
            <a:pPr>
              <a:buFont typeface="Arial" panose="020B0604020202020204" pitchFamily="34" charset="0"/>
              <a:buChar char="•"/>
            </a:pPr>
            <a:r>
              <a:rPr lang="en-US" sz="2800" dirty="0">
                <a:latin typeface="Aptos Display" panose="020B0004020202020204" pitchFamily="34" charset="0"/>
              </a:rPr>
              <a:t>Task-specific and goal-oriented</a:t>
            </a:r>
          </a:p>
          <a:p>
            <a:pPr>
              <a:buFont typeface="Arial" panose="020B0604020202020204" pitchFamily="34" charset="0"/>
              <a:buChar char="•"/>
            </a:pPr>
            <a:r>
              <a:rPr lang="en-US" sz="2800" dirty="0">
                <a:latin typeface="Aptos Display" panose="020B0004020202020204" pitchFamily="34" charset="0"/>
              </a:rPr>
              <a:t>Cannot think beyond programmed scope</a:t>
            </a:r>
          </a:p>
          <a:p>
            <a:pPr>
              <a:buFont typeface="Arial" panose="020B0604020202020204" pitchFamily="34" charset="0"/>
              <a:buChar char="•"/>
            </a:pPr>
            <a:r>
              <a:rPr lang="en-US" sz="2800" dirty="0">
                <a:latin typeface="Aptos Display" panose="020B0004020202020204" pitchFamily="34" charset="0"/>
              </a:rPr>
              <a:t>No self-awareness or emotions</a:t>
            </a:r>
          </a:p>
          <a:p>
            <a:pPr>
              <a:buFont typeface="Arial" panose="020B0604020202020204" pitchFamily="34" charset="0"/>
              <a:buChar char="•"/>
            </a:pPr>
            <a:r>
              <a:rPr lang="en-US" sz="2800" dirty="0">
                <a:latin typeface="Aptos Display" panose="020B0004020202020204" pitchFamily="34" charset="0"/>
              </a:rPr>
              <a:t>Works under predefined rules or learned patterns</a:t>
            </a:r>
          </a:p>
        </p:txBody>
      </p:sp>
    </p:spTree>
    <p:extLst>
      <p:ext uri="{BB962C8B-B14F-4D97-AF65-F5344CB8AC3E}">
        <p14:creationId xmlns:p14="http://schemas.microsoft.com/office/powerpoint/2010/main" val="1931216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915056" y="13618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Schools of Thought</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1573247" y="1672409"/>
            <a:ext cx="9243911" cy="4932673"/>
          </a:xfrm>
        </p:spPr>
        <p:txBody>
          <a:bodyPr>
            <a:normAutofit/>
          </a:bodyPr>
          <a:lstStyle/>
          <a:p>
            <a:pPr marL="0" indent="0">
              <a:buNone/>
            </a:pPr>
            <a:r>
              <a:rPr lang="en-US" sz="2800" b="1" dirty="0">
                <a:latin typeface="Aptos Display" panose="020B0004020202020204" pitchFamily="34" charset="0"/>
              </a:rPr>
              <a:t>1. Weak AI (Narrow AI)</a:t>
            </a:r>
          </a:p>
          <a:p>
            <a:pPr marL="0" indent="0">
              <a:buNone/>
            </a:pPr>
            <a:r>
              <a:rPr lang="en-US" sz="2800" b="1" dirty="0">
                <a:latin typeface="Aptos Display" panose="020B0004020202020204" pitchFamily="34" charset="0"/>
              </a:rPr>
              <a:t>Examples</a:t>
            </a:r>
          </a:p>
          <a:p>
            <a:pPr>
              <a:buFont typeface="Arial" panose="020B0604020202020204" pitchFamily="34" charset="0"/>
              <a:buChar char="•"/>
            </a:pPr>
            <a:r>
              <a:rPr lang="en-US" sz="2800" dirty="0">
                <a:latin typeface="Aptos Display" panose="020B0004020202020204" pitchFamily="34" charset="0"/>
              </a:rPr>
              <a:t>Voice assistants (Siri, Google Assistant)</a:t>
            </a:r>
          </a:p>
          <a:p>
            <a:pPr>
              <a:buFont typeface="Arial" panose="020B0604020202020204" pitchFamily="34" charset="0"/>
              <a:buChar char="•"/>
            </a:pPr>
            <a:r>
              <a:rPr lang="en-US" sz="2800" dirty="0">
                <a:latin typeface="Aptos Display" panose="020B0004020202020204" pitchFamily="34" charset="0"/>
              </a:rPr>
              <a:t>Recommendation systems (Netflix, YouTube)</a:t>
            </a:r>
          </a:p>
          <a:p>
            <a:pPr>
              <a:buFont typeface="Arial" panose="020B0604020202020204" pitchFamily="34" charset="0"/>
              <a:buChar char="•"/>
            </a:pPr>
            <a:r>
              <a:rPr lang="en-US" sz="2800" dirty="0">
                <a:latin typeface="Aptos Display" panose="020B0004020202020204" pitchFamily="34" charset="0"/>
              </a:rPr>
              <a:t>Face recognition systems</a:t>
            </a:r>
          </a:p>
          <a:p>
            <a:pPr>
              <a:buFont typeface="Arial" panose="020B0604020202020204" pitchFamily="34" charset="0"/>
              <a:buChar char="•"/>
            </a:pPr>
            <a:r>
              <a:rPr lang="en-US" sz="2800" dirty="0">
                <a:latin typeface="Aptos Display" panose="020B0004020202020204" pitchFamily="34" charset="0"/>
              </a:rPr>
              <a:t>Spam email filters</a:t>
            </a:r>
          </a:p>
          <a:p>
            <a:pPr>
              <a:buFont typeface="Arial" panose="020B0604020202020204" pitchFamily="34" charset="0"/>
              <a:buChar char="•"/>
            </a:pPr>
            <a:r>
              <a:rPr lang="en-US" sz="2800" dirty="0">
                <a:latin typeface="Aptos Display" panose="020B0004020202020204" pitchFamily="34" charset="0"/>
              </a:rPr>
              <a:t>Chatbots used in customer support</a:t>
            </a:r>
          </a:p>
          <a:p>
            <a:pPr marL="0" indent="0">
              <a:buNone/>
            </a:pPr>
            <a:r>
              <a:rPr lang="en-US" sz="2800" b="1" dirty="0">
                <a:latin typeface="Aptos Display" panose="020B0004020202020204" pitchFamily="34" charset="0"/>
              </a:rPr>
              <a:t>Real-Life Explanation</a:t>
            </a:r>
          </a:p>
          <a:p>
            <a:pPr lvl="1"/>
            <a:r>
              <a:rPr lang="en-US" sz="2600" dirty="0">
                <a:latin typeface="Aptos Display" panose="020B0004020202020204" pitchFamily="34" charset="0"/>
              </a:rPr>
              <a:t>A calculator can solve math problems perfectly, but it does not understand mathematics. it only follows programmed rules.</a:t>
            </a:r>
          </a:p>
        </p:txBody>
      </p:sp>
    </p:spTree>
    <p:extLst>
      <p:ext uri="{BB962C8B-B14F-4D97-AF65-F5344CB8AC3E}">
        <p14:creationId xmlns:p14="http://schemas.microsoft.com/office/powerpoint/2010/main" val="2934360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Schools of Thought</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66344" y="2043184"/>
            <a:ext cx="10304227" cy="4668901"/>
          </a:xfrm>
        </p:spPr>
        <p:txBody>
          <a:bodyPr>
            <a:normAutofit fontScale="92500" lnSpcReduction="10000"/>
          </a:bodyPr>
          <a:lstStyle/>
          <a:p>
            <a:pPr marL="0" indent="0">
              <a:buNone/>
            </a:pPr>
            <a:r>
              <a:rPr lang="it-IT" sz="3200" b="1" dirty="0">
                <a:latin typeface="Aptos Display" panose="020B0004020202020204" pitchFamily="34" charset="0"/>
              </a:rPr>
              <a:t>2. Strong AI (</a:t>
            </a:r>
            <a:r>
              <a:rPr lang="it-IT" sz="3200" b="1" dirty="0">
                <a:highlight>
                  <a:srgbClr val="FFFF00"/>
                </a:highlight>
                <a:latin typeface="Aptos Display" panose="020B0004020202020204" pitchFamily="34" charset="0"/>
              </a:rPr>
              <a:t>General AI</a:t>
            </a:r>
            <a:r>
              <a:rPr lang="it-IT" sz="3200" b="1" dirty="0">
                <a:latin typeface="Aptos Display" panose="020B0004020202020204" pitchFamily="34" charset="0"/>
              </a:rPr>
              <a:t>)</a:t>
            </a:r>
          </a:p>
          <a:p>
            <a:pPr marL="0" indent="0">
              <a:buNone/>
            </a:pPr>
            <a:r>
              <a:rPr lang="en-US" sz="2800" dirty="0">
                <a:latin typeface="Aptos Display" panose="020B0004020202020204" pitchFamily="34" charset="0"/>
              </a:rPr>
              <a:t>Strong AI refers to a hypothetical AI system that can think, reason, learn, and understand like a human being. It would possess general intelligence and possibly consciousness.</a:t>
            </a:r>
          </a:p>
          <a:p>
            <a:r>
              <a:rPr lang="en-US" sz="2800" dirty="0">
                <a:latin typeface="Aptos Display" panose="020B0004020202020204" pitchFamily="34" charset="0"/>
              </a:rPr>
              <a:t>Human-level reasoning and learning</a:t>
            </a:r>
          </a:p>
          <a:p>
            <a:r>
              <a:rPr lang="en-US" sz="2800" dirty="0">
                <a:latin typeface="Aptos Display" panose="020B0004020202020204" pitchFamily="34" charset="0"/>
              </a:rPr>
              <a:t>Can transfer knowledge across domains</a:t>
            </a:r>
          </a:p>
          <a:p>
            <a:r>
              <a:rPr lang="en-US" sz="2800" dirty="0">
                <a:latin typeface="Aptos Display" panose="020B0004020202020204" pitchFamily="34" charset="0"/>
              </a:rPr>
              <a:t>Self-aware and autonomous (theoretical)</a:t>
            </a:r>
          </a:p>
          <a:p>
            <a:r>
              <a:rPr lang="en-US" sz="2800" dirty="0">
                <a:latin typeface="Aptos Display" panose="020B0004020202020204" pitchFamily="34" charset="0"/>
              </a:rPr>
              <a:t>Capable of understanding meaning, not just patterns</a:t>
            </a:r>
          </a:p>
          <a:p>
            <a:pPr marL="0" indent="0">
              <a:buNone/>
            </a:pPr>
            <a:r>
              <a:rPr lang="en-US" sz="2800" b="1" dirty="0">
                <a:latin typeface="Aptos Display" panose="020B0004020202020204" pitchFamily="34" charset="0"/>
              </a:rPr>
              <a:t>Examples</a:t>
            </a:r>
          </a:p>
          <a:p>
            <a:pPr marL="0" indent="0">
              <a:buNone/>
            </a:pPr>
            <a:r>
              <a:rPr lang="en-US" sz="2800" dirty="0">
                <a:latin typeface="Aptos Display" panose="020B0004020202020204" pitchFamily="34" charset="0"/>
              </a:rPr>
              <a:t>No true Strong AI exists today. Fictional examples: Human-like robots in movies</a:t>
            </a:r>
          </a:p>
        </p:txBody>
      </p:sp>
    </p:spTree>
    <p:extLst>
      <p:ext uri="{BB962C8B-B14F-4D97-AF65-F5344CB8AC3E}">
        <p14:creationId xmlns:p14="http://schemas.microsoft.com/office/powerpoint/2010/main" val="1894916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1124153" y="1856107"/>
            <a:ext cx="10198842" cy="4668901"/>
          </a:xfrm>
        </p:spPr>
        <p:txBody>
          <a:bodyPr>
            <a:normAutofit lnSpcReduction="10000"/>
          </a:bodyPr>
          <a:lstStyle/>
          <a:p>
            <a:pPr algn="l" rtl="0" fontAlgn="base"/>
            <a:r>
              <a:rPr lang="en-US" sz="2400" b="0" i="0" dirty="0">
                <a:solidFill>
                  <a:schemeClr val="tx1">
                    <a:lumMod val="95000"/>
                    <a:lumOff val="5000"/>
                  </a:schemeClr>
                </a:solidFill>
                <a:effectLst/>
                <a:latin typeface="Aptos Display" panose="020B0004020202020204" pitchFamily="34" charset="0"/>
              </a:rPr>
              <a:t>An artificial intelligence (AI) agent is a software program that can interact with its environment, collect data and use that data to perform self-directed tasks that meet predetermined goals. Humans set goals, but an AI agent independently chooses the best actions it needs to perform to achieve those goals.</a:t>
            </a:r>
          </a:p>
          <a:p>
            <a:pPr algn="l" rtl="0" fontAlgn="base"/>
            <a:r>
              <a:rPr lang="en-US" sz="2400" b="0" i="0" dirty="0">
                <a:solidFill>
                  <a:schemeClr val="tx1">
                    <a:lumMod val="95000"/>
                    <a:lumOff val="5000"/>
                  </a:schemeClr>
                </a:solidFill>
                <a:effectLst/>
                <a:latin typeface="Aptos Display" panose="020B0004020202020204" pitchFamily="34" charset="0"/>
              </a:rPr>
              <a:t>An agent in Artificial Intelligence is an </a:t>
            </a:r>
            <a:r>
              <a:rPr lang="en-US" sz="2400" b="1" i="0" dirty="0">
                <a:solidFill>
                  <a:schemeClr val="tx1">
                    <a:lumMod val="95000"/>
                    <a:lumOff val="5000"/>
                  </a:schemeClr>
                </a:solidFill>
                <a:effectLst/>
                <a:latin typeface="Aptos Display" panose="020B0004020202020204" pitchFamily="34" charset="0"/>
              </a:rPr>
              <a:t>entity that perceives its environment through sensors and acts upon that environment through actuators</a:t>
            </a:r>
            <a:r>
              <a:rPr lang="en-US" sz="2400" b="0" i="0" dirty="0">
                <a:solidFill>
                  <a:schemeClr val="tx1">
                    <a:lumMod val="95000"/>
                    <a:lumOff val="5000"/>
                  </a:schemeClr>
                </a:solidFill>
                <a:effectLst/>
                <a:latin typeface="Aptos Display" panose="020B0004020202020204" pitchFamily="34" charset="0"/>
              </a:rPr>
              <a:t> to achieve specific goals.</a:t>
            </a:r>
          </a:p>
          <a:p>
            <a:pPr marL="0" indent="0" algn="ctr" rtl="0" fontAlgn="base">
              <a:buNone/>
            </a:pPr>
            <a:r>
              <a:rPr lang="en-US" sz="2400" b="1" i="0" dirty="0">
                <a:solidFill>
                  <a:schemeClr val="tx1">
                    <a:lumMod val="95000"/>
                    <a:lumOff val="5000"/>
                  </a:schemeClr>
                </a:solidFill>
                <a:effectLst/>
                <a:highlight>
                  <a:srgbClr val="FFFF00"/>
                </a:highlight>
                <a:latin typeface="Aptos Display" panose="020B0004020202020204" pitchFamily="34" charset="0"/>
              </a:rPr>
              <a:t>An AI agent senses → decides → acts.</a:t>
            </a:r>
          </a:p>
          <a:p>
            <a:pPr fontAlgn="base"/>
            <a:r>
              <a:rPr lang="en-US" sz="2400" b="1" i="0" dirty="0">
                <a:solidFill>
                  <a:schemeClr val="tx1">
                    <a:lumMod val="95000"/>
                    <a:lumOff val="5000"/>
                  </a:schemeClr>
                </a:solidFill>
                <a:effectLst/>
                <a:latin typeface="Aptos Display" panose="020B0004020202020204" pitchFamily="34" charset="0"/>
              </a:rPr>
              <a:t>For example</a:t>
            </a:r>
            <a:r>
              <a:rPr lang="en-US" sz="2400" b="0" i="0" dirty="0">
                <a:solidFill>
                  <a:schemeClr val="tx1">
                    <a:lumMod val="95000"/>
                    <a:lumOff val="5000"/>
                  </a:schemeClr>
                </a:solidFill>
                <a:effectLst/>
                <a:latin typeface="Aptos Display" panose="020B0004020202020204" pitchFamily="34" charset="0"/>
              </a:rPr>
              <a:t>, consider a customer support AI agent that wants to resolve customer queries. The agent will automatically ask the customer different questions, look up information in internal documents and respond with a solution. Based on the customer responses, it determines if it can resolve the query itself or pass it on to a human.</a:t>
            </a:r>
          </a:p>
          <a:p>
            <a:pPr algn="l" rtl="0" fontAlgn="base"/>
            <a:endParaRPr lang="en-US" sz="2400" b="0" i="0" dirty="0">
              <a:solidFill>
                <a:schemeClr val="tx1">
                  <a:lumMod val="95000"/>
                  <a:lumOff val="5000"/>
                </a:schemeClr>
              </a:solidFill>
              <a:effectLst/>
              <a:latin typeface="Aptos Display" panose="020B0004020202020204" pitchFamily="34" charset="0"/>
            </a:endParaRPr>
          </a:p>
        </p:txBody>
      </p:sp>
    </p:spTree>
    <p:extLst>
      <p:ext uri="{BB962C8B-B14F-4D97-AF65-F5344CB8AC3E}">
        <p14:creationId xmlns:p14="http://schemas.microsoft.com/office/powerpoint/2010/main" val="3043264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Agents in AI (Artificial Intelligence)">
            <a:extLst>
              <a:ext uri="{FF2B5EF4-FFF2-40B4-BE49-F238E27FC236}">
                <a16:creationId xmlns:a16="http://schemas.microsoft.com/office/drawing/2014/main" id="{554979B5-367F-B233-AE2A-E2010CB6CF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90" y="2285798"/>
            <a:ext cx="6586032" cy="28311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BCC555F-4FBF-CF55-8019-F9653E20C37C}"/>
              </a:ext>
            </a:extLst>
          </p:cNvPr>
          <p:cNvSpPr txBox="1"/>
          <p:nvPr/>
        </p:nvSpPr>
        <p:spPr>
          <a:xfrm>
            <a:off x="6691922" y="677669"/>
            <a:ext cx="5394188" cy="5878532"/>
          </a:xfrm>
          <a:prstGeom prst="rect">
            <a:avLst/>
          </a:prstGeom>
          <a:noFill/>
        </p:spPr>
        <p:txBody>
          <a:bodyPr wrap="square">
            <a:spAutoFit/>
          </a:bodyPr>
          <a:lstStyle/>
          <a:p>
            <a:pPr marL="342900" indent="-342900">
              <a:buFont typeface="+mj-lt"/>
              <a:buAutoNum type="arabicPeriod"/>
            </a:pPr>
            <a:r>
              <a:rPr lang="en-US" sz="2000" dirty="0">
                <a:solidFill>
                  <a:schemeClr val="tx1">
                    <a:lumMod val="95000"/>
                    <a:lumOff val="5000"/>
                  </a:schemeClr>
                </a:solidFill>
                <a:latin typeface="Aptos Display" panose="020B0004020202020204" pitchFamily="34" charset="0"/>
              </a:rPr>
              <a:t>An </a:t>
            </a:r>
            <a:r>
              <a:rPr lang="en-US" sz="2000" dirty="0">
                <a:solidFill>
                  <a:schemeClr val="tx1">
                    <a:lumMod val="95000"/>
                    <a:lumOff val="5000"/>
                  </a:schemeClr>
                </a:solidFill>
                <a:highlight>
                  <a:srgbClr val="FFFF00"/>
                </a:highlight>
                <a:latin typeface="Aptos Display" panose="020B0004020202020204" pitchFamily="34" charset="0"/>
              </a:rPr>
              <a:t>environment</a:t>
            </a:r>
            <a:r>
              <a:rPr lang="en-US" sz="2000" dirty="0">
                <a:solidFill>
                  <a:schemeClr val="tx1">
                    <a:lumMod val="95000"/>
                    <a:lumOff val="5000"/>
                  </a:schemeClr>
                </a:solidFill>
                <a:latin typeface="Aptos Display" panose="020B0004020202020204" pitchFamily="34" charset="0"/>
              </a:rPr>
              <a:t> provides information to the agent in the form of </a:t>
            </a:r>
            <a:r>
              <a:rPr lang="en-US" sz="2000" dirty="0">
                <a:solidFill>
                  <a:schemeClr val="tx1">
                    <a:lumMod val="95000"/>
                    <a:lumOff val="5000"/>
                  </a:schemeClr>
                </a:solidFill>
                <a:highlight>
                  <a:srgbClr val="FFFF00"/>
                </a:highlight>
                <a:latin typeface="Aptos Display" panose="020B0004020202020204" pitchFamily="34" charset="0"/>
              </a:rPr>
              <a:t>percepts</a:t>
            </a:r>
            <a:r>
              <a:rPr lang="en-US" sz="2000" dirty="0">
                <a:solidFill>
                  <a:schemeClr val="tx1">
                    <a:lumMod val="95000"/>
                    <a:lumOff val="5000"/>
                  </a:schemeClr>
                </a:solidFill>
                <a:latin typeface="Aptos Display" panose="020B0004020202020204" pitchFamily="34" charset="0"/>
              </a:rPr>
              <a:t>.</a:t>
            </a:r>
          </a:p>
          <a:p>
            <a:pPr marL="342900" indent="-342900">
              <a:buFont typeface="+mj-lt"/>
              <a:buAutoNum type="arabicPeriod"/>
            </a:pPr>
            <a:r>
              <a:rPr lang="en-US" sz="2000" dirty="0">
                <a:solidFill>
                  <a:schemeClr val="tx1">
                    <a:lumMod val="95000"/>
                    <a:lumOff val="5000"/>
                  </a:schemeClr>
                </a:solidFill>
                <a:latin typeface="Aptos Display" panose="020B0004020202020204" pitchFamily="34" charset="0"/>
              </a:rPr>
              <a:t>The agent receives these percepts through its </a:t>
            </a:r>
            <a:r>
              <a:rPr lang="en-US" sz="2000" dirty="0">
                <a:solidFill>
                  <a:schemeClr val="tx1">
                    <a:lumMod val="95000"/>
                    <a:lumOff val="5000"/>
                  </a:schemeClr>
                </a:solidFill>
                <a:highlight>
                  <a:srgbClr val="FFFF00"/>
                </a:highlight>
                <a:latin typeface="Aptos Display" panose="020B0004020202020204" pitchFamily="34" charset="0"/>
              </a:rPr>
              <a:t>sensors</a:t>
            </a:r>
            <a:r>
              <a:rPr lang="en-US" sz="2000" dirty="0">
                <a:solidFill>
                  <a:schemeClr val="tx1">
                    <a:lumMod val="95000"/>
                    <a:lumOff val="5000"/>
                  </a:schemeClr>
                </a:solidFill>
                <a:latin typeface="Aptos Display" panose="020B0004020202020204" pitchFamily="34" charset="0"/>
              </a:rPr>
              <a:t>.</a:t>
            </a:r>
          </a:p>
          <a:p>
            <a:pPr marL="342900" indent="-342900">
              <a:buFont typeface="+mj-lt"/>
              <a:buAutoNum type="arabicPeriod"/>
            </a:pPr>
            <a:r>
              <a:rPr lang="en-US" sz="2000" dirty="0">
                <a:solidFill>
                  <a:schemeClr val="tx1">
                    <a:lumMod val="95000"/>
                    <a:lumOff val="5000"/>
                  </a:schemeClr>
                </a:solidFill>
                <a:latin typeface="Aptos Display" panose="020B0004020202020204" pitchFamily="34" charset="0"/>
              </a:rPr>
              <a:t>Inside the agent, the percepts are processed to decide the best action.</a:t>
            </a:r>
          </a:p>
          <a:p>
            <a:pPr marL="342900" indent="-342900">
              <a:buFont typeface="+mj-lt"/>
              <a:buAutoNum type="arabicPeriod"/>
            </a:pPr>
            <a:r>
              <a:rPr lang="en-US" sz="2000" dirty="0">
                <a:solidFill>
                  <a:schemeClr val="tx1">
                    <a:lumMod val="95000"/>
                    <a:lumOff val="5000"/>
                  </a:schemeClr>
                </a:solidFill>
                <a:latin typeface="Aptos Display" panose="020B0004020202020204" pitchFamily="34" charset="0"/>
              </a:rPr>
              <a:t>The chosen action is sent to the </a:t>
            </a:r>
            <a:r>
              <a:rPr lang="en-US" sz="2000" dirty="0">
                <a:solidFill>
                  <a:schemeClr val="tx1">
                    <a:lumMod val="95000"/>
                    <a:lumOff val="5000"/>
                  </a:schemeClr>
                </a:solidFill>
                <a:highlight>
                  <a:srgbClr val="FFFF00"/>
                </a:highlight>
                <a:latin typeface="Aptos Display" panose="020B0004020202020204" pitchFamily="34" charset="0"/>
              </a:rPr>
              <a:t>effectors</a:t>
            </a:r>
            <a:r>
              <a:rPr lang="en-US" sz="2000" dirty="0">
                <a:solidFill>
                  <a:schemeClr val="tx1">
                    <a:lumMod val="95000"/>
                    <a:lumOff val="5000"/>
                  </a:schemeClr>
                </a:solidFill>
                <a:latin typeface="Aptos Display" panose="020B0004020202020204" pitchFamily="34" charset="0"/>
              </a:rPr>
              <a:t> (actuators).</a:t>
            </a:r>
          </a:p>
          <a:p>
            <a:pPr marL="342900" indent="-342900">
              <a:buFont typeface="+mj-lt"/>
              <a:buAutoNum type="arabicPeriod"/>
            </a:pPr>
            <a:r>
              <a:rPr lang="en-US" sz="2000" dirty="0">
                <a:solidFill>
                  <a:schemeClr val="tx1">
                    <a:lumMod val="95000"/>
                    <a:lumOff val="5000"/>
                  </a:schemeClr>
                </a:solidFill>
                <a:latin typeface="Aptos Display" panose="020B0004020202020204" pitchFamily="34" charset="0"/>
              </a:rPr>
              <a:t>Effectors perform the </a:t>
            </a:r>
            <a:r>
              <a:rPr lang="en-US" sz="2000" dirty="0">
                <a:solidFill>
                  <a:schemeClr val="tx1">
                    <a:lumMod val="95000"/>
                    <a:lumOff val="5000"/>
                  </a:schemeClr>
                </a:solidFill>
                <a:highlight>
                  <a:srgbClr val="FFFF00"/>
                </a:highlight>
                <a:latin typeface="Aptos Display" panose="020B0004020202020204" pitchFamily="34" charset="0"/>
              </a:rPr>
              <a:t>action</a:t>
            </a:r>
            <a:r>
              <a:rPr lang="en-US" sz="2000" dirty="0">
                <a:solidFill>
                  <a:schemeClr val="tx1">
                    <a:lumMod val="95000"/>
                    <a:lumOff val="5000"/>
                  </a:schemeClr>
                </a:solidFill>
                <a:latin typeface="Aptos Display" panose="020B0004020202020204" pitchFamily="34" charset="0"/>
              </a:rPr>
              <a:t> on the environment.</a:t>
            </a:r>
          </a:p>
          <a:p>
            <a:pPr marL="342900" indent="-342900">
              <a:buFont typeface="+mj-lt"/>
              <a:buAutoNum type="arabicPeriod"/>
            </a:pPr>
            <a:r>
              <a:rPr lang="en-US" sz="2000" dirty="0">
                <a:solidFill>
                  <a:schemeClr val="tx1">
                    <a:lumMod val="95000"/>
                    <a:lumOff val="5000"/>
                  </a:schemeClr>
                </a:solidFill>
                <a:latin typeface="Aptos Display" panose="020B0004020202020204" pitchFamily="34" charset="0"/>
              </a:rPr>
              <a:t>The environment changes, generating new percepts, and the cycle continues.</a:t>
            </a:r>
          </a:p>
          <a:p>
            <a:r>
              <a:rPr lang="en-US" sz="2000" dirty="0">
                <a:solidFill>
                  <a:schemeClr val="tx1">
                    <a:lumMod val="95000"/>
                    <a:lumOff val="5000"/>
                  </a:schemeClr>
                </a:solidFill>
                <a:latin typeface="Aptos Display" panose="020B0004020202020204" pitchFamily="34" charset="0"/>
              </a:rPr>
              <a:t>This shows how an AI agent continuously senses, decides, and acts.</a:t>
            </a:r>
          </a:p>
          <a:p>
            <a:pPr algn="ctr"/>
            <a:r>
              <a:rPr lang="en-US" sz="1600" b="1" dirty="0">
                <a:solidFill>
                  <a:schemeClr val="tx1">
                    <a:lumMod val="95000"/>
                    <a:lumOff val="5000"/>
                  </a:schemeClr>
                </a:solidFill>
                <a:highlight>
                  <a:srgbClr val="FFFF00"/>
                </a:highlight>
                <a:latin typeface="Aptos Display" panose="020B0004020202020204" pitchFamily="34" charset="0"/>
              </a:rPr>
              <a:t>Environment → Sensors → Agent → Actuators → Environment</a:t>
            </a:r>
          </a:p>
          <a:p>
            <a:r>
              <a:rPr lang="en-US" sz="2000" b="1" dirty="0">
                <a:solidFill>
                  <a:schemeClr val="tx1">
                    <a:lumMod val="95000"/>
                    <a:lumOff val="5000"/>
                  </a:schemeClr>
                </a:solidFill>
                <a:latin typeface="Aptos Display" panose="020B0004020202020204" pitchFamily="34" charset="0"/>
              </a:rPr>
              <a:t>Sensors</a:t>
            </a:r>
            <a:r>
              <a:rPr lang="en-US" sz="2000" dirty="0">
                <a:solidFill>
                  <a:schemeClr val="tx1">
                    <a:lumMod val="95000"/>
                    <a:lumOff val="5000"/>
                  </a:schemeClr>
                </a:solidFill>
                <a:latin typeface="Aptos Display" panose="020B0004020202020204" pitchFamily="34" charset="0"/>
              </a:rPr>
              <a:t>: Collect information (camera, microphone, keyboard input)</a:t>
            </a:r>
          </a:p>
          <a:p>
            <a:r>
              <a:rPr lang="en-US" sz="2000" b="1" dirty="0">
                <a:solidFill>
                  <a:schemeClr val="tx1">
                    <a:lumMod val="95000"/>
                    <a:lumOff val="5000"/>
                  </a:schemeClr>
                </a:solidFill>
                <a:latin typeface="Aptos Display" panose="020B0004020202020204" pitchFamily="34" charset="0"/>
              </a:rPr>
              <a:t>Actuators</a:t>
            </a:r>
            <a:r>
              <a:rPr lang="en-US" sz="2000" dirty="0">
                <a:solidFill>
                  <a:schemeClr val="tx1">
                    <a:lumMod val="95000"/>
                    <a:lumOff val="5000"/>
                  </a:schemeClr>
                </a:solidFill>
                <a:latin typeface="Aptos Display" panose="020B0004020202020204" pitchFamily="34" charset="0"/>
              </a:rPr>
              <a:t>: Perform actions (motor, screen display, speaker)</a:t>
            </a:r>
          </a:p>
        </p:txBody>
      </p:sp>
    </p:spTree>
    <p:extLst>
      <p:ext uri="{BB962C8B-B14F-4D97-AF65-F5344CB8AC3E}">
        <p14:creationId xmlns:p14="http://schemas.microsoft.com/office/powerpoint/2010/main" val="1365107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722172"/>
            <a:ext cx="10304227" cy="4668901"/>
          </a:xfrm>
        </p:spPr>
        <p:txBody>
          <a:bodyPr>
            <a:normAutofit/>
          </a:bodyPr>
          <a:lstStyle/>
          <a:p>
            <a:pPr marL="0" indent="0">
              <a:buNone/>
            </a:pPr>
            <a:r>
              <a:rPr lang="en-US" sz="4800" b="1" dirty="0">
                <a:latin typeface="Aptos Display" panose="020B0004020202020204" pitchFamily="34" charset="0"/>
              </a:rPr>
              <a:t>Agent Function</a:t>
            </a:r>
          </a:p>
          <a:p>
            <a:r>
              <a:rPr lang="en-US" sz="4000" dirty="0">
                <a:latin typeface="Aptos Display" panose="020B0004020202020204" pitchFamily="34" charset="0"/>
              </a:rPr>
              <a:t>An agent function maps percepts to actions.</a:t>
            </a:r>
          </a:p>
          <a:p>
            <a:pPr marL="0" indent="0" algn="ctr">
              <a:buNone/>
            </a:pPr>
            <a:r>
              <a:rPr lang="en-US" sz="4000" dirty="0">
                <a:highlight>
                  <a:srgbClr val="FFFF00"/>
                </a:highlight>
                <a:latin typeface="Aptos Display" panose="020B0004020202020204" pitchFamily="34" charset="0"/>
              </a:rPr>
              <a:t>f:Percepts→Actions </a:t>
            </a:r>
          </a:p>
          <a:p>
            <a:pPr>
              <a:buFont typeface="Arial" panose="020B0604020202020204" pitchFamily="34" charset="0"/>
              <a:buChar char="•"/>
            </a:pPr>
            <a:r>
              <a:rPr lang="en-US" sz="4000" dirty="0">
                <a:latin typeface="Aptos Display" panose="020B0004020202020204" pitchFamily="34" charset="0"/>
              </a:rPr>
              <a:t>Takes </a:t>
            </a:r>
            <a:r>
              <a:rPr lang="en-US" sz="4000" b="1" dirty="0">
                <a:highlight>
                  <a:srgbClr val="FFFF00"/>
                </a:highlight>
                <a:latin typeface="Aptos Display" panose="020B0004020202020204" pitchFamily="34" charset="0"/>
              </a:rPr>
              <a:t>current</a:t>
            </a:r>
            <a:r>
              <a:rPr lang="en-US" sz="4000" dirty="0">
                <a:latin typeface="Aptos Display" panose="020B0004020202020204" pitchFamily="34" charset="0"/>
              </a:rPr>
              <a:t> percept (or percept </a:t>
            </a:r>
            <a:r>
              <a:rPr lang="en-US" sz="4000" dirty="0">
                <a:highlight>
                  <a:srgbClr val="FFFF00"/>
                </a:highlight>
                <a:latin typeface="Aptos Display" panose="020B0004020202020204" pitchFamily="34" charset="0"/>
              </a:rPr>
              <a:t>history</a:t>
            </a:r>
            <a:r>
              <a:rPr lang="en-US" sz="4000" dirty="0">
                <a:latin typeface="Aptos Display" panose="020B0004020202020204" pitchFamily="34" charset="0"/>
              </a:rPr>
              <a:t>)</a:t>
            </a:r>
          </a:p>
          <a:p>
            <a:pPr>
              <a:buFont typeface="Arial" panose="020B0604020202020204" pitchFamily="34" charset="0"/>
              <a:buChar char="•"/>
            </a:pPr>
            <a:r>
              <a:rPr lang="en-US" sz="4000" dirty="0">
                <a:latin typeface="Aptos Display" panose="020B0004020202020204" pitchFamily="34" charset="0"/>
              </a:rPr>
              <a:t>Decides the best action</a:t>
            </a:r>
          </a:p>
        </p:txBody>
      </p:sp>
    </p:spTree>
    <p:extLst>
      <p:ext uri="{BB962C8B-B14F-4D97-AF65-F5344CB8AC3E}">
        <p14:creationId xmlns:p14="http://schemas.microsoft.com/office/powerpoint/2010/main" val="3802842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722172"/>
            <a:ext cx="10304227" cy="4668901"/>
          </a:xfrm>
        </p:spPr>
        <p:txBody>
          <a:bodyPr>
            <a:normAutofit/>
          </a:bodyPr>
          <a:lstStyle/>
          <a:p>
            <a:pPr marL="0" indent="0" algn="l" fontAlgn="base">
              <a:buNone/>
            </a:pPr>
            <a:r>
              <a:rPr lang="en-US" sz="2800" b="1" i="0" dirty="0">
                <a:solidFill>
                  <a:schemeClr val="tx1">
                    <a:lumMod val="95000"/>
                    <a:lumOff val="5000"/>
                  </a:schemeClr>
                </a:solidFill>
                <a:effectLst/>
                <a:latin typeface="Aptos Display" panose="020B0004020202020204" pitchFamily="34" charset="0"/>
              </a:rPr>
              <a:t>Key Features of AI Agents</a:t>
            </a:r>
          </a:p>
          <a:p>
            <a:pPr algn="l" fontAlgn="base">
              <a:buFont typeface="Arial" panose="020B0604020202020204" pitchFamily="34" charset="0"/>
              <a:buChar char="•"/>
            </a:pPr>
            <a:r>
              <a:rPr lang="en-US" sz="2800" b="1" i="0" dirty="0">
                <a:solidFill>
                  <a:schemeClr val="tx1">
                    <a:lumMod val="95000"/>
                    <a:lumOff val="5000"/>
                  </a:schemeClr>
                </a:solidFill>
                <a:effectLst/>
                <a:latin typeface="Aptos Display" panose="020B0004020202020204" pitchFamily="34" charset="0"/>
              </a:rPr>
              <a:t>Autonomous:</a:t>
            </a:r>
            <a:r>
              <a:rPr lang="en-US" sz="2800" b="0" i="0" dirty="0">
                <a:solidFill>
                  <a:schemeClr val="tx1">
                    <a:lumMod val="95000"/>
                    <a:lumOff val="5000"/>
                  </a:schemeClr>
                </a:solidFill>
                <a:effectLst/>
                <a:latin typeface="Aptos Display" panose="020B0004020202020204" pitchFamily="34" charset="0"/>
              </a:rPr>
              <a:t> Act without constant human input and decide next steps from past data like a bookstore bot flags missing invoices.</a:t>
            </a:r>
          </a:p>
          <a:p>
            <a:pPr algn="l" fontAlgn="base">
              <a:buFont typeface="Arial" panose="020B0604020202020204" pitchFamily="34" charset="0"/>
              <a:buChar char="•"/>
            </a:pPr>
            <a:r>
              <a:rPr lang="en-US" sz="2800" b="1" i="0" dirty="0">
                <a:solidFill>
                  <a:schemeClr val="tx1">
                    <a:lumMod val="95000"/>
                    <a:lumOff val="5000"/>
                  </a:schemeClr>
                </a:solidFill>
                <a:effectLst/>
                <a:latin typeface="Aptos Display" panose="020B0004020202020204" pitchFamily="34" charset="0"/>
              </a:rPr>
              <a:t>Goal‑driven:</a:t>
            </a:r>
            <a:r>
              <a:rPr lang="en-US" sz="2800" b="0" i="0" dirty="0">
                <a:solidFill>
                  <a:schemeClr val="tx1">
                    <a:lumMod val="95000"/>
                    <a:lumOff val="5000"/>
                  </a:schemeClr>
                </a:solidFill>
                <a:effectLst/>
                <a:latin typeface="Aptos Display" panose="020B0004020202020204" pitchFamily="34" charset="0"/>
              </a:rPr>
              <a:t> Optimize for defined objectives like a logistics AI balancing speed, cost and fuel use.</a:t>
            </a:r>
          </a:p>
          <a:p>
            <a:pPr algn="l" fontAlgn="base">
              <a:buFont typeface="Arial" panose="020B0604020202020204" pitchFamily="34" charset="0"/>
              <a:buChar char="•"/>
            </a:pPr>
            <a:r>
              <a:rPr lang="en-US" sz="2800" b="1" i="0" dirty="0">
                <a:solidFill>
                  <a:schemeClr val="tx1">
                    <a:lumMod val="95000"/>
                    <a:lumOff val="5000"/>
                  </a:schemeClr>
                </a:solidFill>
                <a:effectLst/>
                <a:latin typeface="Aptos Display" panose="020B0004020202020204" pitchFamily="34" charset="0"/>
              </a:rPr>
              <a:t>Perceptive:</a:t>
            </a:r>
            <a:r>
              <a:rPr lang="en-US" sz="2800" b="0" i="0" dirty="0">
                <a:solidFill>
                  <a:schemeClr val="tx1">
                    <a:lumMod val="95000"/>
                    <a:lumOff val="5000"/>
                  </a:schemeClr>
                </a:solidFill>
                <a:effectLst/>
                <a:latin typeface="Aptos Display" panose="020B0004020202020204" pitchFamily="34" charset="0"/>
              </a:rPr>
              <a:t> Gather info from sensors, inputs or APIs like a cybersecurity agent tracking new threats.</a:t>
            </a:r>
          </a:p>
          <a:p>
            <a:pPr algn="l" fontAlgn="base">
              <a:buFont typeface="Arial" panose="020B0604020202020204" pitchFamily="34" charset="0"/>
              <a:buChar char="•"/>
            </a:pPr>
            <a:r>
              <a:rPr lang="en-US" sz="2800" b="1" i="0" dirty="0">
                <a:solidFill>
                  <a:schemeClr val="tx1">
                    <a:lumMod val="95000"/>
                    <a:lumOff val="5000"/>
                  </a:schemeClr>
                </a:solidFill>
                <a:effectLst/>
                <a:latin typeface="Aptos Display" panose="020B0004020202020204" pitchFamily="34" charset="0"/>
              </a:rPr>
              <a:t>Adaptable:</a:t>
            </a:r>
            <a:r>
              <a:rPr lang="en-US" sz="2800" b="0" i="0" dirty="0">
                <a:solidFill>
                  <a:schemeClr val="tx1">
                    <a:lumMod val="95000"/>
                    <a:lumOff val="5000"/>
                  </a:schemeClr>
                </a:solidFill>
                <a:effectLst/>
                <a:latin typeface="Aptos Display" panose="020B0004020202020204" pitchFamily="34" charset="0"/>
              </a:rPr>
              <a:t> Adjust strategies when situations change.</a:t>
            </a:r>
          </a:p>
          <a:p>
            <a:pPr algn="l" fontAlgn="base">
              <a:buFont typeface="Arial" panose="020B0604020202020204" pitchFamily="34" charset="0"/>
              <a:buChar char="•"/>
            </a:pPr>
            <a:r>
              <a:rPr lang="en-US" sz="2800" b="1" i="0" dirty="0">
                <a:solidFill>
                  <a:schemeClr val="tx1">
                    <a:lumMod val="95000"/>
                    <a:lumOff val="5000"/>
                  </a:schemeClr>
                </a:solidFill>
                <a:effectLst/>
                <a:latin typeface="Aptos Display" panose="020B0004020202020204" pitchFamily="34" charset="0"/>
              </a:rPr>
              <a:t>Collaborative:</a:t>
            </a:r>
            <a:r>
              <a:rPr lang="en-US" sz="2800" b="0" i="0" dirty="0">
                <a:solidFill>
                  <a:schemeClr val="tx1">
                    <a:lumMod val="95000"/>
                    <a:lumOff val="5000"/>
                  </a:schemeClr>
                </a:solidFill>
                <a:effectLst/>
                <a:latin typeface="Aptos Display" panose="020B0004020202020204" pitchFamily="34" charset="0"/>
              </a:rPr>
              <a:t> Work with humans or other agents toward shared goals like healthcare agents coordinating with patients and doctor.</a:t>
            </a:r>
          </a:p>
        </p:txBody>
      </p:sp>
    </p:spTree>
    <p:extLst>
      <p:ext uri="{BB962C8B-B14F-4D97-AF65-F5344CB8AC3E}">
        <p14:creationId xmlns:p14="http://schemas.microsoft.com/office/powerpoint/2010/main" val="1890306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722172"/>
            <a:ext cx="10304227" cy="4668901"/>
          </a:xfrm>
        </p:spPr>
        <p:txBody>
          <a:bodyPr>
            <a:normAutofit fontScale="92500" lnSpcReduction="10000"/>
          </a:bodyPr>
          <a:lstStyle/>
          <a:p>
            <a:pPr marL="0" indent="0">
              <a:buNone/>
            </a:pPr>
            <a:r>
              <a:rPr lang="en-US" sz="3200" b="1" dirty="0">
                <a:latin typeface="Aptos Display" panose="020B0004020202020204" pitchFamily="34" charset="0"/>
              </a:rPr>
              <a:t>Example of an Agent</a:t>
            </a:r>
          </a:p>
          <a:p>
            <a:pPr>
              <a:buFont typeface="Arial" panose="020B0604020202020204" pitchFamily="34" charset="0"/>
              <a:buChar char="•"/>
            </a:pPr>
            <a:r>
              <a:rPr lang="en-US" sz="3200" b="1" dirty="0">
                <a:latin typeface="Aptos Display" panose="020B0004020202020204" pitchFamily="34" charset="0"/>
              </a:rPr>
              <a:t>Human:</a:t>
            </a:r>
            <a:endParaRPr lang="en-US" sz="3200" dirty="0">
              <a:latin typeface="Aptos Display" panose="020B0004020202020204" pitchFamily="34" charset="0"/>
            </a:endParaRPr>
          </a:p>
          <a:p>
            <a:pPr marL="742950" lvl="1" indent="-285750">
              <a:buFont typeface="Arial" panose="020B0604020202020204" pitchFamily="34" charset="0"/>
              <a:buChar char="•"/>
            </a:pPr>
            <a:r>
              <a:rPr lang="en-US" sz="3200" dirty="0">
                <a:latin typeface="Aptos Display" panose="020B0004020202020204" pitchFamily="34" charset="0"/>
              </a:rPr>
              <a:t>Sensors: Eyes, ears</a:t>
            </a:r>
          </a:p>
          <a:p>
            <a:pPr marL="742950" lvl="1" indent="-285750">
              <a:buFont typeface="Arial" panose="020B0604020202020204" pitchFamily="34" charset="0"/>
              <a:buChar char="•"/>
            </a:pPr>
            <a:r>
              <a:rPr lang="en-US" sz="3200" dirty="0">
                <a:latin typeface="Aptos Display" panose="020B0004020202020204" pitchFamily="34" charset="0"/>
              </a:rPr>
              <a:t>Actuators: Hands, legs</a:t>
            </a:r>
          </a:p>
          <a:p>
            <a:pPr>
              <a:buFont typeface="Arial" panose="020B0604020202020204" pitchFamily="34" charset="0"/>
              <a:buChar char="•"/>
            </a:pPr>
            <a:r>
              <a:rPr lang="en-US" sz="3200" b="1" dirty="0">
                <a:latin typeface="Aptos Display" panose="020B0004020202020204" pitchFamily="34" charset="0"/>
              </a:rPr>
              <a:t>Robot:</a:t>
            </a:r>
            <a:endParaRPr lang="en-US" sz="3200" dirty="0">
              <a:latin typeface="Aptos Display" panose="020B0004020202020204" pitchFamily="34" charset="0"/>
            </a:endParaRPr>
          </a:p>
          <a:p>
            <a:pPr marL="742950" lvl="1" indent="-285750">
              <a:buFont typeface="Arial" panose="020B0604020202020204" pitchFamily="34" charset="0"/>
              <a:buChar char="•"/>
            </a:pPr>
            <a:r>
              <a:rPr lang="en-US" sz="3200" dirty="0">
                <a:latin typeface="Aptos Display" panose="020B0004020202020204" pitchFamily="34" charset="0"/>
              </a:rPr>
              <a:t>Sensors: Camera, distance sensors</a:t>
            </a:r>
          </a:p>
          <a:p>
            <a:pPr marL="742950" lvl="1" indent="-285750">
              <a:buFont typeface="Arial" panose="020B0604020202020204" pitchFamily="34" charset="0"/>
              <a:buChar char="•"/>
            </a:pPr>
            <a:r>
              <a:rPr lang="en-US" sz="3200" dirty="0">
                <a:latin typeface="Aptos Display" panose="020B0004020202020204" pitchFamily="34" charset="0"/>
              </a:rPr>
              <a:t>Actuators: Wheels, arms</a:t>
            </a:r>
          </a:p>
          <a:p>
            <a:pPr>
              <a:buFont typeface="Arial" panose="020B0604020202020204" pitchFamily="34" charset="0"/>
              <a:buChar char="•"/>
            </a:pPr>
            <a:r>
              <a:rPr lang="en-US" sz="3200" b="1" dirty="0">
                <a:latin typeface="Aptos Display" panose="020B0004020202020204" pitchFamily="34" charset="0"/>
              </a:rPr>
              <a:t>Software Agent:</a:t>
            </a:r>
            <a:endParaRPr lang="en-US" sz="3200" dirty="0">
              <a:latin typeface="Aptos Display" panose="020B0004020202020204" pitchFamily="34" charset="0"/>
            </a:endParaRPr>
          </a:p>
          <a:p>
            <a:pPr marL="742950" lvl="1" indent="-285750">
              <a:buFont typeface="Arial" panose="020B0604020202020204" pitchFamily="34" charset="0"/>
              <a:buChar char="•"/>
            </a:pPr>
            <a:r>
              <a:rPr lang="en-US" sz="3200" dirty="0">
                <a:latin typeface="Aptos Display" panose="020B0004020202020204" pitchFamily="34" charset="0"/>
              </a:rPr>
              <a:t>Sensors: User input, data streams</a:t>
            </a:r>
          </a:p>
          <a:p>
            <a:pPr marL="742950" lvl="1" indent="-285750">
              <a:buFont typeface="Arial" panose="020B0604020202020204" pitchFamily="34" charset="0"/>
              <a:buChar char="•"/>
            </a:pPr>
            <a:r>
              <a:rPr lang="en-US" sz="3200" dirty="0">
                <a:latin typeface="Aptos Display" panose="020B0004020202020204" pitchFamily="34" charset="0"/>
              </a:rPr>
              <a:t>Actuators: Display output, file updates</a:t>
            </a:r>
          </a:p>
        </p:txBody>
      </p:sp>
    </p:spTree>
    <p:extLst>
      <p:ext uri="{BB962C8B-B14F-4D97-AF65-F5344CB8AC3E}">
        <p14:creationId xmlns:p14="http://schemas.microsoft.com/office/powerpoint/2010/main" val="1106085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722172"/>
            <a:ext cx="10304227" cy="4668901"/>
          </a:xfrm>
        </p:spPr>
        <p:txBody>
          <a:bodyPr>
            <a:normAutofit fontScale="92500" lnSpcReduction="10000"/>
          </a:bodyPr>
          <a:lstStyle/>
          <a:p>
            <a:pPr marL="0" indent="0" algn="l" fontAlgn="base">
              <a:buNone/>
            </a:pPr>
            <a:r>
              <a:rPr lang="en-US" sz="3600" b="1" i="0" dirty="0">
                <a:solidFill>
                  <a:schemeClr val="tx1">
                    <a:lumMod val="95000"/>
                    <a:lumOff val="5000"/>
                  </a:schemeClr>
                </a:solidFill>
                <a:effectLst/>
                <a:latin typeface="Aptos Display" panose="020B0004020202020204" pitchFamily="34" charset="0"/>
              </a:rPr>
              <a:t>AI Agent Classification</a:t>
            </a:r>
          </a:p>
          <a:p>
            <a:pPr marL="0" indent="0" algn="l" rtl="0" fontAlgn="base">
              <a:buNone/>
            </a:pPr>
            <a:r>
              <a:rPr lang="en-US" sz="2400" b="0" i="0" dirty="0">
                <a:solidFill>
                  <a:schemeClr val="tx1">
                    <a:lumMod val="95000"/>
                    <a:lumOff val="5000"/>
                  </a:schemeClr>
                </a:solidFill>
                <a:effectLst/>
                <a:latin typeface="Aptos Display" panose="020B0004020202020204" pitchFamily="34" charset="0"/>
              </a:rPr>
              <a:t>An agent is a system designed to perceive its environment, make decisions and take actions to achieve specific goals. Agents operate autonomously, without direct human control and can be classified based on their behavior, environment and number of interacting agents.</a:t>
            </a:r>
          </a:p>
          <a:p>
            <a:pPr algn="l" fontAlgn="base">
              <a:buFont typeface="Arial" panose="020B0604020202020204" pitchFamily="34" charset="0"/>
              <a:buChar char="•"/>
            </a:pPr>
            <a:r>
              <a:rPr lang="en-US" sz="2400" b="1" i="0" dirty="0">
                <a:solidFill>
                  <a:schemeClr val="tx1">
                    <a:lumMod val="95000"/>
                    <a:lumOff val="5000"/>
                  </a:schemeClr>
                </a:solidFill>
                <a:effectLst/>
                <a:latin typeface="Aptos Display" panose="020B0004020202020204" pitchFamily="34" charset="0"/>
              </a:rPr>
              <a:t>Reactive Agents:</a:t>
            </a:r>
            <a:r>
              <a:rPr lang="en-US" sz="2400" b="0" i="0" dirty="0">
                <a:solidFill>
                  <a:schemeClr val="tx1">
                    <a:lumMod val="95000"/>
                    <a:lumOff val="5000"/>
                  </a:schemeClr>
                </a:solidFill>
                <a:effectLst/>
                <a:latin typeface="Aptos Display" panose="020B0004020202020204" pitchFamily="34" charset="0"/>
              </a:rPr>
              <a:t> Respond to immediate environmental stimuli without foresight or planning.</a:t>
            </a:r>
          </a:p>
          <a:p>
            <a:pPr algn="l" fontAlgn="base">
              <a:buFont typeface="Arial" panose="020B0604020202020204" pitchFamily="34" charset="0"/>
              <a:buChar char="•"/>
            </a:pPr>
            <a:r>
              <a:rPr lang="en-US" sz="2400" b="1" i="0" dirty="0">
                <a:solidFill>
                  <a:schemeClr val="tx1">
                    <a:lumMod val="95000"/>
                    <a:lumOff val="5000"/>
                  </a:schemeClr>
                </a:solidFill>
                <a:effectLst/>
                <a:latin typeface="Aptos Display" panose="020B0004020202020204" pitchFamily="34" charset="0"/>
              </a:rPr>
              <a:t>Proactive Agents:</a:t>
            </a:r>
            <a:r>
              <a:rPr lang="en-US" sz="2400" b="0" i="0" dirty="0">
                <a:solidFill>
                  <a:schemeClr val="tx1">
                    <a:lumMod val="95000"/>
                    <a:lumOff val="5000"/>
                  </a:schemeClr>
                </a:solidFill>
                <a:effectLst/>
                <a:latin typeface="Aptos Display" panose="020B0004020202020204" pitchFamily="34" charset="0"/>
              </a:rPr>
              <a:t> Anticipate future states and plan actions to achieve long-term goals.</a:t>
            </a:r>
          </a:p>
          <a:p>
            <a:pPr algn="l" fontAlgn="base">
              <a:buFont typeface="Arial" panose="020B0604020202020204" pitchFamily="34" charset="0"/>
              <a:buChar char="•"/>
            </a:pPr>
            <a:r>
              <a:rPr lang="en-US" sz="2400" b="1" i="0" dirty="0">
                <a:solidFill>
                  <a:schemeClr val="tx1">
                    <a:lumMod val="95000"/>
                    <a:lumOff val="5000"/>
                  </a:schemeClr>
                </a:solidFill>
                <a:effectLst/>
                <a:latin typeface="Aptos Display" panose="020B0004020202020204" pitchFamily="34" charset="0"/>
              </a:rPr>
              <a:t>Single-Agent Systems:</a:t>
            </a:r>
            <a:r>
              <a:rPr lang="en-US" sz="2400" b="0" i="0" dirty="0">
                <a:solidFill>
                  <a:schemeClr val="tx1">
                    <a:lumMod val="95000"/>
                    <a:lumOff val="5000"/>
                  </a:schemeClr>
                </a:solidFill>
                <a:effectLst/>
                <a:latin typeface="Aptos Display" panose="020B0004020202020204" pitchFamily="34" charset="0"/>
              </a:rPr>
              <a:t> One agent solves a problem independently.</a:t>
            </a:r>
          </a:p>
          <a:p>
            <a:pPr algn="l" fontAlgn="base">
              <a:buFont typeface="Arial" panose="020B0604020202020204" pitchFamily="34" charset="0"/>
              <a:buChar char="•"/>
            </a:pPr>
            <a:r>
              <a:rPr lang="en-US" sz="2400" b="1" i="0" dirty="0">
                <a:solidFill>
                  <a:schemeClr val="tx1">
                    <a:lumMod val="95000"/>
                    <a:lumOff val="5000"/>
                  </a:schemeClr>
                </a:solidFill>
                <a:effectLst/>
                <a:latin typeface="Aptos Display" panose="020B0004020202020204" pitchFamily="34" charset="0"/>
              </a:rPr>
              <a:t>Multi-Agent Systems: </a:t>
            </a:r>
            <a:r>
              <a:rPr lang="en-US" sz="2400" b="0" i="0" dirty="0">
                <a:solidFill>
                  <a:schemeClr val="tx1">
                    <a:lumMod val="95000"/>
                    <a:lumOff val="5000"/>
                  </a:schemeClr>
                </a:solidFill>
                <a:effectLst/>
                <a:latin typeface="Aptos Display" panose="020B0004020202020204" pitchFamily="34" charset="0"/>
              </a:rPr>
              <a:t>Multiple agents interact, coordinate or compete to achieve goals; may be homogeneous (similar roles) or heterogeneous (diverse roles).</a:t>
            </a:r>
          </a:p>
          <a:p>
            <a:pPr algn="l" fontAlgn="base">
              <a:buFont typeface="Arial" panose="020B0604020202020204" pitchFamily="34" charset="0"/>
              <a:buChar char="•"/>
            </a:pPr>
            <a:r>
              <a:rPr lang="en-US" sz="2400" b="1" i="0" dirty="0">
                <a:solidFill>
                  <a:schemeClr val="tx1">
                    <a:lumMod val="95000"/>
                    <a:lumOff val="5000"/>
                  </a:schemeClr>
                </a:solidFill>
                <a:effectLst/>
                <a:latin typeface="Aptos Display" panose="020B0004020202020204" pitchFamily="34" charset="0"/>
              </a:rPr>
              <a:t>Rational Agents:</a:t>
            </a:r>
            <a:r>
              <a:rPr lang="en-US" sz="2400" b="0" i="0" dirty="0">
                <a:solidFill>
                  <a:schemeClr val="tx1">
                    <a:lumMod val="95000"/>
                    <a:lumOff val="5000"/>
                  </a:schemeClr>
                </a:solidFill>
                <a:effectLst/>
                <a:latin typeface="Aptos Display" panose="020B0004020202020204" pitchFamily="34" charset="0"/>
              </a:rPr>
              <a:t> Choose actions to </a:t>
            </a:r>
            <a:r>
              <a:rPr lang="en-US" sz="2400" b="0" i="0" dirty="0">
                <a:solidFill>
                  <a:schemeClr val="tx1">
                    <a:lumMod val="95000"/>
                    <a:lumOff val="5000"/>
                  </a:schemeClr>
                </a:solidFill>
                <a:effectLst/>
                <a:highlight>
                  <a:srgbClr val="FFFF00"/>
                </a:highlight>
                <a:latin typeface="Aptos Display" panose="020B0004020202020204" pitchFamily="34" charset="0"/>
              </a:rPr>
              <a:t>maximize expected outcomes </a:t>
            </a:r>
            <a:r>
              <a:rPr lang="en-US" sz="2400" b="0" i="0" dirty="0">
                <a:solidFill>
                  <a:schemeClr val="tx1">
                    <a:lumMod val="95000"/>
                    <a:lumOff val="5000"/>
                  </a:schemeClr>
                </a:solidFill>
                <a:effectLst/>
                <a:latin typeface="Aptos Display" panose="020B0004020202020204" pitchFamily="34" charset="0"/>
              </a:rPr>
              <a:t>using both current and historical information.</a:t>
            </a:r>
          </a:p>
        </p:txBody>
      </p:sp>
    </p:spTree>
    <p:extLst>
      <p:ext uri="{BB962C8B-B14F-4D97-AF65-F5344CB8AC3E}">
        <p14:creationId xmlns:p14="http://schemas.microsoft.com/office/powerpoint/2010/main" val="2101963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FA8FF-8321-8F04-65D1-2C32C08C4252}"/>
              </a:ext>
            </a:extLst>
          </p:cNvPr>
          <p:cNvSpPr>
            <a:spLocks noGrp="1"/>
          </p:cNvSpPr>
          <p:nvPr>
            <p:ph type="title"/>
          </p:nvPr>
        </p:nvSpPr>
        <p:spPr/>
        <p:txBody>
          <a:bodyPr>
            <a:normAutofit/>
          </a:bodyPr>
          <a:lstStyle/>
          <a:p>
            <a:r>
              <a:rPr lang="en-US" cap="none" dirty="0">
                <a:latin typeface="Aptos" panose="020B0004020202020204" pitchFamily="34" charset="0"/>
              </a:rPr>
              <a:t>Environment in AI</a:t>
            </a:r>
          </a:p>
        </p:txBody>
      </p:sp>
      <p:sp>
        <p:nvSpPr>
          <p:cNvPr id="4" name="Rectangle 1">
            <a:extLst>
              <a:ext uri="{FF2B5EF4-FFF2-40B4-BE49-F238E27FC236}">
                <a16:creationId xmlns:a16="http://schemas.microsoft.com/office/drawing/2014/main" id="{967A3866-2D4A-637F-E645-4D25112B1BA7}"/>
              </a:ext>
            </a:extLst>
          </p:cNvPr>
          <p:cNvSpPr>
            <a:spLocks noGrp="1" noChangeArrowheads="1"/>
          </p:cNvSpPr>
          <p:nvPr>
            <p:ph sz="quarter" idx="13"/>
          </p:nvPr>
        </p:nvSpPr>
        <p:spPr bwMode="auto">
          <a:xfrm>
            <a:off x="257783" y="2199166"/>
            <a:ext cx="11160868"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ptos" panose="020B0004020202020204" pitchFamily="34" charset="0"/>
              </a:rPr>
              <a:t>In AI, the </a:t>
            </a:r>
            <a:r>
              <a:rPr kumimoji="0" lang="en-US" altLang="en-US" sz="3200" b="1" i="0" u="none" strike="noStrike" cap="none" normalizeH="0" baseline="0" dirty="0">
                <a:ln>
                  <a:noFill/>
                </a:ln>
                <a:solidFill>
                  <a:schemeClr val="tx1"/>
                </a:solidFill>
                <a:effectLst/>
                <a:latin typeface="Aptos" panose="020B0004020202020204" pitchFamily="34" charset="0"/>
              </a:rPr>
              <a:t>environment</a:t>
            </a:r>
            <a:r>
              <a:rPr kumimoji="0" lang="en-US" altLang="en-US" sz="3200" b="0" i="0" u="none" strike="noStrike" cap="none" normalizeH="0" baseline="0" dirty="0">
                <a:ln>
                  <a:noFill/>
                </a:ln>
                <a:solidFill>
                  <a:schemeClr val="tx1"/>
                </a:solidFill>
                <a:effectLst/>
                <a:latin typeface="Aptos" panose="020B0004020202020204" pitchFamily="34" charset="0"/>
              </a:rPr>
              <a:t> is everything </a:t>
            </a:r>
            <a:r>
              <a:rPr kumimoji="0" lang="en-US" altLang="en-US" sz="3200" b="1" i="0" u="none" strike="noStrike" cap="none" normalizeH="0" baseline="0" dirty="0">
                <a:ln>
                  <a:noFill/>
                </a:ln>
                <a:solidFill>
                  <a:schemeClr val="tx1"/>
                </a:solidFill>
                <a:effectLst/>
                <a:latin typeface="Aptos" panose="020B0004020202020204" pitchFamily="34" charset="0"/>
              </a:rPr>
              <a:t>outside the agent</a:t>
            </a:r>
            <a:r>
              <a:rPr kumimoji="0" lang="en-US" altLang="en-US" sz="3200" b="0" i="0" u="none" strike="noStrike" cap="none" normalizeH="0" baseline="0" dirty="0">
                <a:ln>
                  <a:noFill/>
                </a:ln>
                <a:solidFill>
                  <a:schemeClr val="tx1"/>
                </a:solidFill>
                <a:effectLst/>
                <a:latin typeface="Aptos" panose="020B0004020202020204" pitchFamily="34" charset="0"/>
              </a:rPr>
              <a:t> that the agent interacts with.</a:t>
            </a:r>
          </a:p>
          <a:p>
            <a:pPr marL="0" indent="0" defTabSz="914400" eaLnBrk="0" fontAlgn="base" hangingPunct="0">
              <a:lnSpc>
                <a:spcPct val="100000"/>
              </a:lnSpc>
              <a:spcBef>
                <a:spcPct val="0"/>
              </a:spcBef>
              <a:spcAft>
                <a:spcPct val="0"/>
              </a:spcAft>
              <a:buNone/>
            </a:pPr>
            <a:r>
              <a:rPr kumimoji="0" lang="en-US" altLang="en-US" sz="3200" b="0" i="0" u="none" strike="noStrike" cap="none" normalizeH="0" baseline="0" dirty="0">
                <a:ln>
                  <a:noFill/>
                </a:ln>
                <a:solidFill>
                  <a:schemeClr val="tx1"/>
                </a:solidFill>
                <a:effectLst/>
                <a:latin typeface="Aptos" panose="020B0004020202020204" pitchFamily="34" charset="0"/>
              </a:rPr>
              <a:t>The environment is the surroundings or situation where an agent operates.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ptos" panose="020B0004020202020204" pitchFamily="34" charset="0"/>
              </a:rPr>
              <a:t>It is the world in which the agent:</a:t>
            </a:r>
          </a:p>
          <a:p>
            <a:pPr lvl="1" defTabSz="914400" eaLnBrk="0" fontAlgn="base" hangingPunct="0">
              <a:lnSpc>
                <a:spcPct val="100000"/>
              </a:lnSpc>
              <a:spcBef>
                <a:spcPct val="0"/>
              </a:spcBef>
              <a:spcAft>
                <a:spcPct val="0"/>
              </a:spcAft>
            </a:pPr>
            <a:r>
              <a:rPr kumimoji="0" lang="en-US" altLang="en-US" sz="3200" b="1" i="0" u="none" strike="noStrike" cap="none" normalizeH="0" baseline="0" dirty="0">
                <a:ln>
                  <a:noFill/>
                </a:ln>
                <a:solidFill>
                  <a:schemeClr val="tx1"/>
                </a:solidFill>
                <a:effectLst/>
                <a:latin typeface="Aptos" panose="020B0004020202020204" pitchFamily="34" charset="0"/>
              </a:rPr>
              <a:t>Perceives</a:t>
            </a:r>
            <a:r>
              <a:rPr kumimoji="0" lang="en-US" altLang="en-US" sz="3200" b="0" i="0" u="none" strike="noStrike" cap="none" normalizeH="0" baseline="0" dirty="0">
                <a:ln>
                  <a:noFill/>
                </a:ln>
                <a:solidFill>
                  <a:schemeClr val="tx1"/>
                </a:solidFill>
                <a:effectLst/>
                <a:latin typeface="Aptos" panose="020B0004020202020204" pitchFamily="34" charset="0"/>
              </a:rPr>
              <a:t> through sensors</a:t>
            </a:r>
          </a:p>
          <a:p>
            <a:pPr lvl="1" defTabSz="914400" eaLnBrk="0" fontAlgn="base" hangingPunct="0">
              <a:lnSpc>
                <a:spcPct val="100000"/>
              </a:lnSpc>
              <a:spcBef>
                <a:spcPct val="0"/>
              </a:spcBef>
              <a:spcAft>
                <a:spcPct val="0"/>
              </a:spcAft>
            </a:pPr>
            <a:r>
              <a:rPr kumimoji="0" lang="en-US" altLang="en-US" sz="3200" b="1" i="0" u="none" strike="noStrike" cap="none" normalizeH="0" baseline="0" dirty="0">
                <a:ln>
                  <a:noFill/>
                </a:ln>
                <a:solidFill>
                  <a:schemeClr val="tx1"/>
                </a:solidFill>
                <a:effectLst/>
                <a:latin typeface="Aptos" panose="020B0004020202020204" pitchFamily="34" charset="0"/>
              </a:rPr>
              <a:t>Acts</a:t>
            </a:r>
            <a:r>
              <a:rPr kumimoji="0" lang="en-US" altLang="en-US" sz="3200" b="0" i="0" u="none" strike="noStrike" cap="none" normalizeH="0" baseline="0" dirty="0">
                <a:ln>
                  <a:noFill/>
                </a:ln>
                <a:solidFill>
                  <a:schemeClr val="tx1"/>
                </a:solidFill>
                <a:effectLst/>
                <a:latin typeface="Aptos" panose="020B0004020202020204" pitchFamily="34" charset="0"/>
              </a:rPr>
              <a:t> through actuators</a:t>
            </a:r>
          </a:p>
          <a:p>
            <a:pPr lvl="1" defTabSz="914400" eaLnBrk="0" fontAlgn="base" hangingPunct="0">
              <a:lnSpc>
                <a:spcPct val="100000"/>
              </a:lnSpc>
              <a:spcBef>
                <a:spcPct val="0"/>
              </a:spcBef>
              <a:spcAft>
                <a:spcPct val="0"/>
              </a:spcAft>
            </a:pPr>
            <a:r>
              <a:rPr kumimoji="0" lang="en-US" altLang="en-US" sz="3200" b="0" i="0" u="none" strike="noStrike" cap="none" normalizeH="0" baseline="0" dirty="0">
                <a:ln>
                  <a:noFill/>
                </a:ln>
                <a:solidFill>
                  <a:schemeClr val="tx1"/>
                </a:solidFill>
                <a:effectLst/>
                <a:latin typeface="Aptos" panose="020B0004020202020204" pitchFamily="34" charset="0"/>
              </a:rPr>
              <a:t>Tries to achieve its goals</a:t>
            </a:r>
          </a:p>
        </p:txBody>
      </p:sp>
    </p:spTree>
    <p:extLst>
      <p:ext uri="{BB962C8B-B14F-4D97-AF65-F5344CB8AC3E}">
        <p14:creationId xmlns:p14="http://schemas.microsoft.com/office/powerpoint/2010/main" val="720256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FA8FF-8321-8F04-65D1-2C32C08C4252}"/>
              </a:ext>
            </a:extLst>
          </p:cNvPr>
          <p:cNvSpPr>
            <a:spLocks noGrp="1"/>
          </p:cNvSpPr>
          <p:nvPr>
            <p:ph type="title"/>
          </p:nvPr>
        </p:nvSpPr>
        <p:spPr/>
        <p:txBody>
          <a:bodyPr>
            <a:normAutofit/>
          </a:bodyPr>
          <a:lstStyle/>
          <a:p>
            <a:r>
              <a:rPr lang="en-US" cap="none" dirty="0">
                <a:latin typeface="Aptos" panose="020B0004020202020204" pitchFamily="34" charset="0"/>
              </a:rPr>
              <a:t>Environment in AI</a:t>
            </a:r>
          </a:p>
        </p:txBody>
      </p:sp>
      <p:sp>
        <p:nvSpPr>
          <p:cNvPr id="4" name="Rectangle 1">
            <a:extLst>
              <a:ext uri="{FF2B5EF4-FFF2-40B4-BE49-F238E27FC236}">
                <a16:creationId xmlns:a16="http://schemas.microsoft.com/office/drawing/2014/main" id="{967A3866-2D4A-637F-E645-4D25112B1BA7}"/>
              </a:ext>
            </a:extLst>
          </p:cNvPr>
          <p:cNvSpPr>
            <a:spLocks noGrp="1" noChangeArrowheads="1"/>
          </p:cNvSpPr>
          <p:nvPr>
            <p:ph sz="quarter" idx="13"/>
          </p:nvPr>
        </p:nvSpPr>
        <p:spPr bwMode="auto">
          <a:xfrm>
            <a:off x="257783" y="2101993"/>
            <a:ext cx="11160868" cy="4226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800" b="1" dirty="0">
                <a:highlight>
                  <a:srgbClr val="FFFF00"/>
                </a:highlight>
                <a:latin typeface="Aptos" panose="020B0004020202020204" pitchFamily="34" charset="0"/>
              </a:rPr>
              <a:t>1.  Self-Driving Car</a:t>
            </a:r>
          </a:p>
          <a:p>
            <a:pPr lvl="1"/>
            <a:r>
              <a:rPr lang="en-US" sz="2800" b="1" dirty="0">
                <a:latin typeface="Aptos" panose="020B0004020202020204" pitchFamily="34" charset="0"/>
              </a:rPr>
              <a:t>Agent:</a:t>
            </a:r>
            <a:r>
              <a:rPr lang="en-US" sz="2800" dirty="0">
                <a:latin typeface="Aptos" panose="020B0004020202020204" pitchFamily="34" charset="0"/>
              </a:rPr>
              <a:t> Autonomous car system</a:t>
            </a:r>
          </a:p>
          <a:p>
            <a:pPr lvl="1"/>
            <a:r>
              <a:rPr lang="en-US" sz="2800" b="1" dirty="0">
                <a:latin typeface="Aptos" panose="020B0004020202020204" pitchFamily="34" charset="0"/>
              </a:rPr>
              <a:t>Environment:</a:t>
            </a:r>
            <a:r>
              <a:rPr lang="en-US" sz="2800" dirty="0">
                <a:latin typeface="Aptos" panose="020B0004020202020204" pitchFamily="34" charset="0"/>
              </a:rPr>
              <a:t> Roads, traffic lights, pedestrians, weather</a:t>
            </a:r>
          </a:p>
          <a:p>
            <a:pPr marL="0" indent="0">
              <a:buNone/>
            </a:pPr>
            <a:r>
              <a:rPr lang="en-US" sz="2800" b="1" dirty="0">
                <a:highlight>
                  <a:srgbClr val="FFFF00"/>
                </a:highlight>
                <a:latin typeface="Aptos" panose="020B0004020202020204" pitchFamily="34" charset="0"/>
              </a:rPr>
              <a:t>2.  Chess Program</a:t>
            </a:r>
          </a:p>
          <a:p>
            <a:pPr lvl="1"/>
            <a:r>
              <a:rPr lang="en-US" sz="2800" b="1" dirty="0">
                <a:latin typeface="Aptos" panose="020B0004020202020204" pitchFamily="34" charset="0"/>
              </a:rPr>
              <a:t>Agent:</a:t>
            </a:r>
            <a:r>
              <a:rPr lang="en-US" sz="2800" dirty="0">
                <a:latin typeface="Aptos" panose="020B0004020202020204" pitchFamily="34" charset="0"/>
              </a:rPr>
              <a:t> Chess AI</a:t>
            </a:r>
          </a:p>
          <a:p>
            <a:pPr lvl="1"/>
            <a:r>
              <a:rPr lang="en-US" sz="2800" b="1" dirty="0">
                <a:latin typeface="Aptos" panose="020B0004020202020204" pitchFamily="34" charset="0"/>
              </a:rPr>
              <a:t>Environment:</a:t>
            </a:r>
            <a:r>
              <a:rPr lang="en-US" sz="2800" dirty="0">
                <a:latin typeface="Aptos" panose="020B0004020202020204" pitchFamily="34" charset="0"/>
              </a:rPr>
              <a:t> Chessboard and opponent</a:t>
            </a:r>
          </a:p>
          <a:p>
            <a:pPr marL="0" indent="0">
              <a:buNone/>
            </a:pPr>
            <a:r>
              <a:rPr lang="en-US" sz="2800" b="1" dirty="0">
                <a:highlight>
                  <a:srgbClr val="FFFF00"/>
                </a:highlight>
                <a:latin typeface="Aptos" panose="020B0004020202020204" pitchFamily="34" charset="0"/>
              </a:rPr>
              <a:t>3.  Robot Vacuum Cleaner</a:t>
            </a:r>
          </a:p>
          <a:p>
            <a:pPr lvl="1"/>
            <a:r>
              <a:rPr lang="en-US" sz="2800" b="1" dirty="0">
                <a:latin typeface="Aptos" panose="020B0004020202020204" pitchFamily="34" charset="0"/>
              </a:rPr>
              <a:t>Agent:</a:t>
            </a:r>
            <a:r>
              <a:rPr lang="en-US" sz="2800" dirty="0">
                <a:latin typeface="Aptos" panose="020B0004020202020204" pitchFamily="34" charset="0"/>
              </a:rPr>
              <a:t> Vacuum robot</a:t>
            </a:r>
          </a:p>
          <a:p>
            <a:pPr lvl="1"/>
            <a:r>
              <a:rPr lang="en-US" sz="2800" b="1" dirty="0">
                <a:latin typeface="Aptos" panose="020B0004020202020204" pitchFamily="34" charset="0"/>
              </a:rPr>
              <a:t>Environment:</a:t>
            </a:r>
            <a:r>
              <a:rPr lang="en-US" sz="2800" dirty="0">
                <a:latin typeface="Aptos" panose="020B0004020202020204" pitchFamily="34" charset="0"/>
              </a:rPr>
              <a:t> Room layout, furniture, dust</a:t>
            </a:r>
          </a:p>
        </p:txBody>
      </p:sp>
    </p:spTree>
    <p:extLst>
      <p:ext uri="{BB962C8B-B14F-4D97-AF65-F5344CB8AC3E}">
        <p14:creationId xmlns:p14="http://schemas.microsoft.com/office/powerpoint/2010/main" val="2652528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898646" y="1930942"/>
            <a:ext cx="10394707" cy="4615772"/>
          </a:xfrm>
        </p:spPr>
        <p:txBody>
          <a:bodyPr>
            <a:noAutofit/>
          </a:bodyPr>
          <a:lstStyle/>
          <a:p>
            <a:pPr marL="457200" indent="-457200">
              <a:buAutoNum type="arabicPeriod"/>
            </a:pPr>
            <a:r>
              <a:rPr lang="en-US" sz="2400" b="1" dirty="0">
                <a:solidFill>
                  <a:schemeClr val="tx1">
                    <a:lumMod val="95000"/>
                    <a:lumOff val="5000"/>
                  </a:schemeClr>
                </a:solidFill>
                <a:highlight>
                  <a:srgbClr val="FFFF00"/>
                </a:highlight>
                <a:latin typeface="Aptos" panose="020B0004020202020204" pitchFamily="34" charset="0"/>
              </a:rPr>
              <a:t>Fully Observable vs Partially Observable</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When an agent sensor is capable to sense or access the complete state of an agent at each point in time, it is said to be a fully observable environment else it is partially observable.</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Maintaining a fully observable environment is easy as there is no need to keep track of the history of the surrounding.</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environment is called </a:t>
            </a:r>
            <a:r>
              <a:rPr lang="en-US" sz="2400" b="1" i="0" dirty="0">
                <a:solidFill>
                  <a:schemeClr val="tx1">
                    <a:lumMod val="95000"/>
                    <a:lumOff val="5000"/>
                  </a:schemeClr>
                </a:solidFill>
                <a:effectLst/>
                <a:latin typeface="Aptos" panose="020B0004020202020204" pitchFamily="34" charset="0"/>
              </a:rPr>
              <a:t>unobservable </a:t>
            </a:r>
            <a:r>
              <a:rPr lang="en-US" sz="2400" b="0" i="0" dirty="0">
                <a:solidFill>
                  <a:schemeClr val="tx1">
                    <a:lumMod val="95000"/>
                    <a:lumOff val="5000"/>
                  </a:schemeClr>
                </a:solidFill>
                <a:effectLst/>
                <a:latin typeface="Aptos" panose="020B0004020202020204" pitchFamily="34" charset="0"/>
              </a:rPr>
              <a:t>when the agent has no sensors in all environments.</a:t>
            </a:r>
            <a:endParaRPr lang="en-US" sz="2400" b="1" dirty="0">
              <a:solidFill>
                <a:schemeClr val="tx1">
                  <a:lumMod val="95000"/>
                  <a:lumOff val="5000"/>
                </a:schemeClr>
              </a:solidFill>
              <a:latin typeface="Aptos" panose="020B0004020202020204" pitchFamily="34" charset="0"/>
            </a:endParaRP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Fully Observable:</a:t>
            </a:r>
            <a:r>
              <a:rPr lang="en-US" sz="2400" dirty="0">
                <a:solidFill>
                  <a:schemeClr val="tx1">
                    <a:lumMod val="95000"/>
                    <a:lumOff val="5000"/>
                  </a:schemeClr>
                </a:solidFill>
                <a:latin typeface="Aptos" panose="020B0004020202020204" pitchFamily="34" charset="0"/>
              </a:rPr>
              <a:t> Agent can see complete environment</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(Chess game)</a:t>
            </a: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Partially Observable:</a:t>
            </a:r>
            <a:r>
              <a:rPr lang="en-US" sz="2400" dirty="0">
                <a:solidFill>
                  <a:schemeClr val="tx1">
                    <a:lumMod val="95000"/>
                    <a:lumOff val="5000"/>
                  </a:schemeClr>
                </a:solidFill>
                <a:latin typeface="Aptos" panose="020B0004020202020204" pitchFamily="34" charset="0"/>
              </a:rPr>
              <a:t> Agent cannot see everything</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(Driving in fog)</a:t>
            </a:r>
          </a:p>
        </p:txBody>
      </p:sp>
    </p:spTree>
    <p:extLst>
      <p:ext uri="{BB962C8B-B14F-4D97-AF65-F5344CB8AC3E}">
        <p14:creationId xmlns:p14="http://schemas.microsoft.com/office/powerpoint/2010/main" val="3592204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898646" y="1930942"/>
            <a:ext cx="10394707" cy="4162685"/>
          </a:xfrm>
        </p:spPr>
        <p:txBody>
          <a:bodyPr>
            <a:noAutofit/>
          </a:bodyPr>
          <a:lstStyle/>
          <a:p>
            <a:pPr marL="0" indent="0">
              <a:buNone/>
            </a:pPr>
            <a:r>
              <a:rPr lang="en-US" sz="2400" b="1" dirty="0">
                <a:solidFill>
                  <a:schemeClr val="tx1">
                    <a:lumMod val="95000"/>
                    <a:lumOff val="5000"/>
                  </a:schemeClr>
                </a:solidFill>
                <a:highlight>
                  <a:srgbClr val="FFFF00"/>
                </a:highlight>
                <a:latin typeface="Aptos" panose="020B0004020202020204" pitchFamily="34" charset="0"/>
              </a:rPr>
              <a:t>2. Deterministic vs Stochastic</a:t>
            </a:r>
          </a:p>
          <a:p>
            <a:r>
              <a:rPr lang="en-US" sz="2400" b="0" i="0" dirty="0">
                <a:solidFill>
                  <a:schemeClr val="tx1">
                    <a:lumMod val="95000"/>
                    <a:lumOff val="5000"/>
                  </a:schemeClr>
                </a:solidFill>
                <a:effectLst/>
                <a:latin typeface="Aptos" panose="020B0004020202020204" pitchFamily="34" charset="0"/>
              </a:rPr>
              <a:t>When a uniqueness in the agent's current state completely determines the next state of the agent, the environment is said to be deterministic.</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The stochastic environment is random in nature which is not unique and cannot be completely determined by the agent.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lumMod val="95000"/>
                    <a:lumOff val="5000"/>
                  </a:schemeClr>
                </a:solidFill>
                <a:effectLst/>
                <a:latin typeface="Aptos" panose="020B0004020202020204" pitchFamily="34" charset="0"/>
              </a:rPr>
              <a:t>Deterministic:</a:t>
            </a:r>
            <a:r>
              <a:rPr kumimoji="0" lang="en-US" altLang="en-US" sz="2400" b="0" i="0" u="none" strike="noStrike" cap="none" normalizeH="0" baseline="0" dirty="0">
                <a:ln>
                  <a:noFill/>
                </a:ln>
                <a:solidFill>
                  <a:schemeClr val="tx1">
                    <a:lumMod val="95000"/>
                    <a:lumOff val="5000"/>
                  </a:schemeClr>
                </a:solidFill>
                <a:effectLst/>
                <a:latin typeface="Aptos" panose="020B0004020202020204" pitchFamily="34" charset="0"/>
              </a:rPr>
              <a:t> Next state fully determined by current state</a:t>
            </a:r>
            <a:br>
              <a:rPr kumimoji="0" lang="en-US" altLang="en-US" sz="2400" b="0" i="0" u="none" strike="noStrike" cap="none" normalizeH="0" baseline="0" dirty="0">
                <a:ln>
                  <a:noFill/>
                </a:ln>
                <a:solidFill>
                  <a:schemeClr val="tx1">
                    <a:lumMod val="95000"/>
                    <a:lumOff val="5000"/>
                  </a:schemeClr>
                </a:solidFill>
                <a:effectLst/>
                <a:latin typeface="Aptos" panose="020B0004020202020204" pitchFamily="34" charset="0"/>
              </a:rPr>
            </a:br>
            <a:r>
              <a:rPr kumimoji="0" lang="en-US" altLang="en-US" sz="2400" b="0" i="0" u="none" strike="noStrike" cap="none" normalizeH="0" baseline="0" dirty="0">
                <a:ln>
                  <a:noFill/>
                </a:ln>
                <a:solidFill>
                  <a:schemeClr val="tx1">
                    <a:lumMod val="95000"/>
                    <a:lumOff val="5000"/>
                  </a:schemeClr>
                </a:solidFill>
                <a:effectLst/>
                <a:latin typeface="Aptos" panose="020B0004020202020204" pitchFamily="34" charset="0"/>
              </a:rPr>
              <a:t>(Chess)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lumMod val="95000"/>
                    <a:lumOff val="5000"/>
                  </a:schemeClr>
                </a:solidFill>
                <a:effectLst/>
                <a:latin typeface="Aptos" panose="020B0004020202020204" pitchFamily="34" charset="0"/>
              </a:rPr>
              <a:t>Stochastic:</a:t>
            </a:r>
            <a:r>
              <a:rPr kumimoji="0" lang="en-US" altLang="en-US" sz="2400" b="0" i="0" u="none" strike="noStrike" cap="none" normalizeH="0" baseline="0" dirty="0">
                <a:ln>
                  <a:noFill/>
                </a:ln>
                <a:solidFill>
                  <a:schemeClr val="tx1">
                    <a:lumMod val="95000"/>
                    <a:lumOff val="5000"/>
                  </a:schemeClr>
                </a:solidFill>
                <a:effectLst/>
                <a:latin typeface="Aptos" panose="020B0004020202020204" pitchFamily="34" charset="0"/>
              </a:rPr>
              <a:t> Outcome involves uncertainty</a:t>
            </a:r>
            <a:br>
              <a:rPr kumimoji="0" lang="en-US" altLang="en-US" sz="2400" b="0" i="0" u="none" strike="noStrike" cap="none" normalizeH="0" baseline="0" dirty="0">
                <a:ln>
                  <a:noFill/>
                </a:ln>
                <a:solidFill>
                  <a:schemeClr val="tx1">
                    <a:lumMod val="95000"/>
                    <a:lumOff val="5000"/>
                  </a:schemeClr>
                </a:solidFill>
                <a:effectLst/>
                <a:latin typeface="Aptos" panose="020B0004020202020204" pitchFamily="34" charset="0"/>
              </a:rPr>
            </a:br>
            <a:r>
              <a:rPr kumimoji="0" lang="en-US" altLang="en-US" sz="2400" b="0" i="0" u="none" strike="noStrike" cap="none" normalizeH="0" baseline="0" dirty="0">
                <a:ln>
                  <a:noFill/>
                </a:ln>
                <a:solidFill>
                  <a:schemeClr val="tx1">
                    <a:lumMod val="95000"/>
                    <a:lumOff val="5000"/>
                  </a:schemeClr>
                </a:solidFill>
                <a:effectLst/>
                <a:latin typeface="Aptos" panose="020B0004020202020204" pitchFamily="34" charset="0"/>
              </a:rPr>
              <a:t>(Weather system)</a:t>
            </a:r>
          </a:p>
        </p:txBody>
      </p:sp>
    </p:spTree>
    <p:extLst>
      <p:ext uri="{BB962C8B-B14F-4D97-AF65-F5344CB8AC3E}">
        <p14:creationId xmlns:p14="http://schemas.microsoft.com/office/powerpoint/2010/main" val="646930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898646" y="1930942"/>
            <a:ext cx="10394707" cy="4674139"/>
          </a:xfrm>
        </p:spPr>
        <p:txBody>
          <a:bodyPr>
            <a:noAutofit/>
          </a:bodyPr>
          <a:lstStyle/>
          <a:p>
            <a:pPr marL="0" indent="0">
              <a:buNone/>
            </a:pPr>
            <a:r>
              <a:rPr lang="en-US" sz="2400" b="1" dirty="0">
                <a:solidFill>
                  <a:schemeClr val="tx1">
                    <a:lumMod val="95000"/>
                    <a:lumOff val="5000"/>
                  </a:schemeClr>
                </a:solidFill>
                <a:highlight>
                  <a:srgbClr val="FFFF00"/>
                </a:highlight>
                <a:latin typeface="Aptos" panose="020B0004020202020204" pitchFamily="34" charset="0"/>
              </a:rPr>
              <a:t>3. Episodic vs Sequential</a:t>
            </a:r>
          </a:p>
          <a:p>
            <a:pPr marL="0" indent="0">
              <a:buNone/>
            </a:pPr>
            <a:r>
              <a:rPr lang="en-US" sz="2400" b="0" i="0" dirty="0">
                <a:solidFill>
                  <a:schemeClr val="tx1">
                    <a:lumMod val="95000"/>
                    <a:lumOff val="5000"/>
                  </a:schemeClr>
                </a:solidFill>
                <a:effectLst/>
                <a:latin typeface="Aptos" panose="020B0004020202020204" pitchFamily="34" charset="0"/>
              </a:rPr>
              <a:t>In</a:t>
            </a:r>
            <a:r>
              <a:rPr lang="en-US" sz="2400" b="1" i="0" dirty="0">
                <a:solidFill>
                  <a:schemeClr val="tx1">
                    <a:lumMod val="95000"/>
                    <a:lumOff val="5000"/>
                  </a:schemeClr>
                </a:solidFill>
                <a:effectLst/>
                <a:latin typeface="Aptos" panose="020B0004020202020204" pitchFamily="34" charset="0"/>
              </a:rPr>
              <a:t> an Episodic task environment</a:t>
            </a:r>
            <a:r>
              <a:rPr lang="en-US" sz="2400" b="0" i="0" dirty="0">
                <a:solidFill>
                  <a:schemeClr val="tx1">
                    <a:lumMod val="95000"/>
                    <a:lumOff val="5000"/>
                  </a:schemeClr>
                </a:solidFill>
                <a:effectLst/>
                <a:latin typeface="Aptos" panose="020B0004020202020204" pitchFamily="34" charset="0"/>
              </a:rPr>
              <a:t>, each of the agent's actions is divided into atomic incidents or episodes. There is no dependency between current and previous incidents. In each incident, an agent receives input from the environment and then performs the corresponding action.</a:t>
            </a:r>
          </a:p>
          <a:p>
            <a:pPr marL="0" indent="0">
              <a:buNone/>
            </a:pPr>
            <a:r>
              <a:rPr lang="en-US" sz="2400" b="0" i="0" dirty="0">
                <a:solidFill>
                  <a:schemeClr val="tx1">
                    <a:lumMod val="95000"/>
                    <a:lumOff val="5000"/>
                  </a:schemeClr>
                </a:solidFill>
                <a:effectLst/>
                <a:latin typeface="Aptos" panose="020B0004020202020204" pitchFamily="34" charset="0"/>
              </a:rPr>
              <a:t>In a </a:t>
            </a:r>
            <a:r>
              <a:rPr lang="en-US" sz="2400" b="1" i="0" dirty="0">
                <a:solidFill>
                  <a:schemeClr val="tx1">
                    <a:lumMod val="95000"/>
                    <a:lumOff val="5000"/>
                  </a:schemeClr>
                </a:solidFill>
                <a:effectLst/>
                <a:latin typeface="Aptos" panose="020B0004020202020204" pitchFamily="34" charset="0"/>
              </a:rPr>
              <a:t>Sequential environment</a:t>
            </a:r>
            <a:r>
              <a:rPr lang="en-US" sz="2400" b="0" i="0" dirty="0">
                <a:solidFill>
                  <a:schemeClr val="tx1">
                    <a:lumMod val="95000"/>
                    <a:lumOff val="5000"/>
                  </a:schemeClr>
                </a:solidFill>
                <a:effectLst/>
                <a:latin typeface="Aptos" panose="020B0004020202020204" pitchFamily="34" charset="0"/>
              </a:rPr>
              <a:t>, the previous decisions can affect all future decisions. The next action of the agent depends on what action he has taken previously and what action he is supposed to take in the future.</a:t>
            </a:r>
            <a:endParaRPr lang="en-US" sz="2400" b="1" dirty="0">
              <a:solidFill>
                <a:schemeClr val="tx1">
                  <a:lumMod val="95000"/>
                  <a:lumOff val="5000"/>
                </a:schemeClr>
              </a:solidFill>
              <a:latin typeface="Aptos" panose="020B0004020202020204" pitchFamily="34" charset="0"/>
            </a:endParaRP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Episodic:</a:t>
            </a:r>
            <a:r>
              <a:rPr lang="en-US" sz="2400" dirty="0">
                <a:solidFill>
                  <a:schemeClr val="tx1">
                    <a:lumMod val="95000"/>
                    <a:lumOff val="5000"/>
                  </a:schemeClr>
                </a:solidFill>
                <a:latin typeface="Aptos" panose="020B0004020202020204" pitchFamily="34" charset="0"/>
              </a:rPr>
              <a:t> Each action independent</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(Image classification)</a:t>
            </a: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Sequential:</a:t>
            </a:r>
            <a:r>
              <a:rPr lang="en-US" sz="2400" dirty="0">
                <a:solidFill>
                  <a:schemeClr val="tx1">
                    <a:lumMod val="95000"/>
                    <a:lumOff val="5000"/>
                  </a:schemeClr>
                </a:solidFill>
                <a:latin typeface="Aptos" panose="020B0004020202020204" pitchFamily="34" charset="0"/>
              </a:rPr>
              <a:t> Current action affects future states</a:t>
            </a:r>
            <a:br>
              <a:rPr lang="en-US" sz="2400" dirty="0">
                <a:solidFill>
                  <a:schemeClr val="tx1">
                    <a:lumMod val="95000"/>
                    <a:lumOff val="5000"/>
                  </a:schemeClr>
                </a:solidFill>
                <a:latin typeface="Aptos" panose="020B0004020202020204" pitchFamily="34" charset="0"/>
              </a:rPr>
            </a:br>
            <a:r>
              <a:rPr lang="en-US" sz="2400" dirty="0">
                <a:solidFill>
                  <a:schemeClr val="tx1">
                    <a:lumMod val="95000"/>
                    <a:lumOff val="5000"/>
                  </a:schemeClr>
                </a:solidFill>
                <a:latin typeface="Aptos" panose="020B0004020202020204" pitchFamily="34" charset="0"/>
              </a:rPr>
              <a:t>(Driving)</a:t>
            </a:r>
          </a:p>
        </p:txBody>
      </p:sp>
    </p:spTree>
    <p:extLst>
      <p:ext uri="{BB962C8B-B14F-4D97-AF65-F5344CB8AC3E}">
        <p14:creationId xmlns:p14="http://schemas.microsoft.com/office/powerpoint/2010/main" val="80612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781914" y="1969852"/>
            <a:ext cx="10939916" cy="4425332"/>
          </a:xfrm>
        </p:spPr>
        <p:txBody>
          <a:bodyPr>
            <a:noAutofit/>
          </a:bodyPr>
          <a:lstStyle/>
          <a:p>
            <a:pPr marL="0" indent="0">
              <a:buNone/>
            </a:pPr>
            <a:r>
              <a:rPr lang="en-US" sz="2400" b="1" dirty="0">
                <a:solidFill>
                  <a:schemeClr val="tx1">
                    <a:lumMod val="95000"/>
                    <a:lumOff val="5000"/>
                  </a:schemeClr>
                </a:solidFill>
                <a:highlight>
                  <a:srgbClr val="FFFF00"/>
                </a:highlight>
                <a:latin typeface="Aptos" panose="020B0004020202020204" pitchFamily="34" charset="0"/>
              </a:rPr>
              <a:t>4. Static vs Dynamic</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environment that keeps constantly changing itself when the agent is up with some action is said to be dynamic.</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 roller coaster ride is dynamic as it is set in motion and the environment keeps changing every instant.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idle environment with no change in its state is called a static environment.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empty house is static as there's no change in the surroundings when an agent enters.</a:t>
            </a:r>
            <a:endParaRPr lang="en-US" sz="2400" b="1" dirty="0">
              <a:solidFill>
                <a:schemeClr val="tx1">
                  <a:lumMod val="95000"/>
                  <a:lumOff val="5000"/>
                </a:schemeClr>
              </a:solidFill>
              <a:highlight>
                <a:srgbClr val="FFFF00"/>
              </a:highlight>
              <a:latin typeface="Aptos" panose="020B0004020202020204" pitchFamily="34" charset="0"/>
            </a:endParaRP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Static:</a:t>
            </a:r>
            <a:r>
              <a:rPr lang="en-US" sz="2400" dirty="0">
                <a:solidFill>
                  <a:schemeClr val="tx1">
                    <a:lumMod val="95000"/>
                    <a:lumOff val="5000"/>
                  </a:schemeClr>
                </a:solidFill>
                <a:latin typeface="Aptos" panose="020B0004020202020204" pitchFamily="34" charset="0"/>
              </a:rPr>
              <a:t> Environment does not change while agent thinks (Crossword puzzle)</a:t>
            </a: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Dynamic:</a:t>
            </a:r>
            <a:r>
              <a:rPr lang="en-US" sz="2400" dirty="0">
                <a:solidFill>
                  <a:schemeClr val="tx1">
                    <a:lumMod val="95000"/>
                    <a:lumOff val="5000"/>
                  </a:schemeClr>
                </a:solidFill>
                <a:latin typeface="Aptos" panose="020B0004020202020204" pitchFamily="34" charset="0"/>
              </a:rPr>
              <a:t> Environment changes over time (Traffic system)</a:t>
            </a:r>
          </a:p>
        </p:txBody>
      </p:sp>
    </p:spTree>
    <p:extLst>
      <p:ext uri="{BB962C8B-B14F-4D97-AF65-F5344CB8AC3E}">
        <p14:creationId xmlns:p14="http://schemas.microsoft.com/office/powerpoint/2010/main" val="3524008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781914" y="1969852"/>
            <a:ext cx="10939916" cy="4547680"/>
          </a:xfrm>
        </p:spPr>
        <p:txBody>
          <a:bodyPr>
            <a:noAutofit/>
          </a:bodyPr>
          <a:lstStyle/>
          <a:p>
            <a:pPr marL="0" indent="0">
              <a:buNone/>
            </a:pPr>
            <a:r>
              <a:rPr lang="en-US" sz="2400" b="1" dirty="0">
                <a:solidFill>
                  <a:schemeClr val="tx1">
                    <a:lumMod val="95000"/>
                    <a:lumOff val="5000"/>
                  </a:schemeClr>
                </a:solidFill>
                <a:highlight>
                  <a:srgbClr val="FFFF00"/>
                </a:highlight>
                <a:latin typeface="Aptos" panose="020B0004020202020204" pitchFamily="34" charset="0"/>
              </a:rPr>
              <a:t>5. Discrete vs Continuous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If an environment consists of a finite number of actions that can be deliberated in the environment to obtain the output, it is said to be a discrete environment.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The game of chess is discrete as it has only a finite number of moves. The number of moves might vary with every game, but still, it's finite.</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The environment in which the actions are performed cannot be numbered i.e. is not discrete, is said to be continuous.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Self-driving cars are an example of continuous environments as their actions are driving, parking, etc. which cannot be numbered.</a:t>
            </a:r>
            <a:endParaRPr lang="en-US" sz="2400" b="1" dirty="0">
              <a:solidFill>
                <a:schemeClr val="tx1">
                  <a:lumMod val="95000"/>
                  <a:lumOff val="5000"/>
                </a:schemeClr>
              </a:solidFill>
              <a:latin typeface="Aptos" panose="020B0004020202020204" pitchFamily="34" charset="0"/>
            </a:endParaRP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Discrete:</a:t>
            </a:r>
            <a:r>
              <a:rPr lang="en-US" sz="2400" dirty="0">
                <a:solidFill>
                  <a:schemeClr val="tx1">
                    <a:lumMod val="95000"/>
                    <a:lumOff val="5000"/>
                  </a:schemeClr>
                </a:solidFill>
                <a:latin typeface="Aptos" panose="020B0004020202020204" pitchFamily="34" charset="0"/>
              </a:rPr>
              <a:t> Finite states and actions(Chess)</a:t>
            </a:r>
          </a:p>
          <a:p>
            <a:pPr>
              <a:buFont typeface="Arial" panose="020B0604020202020204" pitchFamily="34" charset="0"/>
              <a:buChar char="•"/>
            </a:pPr>
            <a:r>
              <a:rPr lang="en-US" sz="2400" b="1" dirty="0">
                <a:solidFill>
                  <a:schemeClr val="tx1">
                    <a:lumMod val="95000"/>
                    <a:lumOff val="5000"/>
                  </a:schemeClr>
                </a:solidFill>
                <a:latin typeface="Aptos" panose="020B0004020202020204" pitchFamily="34" charset="0"/>
              </a:rPr>
              <a:t>Continuous:</a:t>
            </a:r>
            <a:r>
              <a:rPr lang="en-US" sz="2400" dirty="0">
                <a:solidFill>
                  <a:schemeClr val="tx1">
                    <a:lumMod val="95000"/>
                    <a:lumOff val="5000"/>
                  </a:schemeClr>
                </a:solidFill>
                <a:latin typeface="Aptos" panose="020B0004020202020204" pitchFamily="34" charset="0"/>
              </a:rPr>
              <a:t> Infinite states(Robot movement in real world)</a:t>
            </a:r>
          </a:p>
        </p:txBody>
      </p:sp>
    </p:spTree>
    <p:extLst>
      <p:ext uri="{BB962C8B-B14F-4D97-AF65-F5344CB8AC3E}">
        <p14:creationId xmlns:p14="http://schemas.microsoft.com/office/powerpoint/2010/main" val="1672739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781914" y="1969852"/>
            <a:ext cx="10939916" cy="4123775"/>
          </a:xfrm>
        </p:spPr>
        <p:txBody>
          <a:bodyPr>
            <a:noAutofit/>
          </a:bodyPr>
          <a:lstStyle/>
          <a:p>
            <a:pPr marL="0" indent="0" algn="l" rtl="0" fontAlgn="base">
              <a:buNone/>
            </a:pPr>
            <a:r>
              <a:rPr lang="en-US" sz="2400" b="1" dirty="0">
                <a:solidFill>
                  <a:schemeClr val="tx1">
                    <a:lumMod val="95000"/>
                    <a:lumOff val="5000"/>
                  </a:schemeClr>
                </a:solidFill>
                <a:highlight>
                  <a:srgbClr val="FFFF00"/>
                </a:highlight>
                <a:latin typeface="Aptos" panose="020B0004020202020204" pitchFamily="34" charset="0"/>
              </a:rPr>
              <a:t>6</a:t>
            </a:r>
            <a:r>
              <a:rPr lang="en-US" sz="2400" b="1" i="0" dirty="0">
                <a:solidFill>
                  <a:schemeClr val="tx1">
                    <a:lumMod val="95000"/>
                    <a:lumOff val="5000"/>
                  </a:schemeClr>
                </a:solidFill>
                <a:effectLst/>
                <a:highlight>
                  <a:srgbClr val="FFFF00"/>
                </a:highlight>
                <a:latin typeface="Aptos" panose="020B0004020202020204" pitchFamily="34" charset="0"/>
              </a:rPr>
              <a:t>. Competitive vs Collaborative</a:t>
            </a:r>
            <a:r>
              <a:rPr lang="en-US" sz="2400" b="0" i="0" dirty="0">
                <a:solidFill>
                  <a:schemeClr val="tx1">
                    <a:lumMod val="95000"/>
                    <a:lumOff val="5000"/>
                  </a:schemeClr>
                </a:solidFill>
                <a:effectLst/>
                <a:highlight>
                  <a:srgbClr val="FFFF00"/>
                </a:highlight>
                <a:latin typeface="Aptos" panose="020B0004020202020204" pitchFamily="34" charset="0"/>
              </a:rPr>
              <a:t> </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agent is said to be in a competitive environment when it competes against another agent to optimize the output.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The game of chess is competitive as the agents compete with each other to win the game which is the output.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agent is said to be in a collaborative environment when multiple agents cooperate to produce the desired output.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When multiple self-driving cars are found on the roads, they cooperate with each other to avoid collisions and reach their destination which is the output desired.</a:t>
            </a:r>
          </a:p>
        </p:txBody>
      </p:sp>
    </p:spTree>
    <p:extLst>
      <p:ext uri="{BB962C8B-B14F-4D97-AF65-F5344CB8AC3E}">
        <p14:creationId xmlns:p14="http://schemas.microsoft.com/office/powerpoint/2010/main" val="462562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6F67C-E172-F556-8F84-38FCCC654B41}"/>
              </a:ext>
            </a:extLst>
          </p:cNvPr>
          <p:cNvSpPr>
            <a:spLocks noGrp="1"/>
          </p:cNvSpPr>
          <p:nvPr>
            <p:ph type="title"/>
          </p:nvPr>
        </p:nvSpPr>
        <p:spPr/>
        <p:txBody>
          <a:bodyPr/>
          <a:lstStyle/>
          <a:p>
            <a:r>
              <a:rPr lang="en-US" cap="none" dirty="0">
                <a:latin typeface="Aptos" panose="020B0004020202020204" pitchFamily="34" charset="0"/>
              </a:rPr>
              <a:t>Types of environments</a:t>
            </a:r>
          </a:p>
        </p:txBody>
      </p:sp>
      <p:sp>
        <p:nvSpPr>
          <p:cNvPr id="3" name="Content Placeholder 2">
            <a:extLst>
              <a:ext uri="{FF2B5EF4-FFF2-40B4-BE49-F238E27FC236}">
                <a16:creationId xmlns:a16="http://schemas.microsoft.com/office/drawing/2014/main" id="{723C1CE8-AB7E-66DB-8C5F-33067E06AECF}"/>
              </a:ext>
            </a:extLst>
          </p:cNvPr>
          <p:cNvSpPr>
            <a:spLocks noGrp="1"/>
          </p:cNvSpPr>
          <p:nvPr>
            <p:ph sz="quarter" idx="13"/>
          </p:nvPr>
        </p:nvSpPr>
        <p:spPr>
          <a:xfrm>
            <a:off x="781914" y="1969852"/>
            <a:ext cx="10939916" cy="4123775"/>
          </a:xfrm>
        </p:spPr>
        <p:txBody>
          <a:bodyPr>
            <a:noAutofit/>
          </a:bodyPr>
          <a:lstStyle/>
          <a:p>
            <a:pPr marL="0" indent="0" algn="l" rtl="0" fontAlgn="base">
              <a:buNone/>
            </a:pPr>
            <a:r>
              <a:rPr lang="en-US" sz="2400" b="1" i="0" dirty="0">
                <a:solidFill>
                  <a:schemeClr val="tx1">
                    <a:lumMod val="95000"/>
                    <a:lumOff val="5000"/>
                  </a:schemeClr>
                </a:solidFill>
                <a:effectLst/>
                <a:highlight>
                  <a:srgbClr val="FFFF00"/>
                </a:highlight>
                <a:latin typeface="Aptos" panose="020B0004020202020204" pitchFamily="34" charset="0"/>
              </a:rPr>
              <a:t>7. Single-agent vs Multi-agent</a:t>
            </a:r>
            <a:r>
              <a:rPr lang="en-US" sz="2400" b="0" i="0" dirty="0">
                <a:solidFill>
                  <a:schemeClr val="tx1">
                    <a:lumMod val="95000"/>
                    <a:lumOff val="5000"/>
                  </a:schemeClr>
                </a:solidFill>
                <a:effectLst/>
                <a:highlight>
                  <a:srgbClr val="FFFF00"/>
                </a:highlight>
                <a:latin typeface="Aptos" panose="020B0004020202020204" pitchFamily="34" charset="0"/>
              </a:rPr>
              <a:t> </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environment consisting of only one agent is said to be a single-agent environment.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 person left alone in a maze is an example of the single-agent system.</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An environment involving more than one agent is a multi-agent environment.</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The game of football is multi-agent as it involves 11 players in each team.</a:t>
            </a:r>
          </a:p>
        </p:txBody>
      </p:sp>
    </p:spTree>
    <p:extLst>
      <p:ext uri="{BB962C8B-B14F-4D97-AF65-F5344CB8AC3E}">
        <p14:creationId xmlns:p14="http://schemas.microsoft.com/office/powerpoint/2010/main" val="934314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PEAS Description of an Agent</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722172"/>
            <a:ext cx="10304227" cy="4668901"/>
          </a:xfrm>
        </p:spPr>
        <p:txBody>
          <a:bodyPr>
            <a:normAutofit lnSpcReduction="10000"/>
          </a:bodyPr>
          <a:lstStyle/>
          <a:p>
            <a:pPr marL="0" indent="0" algn="l" fontAlgn="base">
              <a:buNone/>
            </a:pPr>
            <a:r>
              <a:rPr lang="en-US" sz="2400" i="0" dirty="0">
                <a:solidFill>
                  <a:schemeClr val="tx1">
                    <a:lumMod val="95000"/>
                    <a:lumOff val="5000"/>
                  </a:schemeClr>
                </a:solidFill>
                <a:effectLst/>
                <a:latin typeface="Aptos" panose="020B0004020202020204" pitchFamily="34" charset="0"/>
              </a:rPr>
              <a:t>In Artificial Intelligence (AI), various types of agents operate to achieve specific goals. The PEAS system is a critical framework used to categorize these agents based on their performance, environment, actuators, and sensors. </a:t>
            </a:r>
          </a:p>
          <a:p>
            <a:pPr marL="0" indent="0" algn="l" fontAlgn="base">
              <a:buNone/>
            </a:pPr>
            <a:r>
              <a:rPr lang="en-US" sz="2400" i="0" dirty="0">
                <a:solidFill>
                  <a:schemeClr val="tx1">
                    <a:lumMod val="95000"/>
                    <a:lumOff val="5000"/>
                  </a:schemeClr>
                </a:solidFill>
                <a:effectLst/>
                <a:latin typeface="Aptos" panose="020B0004020202020204" pitchFamily="34" charset="0"/>
              </a:rPr>
              <a:t>Understanding the PEAS system is essential for grasping how different AI agents function effectively in diverse environments. Among these agents, Rational Agents are considered the most efficient, consistently choosing the optimal path for maximum efficiency.</a:t>
            </a:r>
          </a:p>
          <a:p>
            <a:pPr algn="l" fontAlgn="base">
              <a:buFont typeface="+mj-lt"/>
              <a:buAutoNum type="arabicPeriod"/>
            </a:pPr>
            <a:r>
              <a:rPr lang="en-US" b="1" i="0" dirty="0">
                <a:solidFill>
                  <a:schemeClr val="tx1">
                    <a:lumMod val="95000"/>
                    <a:lumOff val="5000"/>
                  </a:schemeClr>
                </a:solidFill>
                <a:effectLst/>
                <a:latin typeface="Aptos" panose="020B0004020202020204" pitchFamily="34" charset="0"/>
              </a:rPr>
              <a:t>Performance Measure</a:t>
            </a:r>
            <a:r>
              <a:rPr lang="en-US" b="0" i="0" dirty="0">
                <a:solidFill>
                  <a:schemeClr val="tx1">
                    <a:lumMod val="95000"/>
                    <a:lumOff val="5000"/>
                  </a:schemeClr>
                </a:solidFill>
                <a:effectLst/>
                <a:latin typeface="Aptos" panose="020B0004020202020204" pitchFamily="34" charset="0"/>
              </a:rPr>
              <a:t>: The criteria that define the success of the agent's actions.</a:t>
            </a:r>
          </a:p>
          <a:p>
            <a:pPr algn="l" fontAlgn="base">
              <a:buFont typeface="+mj-lt"/>
              <a:buAutoNum type="arabicPeriod" startAt="2"/>
            </a:pPr>
            <a:r>
              <a:rPr lang="en-US" b="1" i="0" dirty="0">
                <a:solidFill>
                  <a:schemeClr val="tx1">
                    <a:lumMod val="95000"/>
                    <a:lumOff val="5000"/>
                  </a:schemeClr>
                </a:solidFill>
                <a:effectLst/>
                <a:latin typeface="Aptos" panose="020B0004020202020204" pitchFamily="34" charset="0"/>
              </a:rPr>
              <a:t>Environment</a:t>
            </a:r>
            <a:r>
              <a:rPr lang="en-US" b="0" i="0" dirty="0">
                <a:solidFill>
                  <a:schemeClr val="tx1">
                    <a:lumMod val="95000"/>
                    <a:lumOff val="5000"/>
                  </a:schemeClr>
                </a:solidFill>
                <a:effectLst/>
                <a:latin typeface="Aptos" panose="020B0004020202020204" pitchFamily="34" charset="0"/>
              </a:rPr>
              <a:t>: The surroundings or the context in which the agent operates.</a:t>
            </a:r>
          </a:p>
          <a:p>
            <a:pPr algn="l" fontAlgn="base">
              <a:buFont typeface="+mj-lt"/>
              <a:buAutoNum type="arabicPeriod" startAt="3"/>
            </a:pPr>
            <a:r>
              <a:rPr lang="en-US" b="1" i="0" dirty="0">
                <a:solidFill>
                  <a:schemeClr val="tx1">
                    <a:lumMod val="95000"/>
                    <a:lumOff val="5000"/>
                  </a:schemeClr>
                </a:solidFill>
                <a:effectLst/>
                <a:latin typeface="Aptos" panose="020B0004020202020204" pitchFamily="34" charset="0"/>
              </a:rPr>
              <a:t>Actuators</a:t>
            </a:r>
            <a:r>
              <a:rPr lang="en-US" b="0" i="0" dirty="0">
                <a:solidFill>
                  <a:schemeClr val="tx1">
                    <a:lumMod val="95000"/>
                    <a:lumOff val="5000"/>
                  </a:schemeClr>
                </a:solidFill>
                <a:effectLst/>
                <a:latin typeface="Aptos" panose="020B0004020202020204" pitchFamily="34" charset="0"/>
              </a:rPr>
              <a:t>: The mechanisms through which the agent interacts with the environment.</a:t>
            </a:r>
          </a:p>
          <a:p>
            <a:pPr algn="l" fontAlgn="base">
              <a:buFont typeface="+mj-lt"/>
              <a:buAutoNum type="arabicPeriod" startAt="4"/>
            </a:pPr>
            <a:r>
              <a:rPr lang="en-US" b="1" i="0" dirty="0">
                <a:solidFill>
                  <a:schemeClr val="tx1">
                    <a:lumMod val="95000"/>
                    <a:lumOff val="5000"/>
                  </a:schemeClr>
                </a:solidFill>
                <a:effectLst/>
                <a:latin typeface="Aptos" panose="020B0004020202020204" pitchFamily="34" charset="0"/>
              </a:rPr>
              <a:t>Sensors</a:t>
            </a:r>
            <a:r>
              <a:rPr lang="en-US" b="0" i="0" dirty="0">
                <a:solidFill>
                  <a:schemeClr val="tx1">
                    <a:lumMod val="95000"/>
                    <a:lumOff val="5000"/>
                  </a:schemeClr>
                </a:solidFill>
                <a:effectLst/>
                <a:latin typeface="Aptos" panose="020B0004020202020204" pitchFamily="34" charset="0"/>
              </a:rPr>
              <a:t>: The tools the agent uses to perceive its environment.</a:t>
            </a:r>
          </a:p>
        </p:txBody>
      </p:sp>
    </p:spTree>
    <p:extLst>
      <p:ext uri="{BB962C8B-B14F-4D97-AF65-F5344CB8AC3E}">
        <p14:creationId xmlns:p14="http://schemas.microsoft.com/office/powerpoint/2010/main" val="1745539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856107"/>
            <a:ext cx="10675497" cy="4668901"/>
          </a:xfrm>
        </p:spPr>
        <p:txBody>
          <a:bodyPr>
            <a:normAutofit lnSpcReduction="10000"/>
          </a:bodyPr>
          <a:lstStyle/>
          <a:p>
            <a:pPr marL="0" indent="0" fontAlgn="base">
              <a:buNone/>
            </a:pPr>
            <a:r>
              <a:rPr lang="en-US" sz="3200" b="1" i="0" dirty="0">
                <a:solidFill>
                  <a:schemeClr val="tx1">
                    <a:lumMod val="95000"/>
                    <a:lumOff val="5000"/>
                  </a:schemeClr>
                </a:solidFill>
                <a:effectLst/>
                <a:highlight>
                  <a:srgbClr val="FFFF00"/>
                </a:highlight>
                <a:latin typeface="Aptos Display" panose="020B0004020202020204" pitchFamily="34" charset="0"/>
              </a:rPr>
              <a:t>1. Simple Reflex Agents</a:t>
            </a:r>
            <a:endParaRPr lang="en-US" sz="4000" b="0" u="sng" dirty="0">
              <a:solidFill>
                <a:schemeClr val="tx1">
                  <a:lumMod val="95000"/>
                  <a:lumOff val="5000"/>
                </a:schemeClr>
              </a:solidFill>
              <a:effectLst/>
              <a:highlight>
                <a:srgbClr val="FFFF00"/>
              </a:highlight>
              <a:latin typeface="Aptos Display" panose="020B0004020202020204" pitchFamily="34" charset="0"/>
              <a:hlinkClick r:id="rId2">
                <a:extLst>
                  <a:ext uri="{A12FA001-AC4F-418D-AE19-62706E023703}">
                    <ahyp:hlinkClr xmlns:ahyp="http://schemas.microsoft.com/office/drawing/2018/hyperlinkcolor" val="tx"/>
                  </a:ext>
                </a:extLst>
              </a:hlinkClick>
            </a:endParaRPr>
          </a:p>
          <a:p>
            <a:pPr marL="0" indent="0" fontAlgn="base">
              <a:buNone/>
            </a:pPr>
            <a:r>
              <a:rPr lang="en-US" sz="2400" b="1" i="0" dirty="0">
                <a:solidFill>
                  <a:schemeClr val="tx1">
                    <a:lumMod val="95000"/>
                    <a:lumOff val="5000"/>
                  </a:schemeClr>
                </a:solidFill>
                <a:effectLst/>
                <a:latin typeface="Aptos Display" panose="020B0004020202020204" pitchFamily="34" charset="0"/>
              </a:rPr>
              <a:t>Simple Reflex Agents</a:t>
            </a:r>
            <a:r>
              <a:rPr lang="en-US" sz="2400" i="0" u="sng" dirty="0">
                <a:solidFill>
                  <a:schemeClr val="tx1">
                    <a:lumMod val="95000"/>
                    <a:lumOff val="5000"/>
                  </a:schemeClr>
                </a:solidFill>
                <a:latin typeface="Aptos Display" panose="020B0004020202020204" pitchFamily="34" charset="0"/>
              </a:rPr>
              <a:t> </a:t>
            </a:r>
            <a:r>
              <a:rPr lang="en-US" sz="2400" b="0" dirty="0">
                <a:solidFill>
                  <a:schemeClr val="tx1">
                    <a:lumMod val="95000"/>
                    <a:lumOff val="5000"/>
                  </a:schemeClr>
                </a:solidFill>
                <a:effectLst/>
                <a:latin typeface="Aptos Display" panose="020B0004020202020204" pitchFamily="34" charset="0"/>
              </a:rPr>
              <a:t>act based solely on current perceptions using </a:t>
            </a:r>
            <a:r>
              <a:rPr lang="en-US" sz="2400" b="0" dirty="0">
                <a:solidFill>
                  <a:schemeClr val="tx1">
                    <a:lumMod val="95000"/>
                    <a:lumOff val="5000"/>
                  </a:schemeClr>
                </a:solidFill>
                <a:effectLst/>
                <a:highlight>
                  <a:srgbClr val="FFFF00"/>
                </a:highlight>
                <a:latin typeface="Aptos Display" panose="020B0004020202020204" pitchFamily="34" charset="0"/>
              </a:rPr>
              <a:t>condition-action rules</a:t>
            </a:r>
            <a:r>
              <a:rPr lang="en-US" sz="2400" b="0" dirty="0">
                <a:solidFill>
                  <a:schemeClr val="tx1">
                    <a:lumMod val="95000"/>
                    <a:lumOff val="5000"/>
                  </a:schemeClr>
                </a:solidFill>
                <a:effectLst/>
                <a:latin typeface="Aptos Display" panose="020B0004020202020204" pitchFamily="34" charset="0"/>
              </a:rPr>
              <a:t>. These agents respond directly to stimuli </a:t>
            </a:r>
            <a:r>
              <a:rPr lang="en-US" sz="2400" b="0" dirty="0">
                <a:solidFill>
                  <a:schemeClr val="tx1">
                    <a:lumMod val="95000"/>
                    <a:lumOff val="5000"/>
                  </a:schemeClr>
                </a:solidFill>
                <a:effectLst/>
                <a:highlight>
                  <a:srgbClr val="FFFF00"/>
                </a:highlight>
                <a:latin typeface="Aptos Display" panose="020B0004020202020204" pitchFamily="34" charset="0"/>
              </a:rPr>
              <a:t>without considering past experiences </a:t>
            </a:r>
            <a:r>
              <a:rPr lang="en-US" sz="2400" b="0" dirty="0">
                <a:solidFill>
                  <a:schemeClr val="tx1">
                    <a:lumMod val="95000"/>
                    <a:lumOff val="5000"/>
                  </a:schemeClr>
                </a:solidFill>
                <a:effectLst/>
                <a:latin typeface="Aptos Display" panose="020B0004020202020204" pitchFamily="34" charset="0"/>
              </a:rPr>
              <a:t>or potential future states. They operate on basic "if-then" logic: if a specific condition is detected, execute a corresponding action.</a:t>
            </a:r>
          </a:p>
          <a:p>
            <a:pPr marL="0" indent="0" algn="l" rtl="0" fontAlgn="base">
              <a:buNone/>
            </a:pPr>
            <a:r>
              <a:rPr lang="en-US" sz="2400" b="1" dirty="0">
                <a:solidFill>
                  <a:schemeClr val="tx1">
                    <a:lumMod val="95000"/>
                    <a:lumOff val="5000"/>
                  </a:schemeClr>
                </a:solidFill>
                <a:effectLst/>
                <a:latin typeface="Aptos Display" panose="020B0004020202020204" pitchFamily="34" charset="0"/>
              </a:rPr>
              <a:t>Key Features:</a:t>
            </a:r>
            <a:endParaRPr lang="en-US" sz="2400" b="0" dirty="0">
              <a:solidFill>
                <a:schemeClr val="tx1">
                  <a:lumMod val="95000"/>
                  <a:lumOff val="5000"/>
                </a:schemeClr>
              </a:solidFill>
              <a:effectLst/>
              <a:latin typeface="Aptos Display" panose="020B0004020202020204" pitchFamily="34" charset="0"/>
            </a:endParaRPr>
          </a:p>
          <a:p>
            <a:pPr algn="l" fontAlgn="base">
              <a:buFont typeface="Arial" panose="020B0604020202020204" pitchFamily="34" charset="0"/>
              <a:buChar char="•"/>
            </a:pPr>
            <a:r>
              <a:rPr lang="en-US" sz="2400" b="0" dirty="0">
                <a:solidFill>
                  <a:schemeClr val="tx1">
                    <a:lumMod val="95000"/>
                    <a:lumOff val="5000"/>
                  </a:schemeClr>
                </a:solidFill>
                <a:effectLst/>
                <a:latin typeface="Aptos Display" panose="020B0004020202020204" pitchFamily="34" charset="0"/>
              </a:rPr>
              <a:t>No memory of past states</a:t>
            </a:r>
          </a:p>
          <a:p>
            <a:pPr algn="l" fontAlgn="base">
              <a:buFont typeface="Arial" panose="020B0604020202020204" pitchFamily="34" charset="0"/>
              <a:buChar char="•"/>
            </a:pPr>
            <a:r>
              <a:rPr lang="en-US" sz="2400" b="0" dirty="0">
                <a:solidFill>
                  <a:schemeClr val="tx1">
                    <a:lumMod val="95000"/>
                    <a:lumOff val="5000"/>
                  </a:schemeClr>
                </a:solidFill>
                <a:effectLst/>
                <a:latin typeface="Aptos Display" panose="020B0004020202020204" pitchFamily="34" charset="0"/>
              </a:rPr>
              <a:t>No model of how the world works</a:t>
            </a:r>
          </a:p>
          <a:p>
            <a:pPr algn="l" fontAlgn="base">
              <a:buFont typeface="Arial" panose="020B0604020202020204" pitchFamily="34" charset="0"/>
              <a:buChar char="•"/>
            </a:pPr>
            <a:r>
              <a:rPr lang="en-US" sz="2400" b="0" dirty="0">
                <a:solidFill>
                  <a:schemeClr val="tx1">
                    <a:lumMod val="95000"/>
                    <a:lumOff val="5000"/>
                  </a:schemeClr>
                </a:solidFill>
                <a:effectLst/>
                <a:latin typeface="Aptos Display" panose="020B0004020202020204" pitchFamily="34" charset="0"/>
              </a:rPr>
              <a:t>Purely </a:t>
            </a:r>
            <a:r>
              <a:rPr lang="en-US" sz="2400" b="0" dirty="0">
                <a:solidFill>
                  <a:schemeClr val="tx1">
                    <a:lumMod val="95000"/>
                    <a:lumOff val="5000"/>
                  </a:schemeClr>
                </a:solidFill>
                <a:effectLst/>
                <a:highlight>
                  <a:srgbClr val="FFFF00"/>
                </a:highlight>
                <a:latin typeface="Aptos Display" panose="020B0004020202020204" pitchFamily="34" charset="0"/>
              </a:rPr>
              <a:t>reactive</a:t>
            </a:r>
            <a:r>
              <a:rPr lang="en-US" sz="2400" b="0" dirty="0">
                <a:solidFill>
                  <a:schemeClr val="tx1">
                    <a:lumMod val="95000"/>
                    <a:lumOff val="5000"/>
                  </a:schemeClr>
                </a:solidFill>
                <a:effectLst/>
                <a:latin typeface="Aptos Display" panose="020B0004020202020204" pitchFamily="34" charset="0"/>
              </a:rPr>
              <a:t> behavior</a:t>
            </a:r>
          </a:p>
          <a:p>
            <a:pPr algn="l" fontAlgn="base">
              <a:buFont typeface="Arial" panose="020B0604020202020204" pitchFamily="34" charset="0"/>
              <a:buChar char="•"/>
            </a:pPr>
            <a:r>
              <a:rPr lang="en-US" sz="2400" b="0" dirty="0">
                <a:solidFill>
                  <a:schemeClr val="tx1">
                    <a:lumMod val="95000"/>
                    <a:lumOff val="5000"/>
                  </a:schemeClr>
                </a:solidFill>
                <a:effectLst/>
                <a:latin typeface="Aptos Display" panose="020B0004020202020204" pitchFamily="34" charset="0"/>
              </a:rPr>
              <a:t>Function best in fully observable environments</a:t>
            </a:r>
          </a:p>
          <a:p>
            <a:pPr algn="l" rtl="0" fontAlgn="base"/>
            <a:r>
              <a:rPr lang="en-US" sz="2400" b="0" dirty="0">
                <a:solidFill>
                  <a:schemeClr val="tx1">
                    <a:lumMod val="95000"/>
                    <a:lumOff val="5000"/>
                  </a:schemeClr>
                </a:solidFill>
                <a:effectLst/>
                <a:latin typeface="Aptos Display" panose="020B0004020202020204" pitchFamily="34" charset="0"/>
              </a:rPr>
              <a:t>For Example, Traffic light control systems that change signals based on fixed timing.</a:t>
            </a:r>
          </a:p>
        </p:txBody>
      </p:sp>
    </p:spTree>
    <p:extLst>
      <p:ext uri="{BB962C8B-B14F-4D97-AF65-F5344CB8AC3E}">
        <p14:creationId xmlns:p14="http://schemas.microsoft.com/office/powerpoint/2010/main" val="204119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260BE4-C908-C95E-A4C9-5F3FF3CE8FFE}"/>
              </a:ext>
            </a:extLst>
          </p:cNvPr>
          <p:cNvPicPr>
            <a:picLocks noChangeAspect="1"/>
          </p:cNvPicPr>
          <p:nvPr/>
        </p:nvPicPr>
        <p:blipFill>
          <a:blip r:embed="rId2"/>
          <a:stretch>
            <a:fillRect/>
          </a:stretch>
        </p:blipFill>
        <p:spPr>
          <a:xfrm>
            <a:off x="881611" y="1410511"/>
            <a:ext cx="10428777" cy="4836876"/>
          </a:xfrm>
          <a:prstGeom prst="rect">
            <a:avLst/>
          </a:prstGeom>
        </p:spPr>
      </p:pic>
    </p:spTree>
    <p:extLst>
      <p:ext uri="{BB962C8B-B14F-4D97-AF65-F5344CB8AC3E}">
        <p14:creationId xmlns:p14="http://schemas.microsoft.com/office/powerpoint/2010/main" val="3348364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856107"/>
            <a:ext cx="10675497" cy="4668901"/>
          </a:xfrm>
        </p:spPr>
        <p:txBody>
          <a:bodyPr>
            <a:normAutofit lnSpcReduction="10000"/>
          </a:bodyPr>
          <a:lstStyle/>
          <a:p>
            <a:pPr marL="0" indent="0" fontAlgn="base">
              <a:buNone/>
            </a:pPr>
            <a:r>
              <a:rPr lang="en-US" sz="3600" b="1" dirty="0">
                <a:solidFill>
                  <a:schemeClr val="tx1">
                    <a:lumMod val="95000"/>
                    <a:lumOff val="5000"/>
                  </a:schemeClr>
                </a:solidFill>
                <a:highlight>
                  <a:srgbClr val="FFFF00"/>
                </a:highlight>
                <a:latin typeface="Aptos Display" panose="020B0004020202020204" pitchFamily="34" charset="0"/>
              </a:rPr>
              <a:t>2</a:t>
            </a:r>
            <a:r>
              <a:rPr lang="en-US" sz="3600" b="1" i="0" dirty="0">
                <a:solidFill>
                  <a:schemeClr val="tx1">
                    <a:lumMod val="95000"/>
                    <a:lumOff val="5000"/>
                  </a:schemeClr>
                </a:solidFill>
                <a:effectLst/>
                <a:highlight>
                  <a:srgbClr val="FFFF00"/>
                </a:highlight>
                <a:latin typeface="Aptos Display" panose="020B0004020202020204" pitchFamily="34" charset="0"/>
              </a:rPr>
              <a:t>. Model-based reflex Agents</a:t>
            </a:r>
            <a:endParaRPr lang="en-US" sz="4000" b="0" u="sng" dirty="0">
              <a:solidFill>
                <a:schemeClr val="tx1">
                  <a:lumMod val="95000"/>
                  <a:lumOff val="5000"/>
                </a:schemeClr>
              </a:solidFill>
              <a:effectLst/>
              <a:highlight>
                <a:srgbClr val="FFFF00"/>
              </a:highlight>
              <a:latin typeface="Aptos Display" panose="020B0004020202020204" pitchFamily="34" charset="0"/>
              <a:hlinkClick r:id="rId2">
                <a:extLst>
                  <a:ext uri="{A12FA001-AC4F-418D-AE19-62706E023703}">
                    <ahyp:hlinkClr xmlns:ahyp="http://schemas.microsoft.com/office/drawing/2018/hyperlinkcolor" val="tx"/>
                  </a:ext>
                </a:extLst>
              </a:hlinkClick>
            </a:endParaRPr>
          </a:p>
          <a:p>
            <a:pPr marL="0" indent="0" algn="l" rtl="0" fontAlgn="base">
              <a:buNone/>
            </a:pPr>
            <a:r>
              <a:rPr lang="en-US" sz="2400" i="0" dirty="0">
                <a:solidFill>
                  <a:schemeClr val="tx1">
                    <a:lumMod val="95000"/>
                    <a:lumOff val="5000"/>
                  </a:schemeClr>
                </a:solidFill>
                <a:effectLst/>
                <a:latin typeface="Aptos Display" panose="020B0004020202020204" pitchFamily="34" charset="0"/>
              </a:rPr>
              <a:t>Model-based reflex Agents maintain </a:t>
            </a:r>
            <a:r>
              <a:rPr lang="en-US" sz="2400" b="0" i="0" dirty="0">
                <a:solidFill>
                  <a:schemeClr val="tx1">
                    <a:lumMod val="95000"/>
                    <a:lumOff val="5000"/>
                  </a:schemeClr>
                </a:solidFill>
                <a:effectLst/>
                <a:latin typeface="Aptos Display" panose="020B0004020202020204" pitchFamily="34" charset="0"/>
              </a:rPr>
              <a:t>an internal representation of the world, allowing them to </a:t>
            </a:r>
            <a:r>
              <a:rPr lang="en-US" sz="2400" b="0" i="0" dirty="0">
                <a:solidFill>
                  <a:schemeClr val="tx1">
                    <a:lumMod val="95000"/>
                    <a:lumOff val="5000"/>
                  </a:schemeClr>
                </a:solidFill>
                <a:effectLst/>
                <a:highlight>
                  <a:srgbClr val="FFFF00"/>
                </a:highlight>
                <a:latin typeface="Aptos Display" panose="020B0004020202020204" pitchFamily="34" charset="0"/>
              </a:rPr>
              <a:t>track</a:t>
            </a:r>
            <a:r>
              <a:rPr lang="en-US" sz="2400" b="0" i="0" dirty="0">
                <a:solidFill>
                  <a:schemeClr val="tx1">
                    <a:lumMod val="95000"/>
                    <a:lumOff val="5000"/>
                  </a:schemeClr>
                </a:solidFill>
                <a:effectLst/>
                <a:latin typeface="Aptos Display" panose="020B0004020202020204" pitchFamily="34" charset="0"/>
              </a:rPr>
              <a:t> aspects of the environment they cannot directly observe. This internal model helps them make more informed decisions by considering </a:t>
            </a:r>
            <a:r>
              <a:rPr lang="en-US" sz="2400" b="0" i="0" dirty="0">
                <a:solidFill>
                  <a:schemeClr val="tx1">
                    <a:lumMod val="95000"/>
                    <a:lumOff val="5000"/>
                  </a:schemeClr>
                </a:solidFill>
                <a:effectLst/>
                <a:highlight>
                  <a:srgbClr val="FFFF00"/>
                </a:highlight>
                <a:latin typeface="Aptos Display" panose="020B0004020202020204" pitchFamily="34" charset="0"/>
              </a:rPr>
              <a:t>how the world evolves and how their actions affect it</a:t>
            </a:r>
            <a:r>
              <a:rPr lang="en-US" sz="2400" b="0" i="0" dirty="0">
                <a:solidFill>
                  <a:schemeClr val="tx1">
                    <a:lumMod val="95000"/>
                    <a:lumOff val="5000"/>
                  </a:schemeClr>
                </a:solidFill>
                <a:effectLst/>
                <a:latin typeface="Aptos Display" panose="020B0004020202020204" pitchFamily="34" charset="0"/>
              </a:rPr>
              <a:t>.</a:t>
            </a:r>
          </a:p>
          <a:p>
            <a:pPr marL="0" indent="0" algn="l" rtl="0" fontAlgn="base">
              <a:buNone/>
            </a:pPr>
            <a:r>
              <a:rPr lang="en-US" sz="2400" b="1" i="0" dirty="0">
                <a:solidFill>
                  <a:schemeClr val="tx1">
                    <a:lumMod val="95000"/>
                    <a:lumOff val="5000"/>
                  </a:schemeClr>
                </a:solidFill>
                <a:effectLst/>
                <a:latin typeface="Aptos Display" panose="020B0004020202020204" pitchFamily="34" charset="0"/>
              </a:rPr>
              <a:t>Key Features:</a:t>
            </a:r>
            <a:endParaRPr lang="en-US" sz="2400" b="0" i="0" dirty="0">
              <a:solidFill>
                <a:schemeClr val="tx1">
                  <a:lumMod val="95000"/>
                  <a:lumOff val="5000"/>
                </a:schemeClr>
              </a:solidFill>
              <a:effectLst/>
              <a:latin typeface="Aptos Display" panose="020B0004020202020204" pitchFamily="34" charset="0"/>
            </a:endParaRPr>
          </a:p>
          <a:p>
            <a:pPr algn="l" fontAlgn="base">
              <a:buFont typeface="Arial" panose="020B0604020202020204" pitchFamily="34" charset="0"/>
              <a:buChar char="•"/>
            </a:pPr>
            <a:r>
              <a:rPr lang="en-US" sz="2400" b="0" i="0" dirty="0">
                <a:solidFill>
                  <a:schemeClr val="tx1">
                    <a:lumMod val="95000"/>
                    <a:lumOff val="5000"/>
                  </a:schemeClr>
                </a:solidFill>
                <a:effectLst/>
                <a:latin typeface="Aptos Display" panose="020B0004020202020204" pitchFamily="34" charset="0"/>
              </a:rPr>
              <a:t>Track the world's state over time</a:t>
            </a:r>
          </a:p>
          <a:p>
            <a:pPr algn="l" fontAlgn="base">
              <a:buFont typeface="Arial" panose="020B0604020202020204" pitchFamily="34" charset="0"/>
              <a:buChar char="•"/>
            </a:pPr>
            <a:r>
              <a:rPr lang="en-US" sz="2400" b="0" i="0" dirty="0">
                <a:solidFill>
                  <a:schemeClr val="tx1">
                    <a:lumMod val="95000"/>
                    <a:lumOff val="5000"/>
                  </a:schemeClr>
                </a:solidFill>
                <a:effectLst/>
                <a:latin typeface="Aptos Display" panose="020B0004020202020204" pitchFamily="34" charset="0"/>
              </a:rPr>
              <a:t>Infer unobserved aspects of current states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Display" panose="020B0004020202020204" pitchFamily="34" charset="0"/>
              </a:rPr>
              <a:t>Function effectively in partially observable environments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Display" panose="020B0004020202020204" pitchFamily="34" charset="0"/>
              </a:rPr>
              <a:t>Still primarily reactive, but with contextual awareness</a:t>
            </a:r>
          </a:p>
          <a:p>
            <a:pPr algn="l" rtl="0" fontAlgn="base"/>
            <a:r>
              <a:rPr lang="en-US" sz="2400" b="0" i="0" dirty="0">
                <a:solidFill>
                  <a:schemeClr val="tx1">
                    <a:lumMod val="95000"/>
                    <a:lumOff val="5000"/>
                  </a:schemeClr>
                </a:solidFill>
                <a:effectLst/>
                <a:latin typeface="Aptos Display" panose="020B0004020202020204" pitchFamily="34" charset="0"/>
              </a:rPr>
              <a:t>For example, Robot vacuum cleaners that map rooms and tracks cleaned areas.</a:t>
            </a:r>
          </a:p>
        </p:txBody>
      </p:sp>
    </p:spTree>
    <p:extLst>
      <p:ext uri="{BB962C8B-B14F-4D97-AF65-F5344CB8AC3E}">
        <p14:creationId xmlns:p14="http://schemas.microsoft.com/office/powerpoint/2010/main" val="1798333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758251" y="1563339"/>
            <a:ext cx="10675497" cy="585535"/>
          </a:xfrm>
        </p:spPr>
        <p:txBody>
          <a:bodyPr>
            <a:normAutofit/>
          </a:bodyPr>
          <a:lstStyle/>
          <a:p>
            <a:pPr marL="0" indent="0" fontAlgn="base">
              <a:buNone/>
            </a:pPr>
            <a:r>
              <a:rPr lang="en-US" sz="2400" b="1" dirty="0">
                <a:solidFill>
                  <a:schemeClr val="tx1">
                    <a:lumMod val="95000"/>
                    <a:lumOff val="5000"/>
                  </a:schemeClr>
                </a:solidFill>
                <a:latin typeface="Aptos Display" panose="020B0004020202020204" pitchFamily="34" charset="0"/>
              </a:rPr>
              <a:t>2</a:t>
            </a:r>
            <a:r>
              <a:rPr lang="en-US" sz="2400" b="1" i="0" dirty="0">
                <a:solidFill>
                  <a:schemeClr val="tx1">
                    <a:lumMod val="95000"/>
                    <a:lumOff val="5000"/>
                  </a:schemeClr>
                </a:solidFill>
                <a:effectLst/>
                <a:latin typeface="Aptos Display" panose="020B0004020202020204" pitchFamily="34" charset="0"/>
              </a:rPr>
              <a:t>. Model-based reflex Agents</a:t>
            </a:r>
            <a:endParaRPr lang="en-US" sz="2800" b="0" u="sng" dirty="0">
              <a:solidFill>
                <a:schemeClr val="tx1">
                  <a:lumMod val="95000"/>
                  <a:lumOff val="5000"/>
                </a:schemeClr>
              </a:solidFill>
              <a:effectLst/>
              <a:latin typeface="Aptos Display" panose="020B0004020202020204" pitchFamily="34" charset="0"/>
              <a:hlinkClick r:id="rId2">
                <a:extLst>
                  <a:ext uri="{A12FA001-AC4F-418D-AE19-62706E023703}">
                    <ahyp:hlinkClr xmlns:ahyp="http://schemas.microsoft.com/office/drawing/2018/hyperlinkcolor" val="tx"/>
                  </a:ext>
                </a:extLst>
              </a:hlinkClick>
            </a:endParaRPr>
          </a:p>
        </p:txBody>
      </p:sp>
      <p:pic>
        <p:nvPicPr>
          <p:cNvPr id="5" name="Picture 4">
            <a:extLst>
              <a:ext uri="{FF2B5EF4-FFF2-40B4-BE49-F238E27FC236}">
                <a16:creationId xmlns:a16="http://schemas.microsoft.com/office/drawing/2014/main" id="{39F8B603-FF8B-C6B8-CCF2-EE3C2CAB8294}"/>
              </a:ext>
            </a:extLst>
          </p:cNvPr>
          <p:cNvPicPr>
            <a:picLocks noChangeAspect="1"/>
          </p:cNvPicPr>
          <p:nvPr/>
        </p:nvPicPr>
        <p:blipFill>
          <a:blip r:embed="rId3"/>
          <a:stretch>
            <a:fillRect/>
          </a:stretch>
        </p:blipFill>
        <p:spPr>
          <a:xfrm>
            <a:off x="1181579" y="2148874"/>
            <a:ext cx="9664761" cy="4595445"/>
          </a:xfrm>
          <a:prstGeom prst="rect">
            <a:avLst/>
          </a:prstGeom>
        </p:spPr>
      </p:pic>
    </p:spTree>
    <p:extLst>
      <p:ext uri="{BB962C8B-B14F-4D97-AF65-F5344CB8AC3E}">
        <p14:creationId xmlns:p14="http://schemas.microsoft.com/office/powerpoint/2010/main" val="3426435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856107"/>
            <a:ext cx="10675497" cy="4758702"/>
          </a:xfrm>
        </p:spPr>
        <p:txBody>
          <a:bodyPr>
            <a:normAutofit lnSpcReduction="10000"/>
          </a:bodyPr>
          <a:lstStyle/>
          <a:p>
            <a:pPr marL="0" indent="0" fontAlgn="base">
              <a:buNone/>
            </a:pPr>
            <a:r>
              <a:rPr lang="en-US" sz="3600" b="1" dirty="0">
                <a:solidFill>
                  <a:schemeClr val="tx1">
                    <a:lumMod val="95000"/>
                    <a:lumOff val="5000"/>
                  </a:schemeClr>
                </a:solidFill>
                <a:highlight>
                  <a:srgbClr val="FFFF00"/>
                </a:highlight>
                <a:latin typeface="Aptos Display" panose="020B0004020202020204" pitchFamily="34" charset="0"/>
              </a:rPr>
              <a:t>3. Goal-Based Agents</a:t>
            </a:r>
          </a:p>
          <a:p>
            <a:pPr marL="0" indent="0" algn="l" rtl="0" fontAlgn="base">
              <a:buNone/>
            </a:pPr>
            <a:r>
              <a:rPr lang="en-US" dirty="0">
                <a:solidFill>
                  <a:schemeClr val="tx1">
                    <a:lumMod val="95000"/>
                    <a:lumOff val="5000"/>
                  </a:schemeClr>
                </a:solidFill>
                <a:latin typeface="Aptos Display" panose="020B0004020202020204" pitchFamily="34" charset="0"/>
              </a:rPr>
              <a:t>Goal-based agents </a:t>
            </a:r>
            <a:r>
              <a:rPr lang="en-US" b="0" i="0" dirty="0">
                <a:solidFill>
                  <a:schemeClr val="tx1">
                    <a:lumMod val="95000"/>
                    <a:lumOff val="5000"/>
                  </a:schemeClr>
                </a:solidFill>
                <a:effectLst/>
                <a:latin typeface="Aptos Display" panose="020B0004020202020204" pitchFamily="34" charset="0"/>
              </a:rPr>
              <a:t>plan their actions with a </a:t>
            </a:r>
            <a:r>
              <a:rPr lang="en-US" b="0" i="0" dirty="0">
                <a:solidFill>
                  <a:schemeClr val="tx1">
                    <a:lumMod val="95000"/>
                    <a:lumOff val="5000"/>
                  </a:schemeClr>
                </a:solidFill>
                <a:effectLst/>
                <a:highlight>
                  <a:srgbClr val="FFFF00"/>
                </a:highlight>
                <a:latin typeface="Aptos Display" panose="020B0004020202020204" pitchFamily="34" charset="0"/>
              </a:rPr>
              <a:t>specific objective in mind</a:t>
            </a:r>
            <a:r>
              <a:rPr lang="en-US" b="0" i="0" dirty="0">
                <a:solidFill>
                  <a:schemeClr val="tx1">
                    <a:lumMod val="95000"/>
                    <a:lumOff val="5000"/>
                  </a:schemeClr>
                </a:solidFill>
                <a:effectLst/>
                <a:latin typeface="Aptos Display" panose="020B0004020202020204" pitchFamily="34" charset="0"/>
              </a:rPr>
              <a:t>. Unlike reflex agents that respond to immediate stimuli, goal-based agents evaluate how </a:t>
            </a:r>
            <a:r>
              <a:rPr lang="en-US" b="1" i="0" dirty="0">
                <a:solidFill>
                  <a:schemeClr val="tx1">
                    <a:lumMod val="95000"/>
                    <a:lumOff val="5000"/>
                  </a:schemeClr>
                </a:solidFill>
                <a:effectLst/>
                <a:latin typeface="Aptos Display" panose="020B0004020202020204" pitchFamily="34" charset="0"/>
              </a:rPr>
              <a:t>different action sequences might lead toward their defined goal, selecting the path that appears most promising</a:t>
            </a:r>
            <a:r>
              <a:rPr lang="en-US" b="0" i="0" dirty="0">
                <a:solidFill>
                  <a:schemeClr val="tx1">
                    <a:lumMod val="95000"/>
                    <a:lumOff val="5000"/>
                  </a:schemeClr>
                </a:solidFill>
                <a:effectLst/>
                <a:latin typeface="Aptos Display" panose="020B0004020202020204" pitchFamily="34" charset="0"/>
              </a:rPr>
              <a:t>.</a:t>
            </a:r>
          </a:p>
          <a:p>
            <a:pPr marL="0" indent="0" algn="l" rtl="0" fontAlgn="base">
              <a:buNone/>
            </a:pPr>
            <a:r>
              <a:rPr lang="en-US" b="1" i="0" dirty="0">
                <a:solidFill>
                  <a:schemeClr val="tx1">
                    <a:lumMod val="95000"/>
                    <a:lumOff val="5000"/>
                  </a:schemeClr>
                </a:solidFill>
                <a:effectLst/>
                <a:latin typeface="Aptos Display" panose="020B0004020202020204" pitchFamily="34" charset="0"/>
              </a:rPr>
              <a:t>Key Features:</a:t>
            </a:r>
            <a:endParaRPr lang="en-US" b="0" i="0" dirty="0">
              <a:solidFill>
                <a:schemeClr val="tx1">
                  <a:lumMod val="95000"/>
                  <a:lumOff val="5000"/>
                </a:schemeClr>
              </a:solidFill>
              <a:effectLst/>
              <a:latin typeface="Aptos Display" panose="020B0004020202020204" pitchFamily="34" charset="0"/>
            </a:endParaRPr>
          </a:p>
          <a:p>
            <a:pPr algn="l" fontAlgn="base">
              <a:buFont typeface="Arial" panose="020B0604020202020204" pitchFamily="34" charset="0"/>
              <a:buChar char="•"/>
            </a:pPr>
            <a:r>
              <a:rPr lang="en-US" b="0" i="0" dirty="0">
                <a:solidFill>
                  <a:schemeClr val="tx1">
                    <a:lumMod val="95000"/>
                    <a:lumOff val="5000"/>
                  </a:schemeClr>
                </a:solidFill>
                <a:effectLst/>
                <a:latin typeface="Aptos Display" panose="020B0004020202020204" pitchFamily="34" charset="0"/>
              </a:rPr>
              <a:t>Employ search and planning mechanisms</a:t>
            </a:r>
          </a:p>
          <a:p>
            <a:pPr algn="l" fontAlgn="base">
              <a:buFont typeface="Arial" panose="020B0604020202020204" pitchFamily="34" charset="0"/>
              <a:buChar char="•"/>
            </a:pPr>
            <a:r>
              <a:rPr lang="en-US" b="0" i="0" dirty="0">
                <a:solidFill>
                  <a:schemeClr val="tx1">
                    <a:lumMod val="95000"/>
                    <a:lumOff val="5000"/>
                  </a:schemeClr>
                </a:solidFill>
                <a:effectLst/>
                <a:latin typeface="Aptos Display" panose="020B0004020202020204" pitchFamily="34" charset="0"/>
              </a:rPr>
              <a:t>Evaluate actions based on their contribution toward goal achievement</a:t>
            </a:r>
          </a:p>
          <a:p>
            <a:pPr algn="l" fontAlgn="base">
              <a:buFont typeface="Arial" panose="020B0604020202020204" pitchFamily="34" charset="0"/>
              <a:buChar char="•"/>
            </a:pPr>
            <a:r>
              <a:rPr lang="en-US" b="0" i="0" dirty="0">
                <a:solidFill>
                  <a:schemeClr val="tx1">
                    <a:lumMod val="95000"/>
                    <a:lumOff val="5000"/>
                  </a:schemeClr>
                </a:solidFill>
                <a:effectLst/>
                <a:latin typeface="Aptos Display" panose="020B0004020202020204" pitchFamily="34" charset="0"/>
              </a:rPr>
              <a:t>Consider future states and outcomes</a:t>
            </a:r>
          </a:p>
          <a:p>
            <a:pPr algn="l" fontAlgn="base">
              <a:buFont typeface="Arial" panose="020B0604020202020204" pitchFamily="34" charset="0"/>
              <a:buChar char="•"/>
            </a:pPr>
            <a:r>
              <a:rPr lang="en-US" b="0" i="0" dirty="0">
                <a:solidFill>
                  <a:schemeClr val="tx1">
                    <a:lumMod val="95000"/>
                    <a:lumOff val="5000"/>
                  </a:schemeClr>
                </a:solidFill>
                <a:effectLst/>
                <a:latin typeface="Aptos Display" panose="020B0004020202020204" pitchFamily="34" charset="0"/>
              </a:rPr>
              <a:t>May </a:t>
            </a:r>
            <a:r>
              <a:rPr lang="en-US" b="0" i="0" dirty="0">
                <a:solidFill>
                  <a:schemeClr val="tx1">
                    <a:lumMod val="95000"/>
                    <a:lumOff val="5000"/>
                  </a:schemeClr>
                </a:solidFill>
                <a:effectLst/>
                <a:highlight>
                  <a:srgbClr val="FFFF00"/>
                </a:highlight>
                <a:latin typeface="Aptos Display" panose="020B0004020202020204" pitchFamily="34" charset="0"/>
              </a:rPr>
              <a:t>explore multiple possible routes to a goal</a:t>
            </a:r>
          </a:p>
          <a:p>
            <a:pPr algn="l" rtl="0" fontAlgn="base"/>
            <a:r>
              <a:rPr lang="en-US" b="0" i="0" dirty="0">
                <a:solidFill>
                  <a:schemeClr val="tx1">
                    <a:lumMod val="95000"/>
                    <a:lumOff val="5000"/>
                  </a:schemeClr>
                </a:solidFill>
                <a:effectLst/>
                <a:latin typeface="Aptos Display" panose="020B0004020202020204" pitchFamily="34" charset="0"/>
              </a:rPr>
              <a:t>For example, Logistics routing agents that find optimal delivery routes based on factors like distance and time. They continually adjust to reach the most efficient route.</a:t>
            </a:r>
            <a:endParaRPr lang="en-US" sz="2000" b="0" i="0" dirty="0">
              <a:solidFill>
                <a:schemeClr val="tx1">
                  <a:lumMod val="95000"/>
                  <a:lumOff val="5000"/>
                </a:schemeClr>
              </a:solidFill>
              <a:effectLst/>
              <a:latin typeface="Aptos Display" panose="020B0004020202020204" pitchFamily="34" charset="0"/>
            </a:endParaRPr>
          </a:p>
        </p:txBody>
      </p:sp>
    </p:spTree>
    <p:extLst>
      <p:ext uri="{BB962C8B-B14F-4D97-AF65-F5344CB8AC3E}">
        <p14:creationId xmlns:p14="http://schemas.microsoft.com/office/powerpoint/2010/main" val="941418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76682" y="1650888"/>
            <a:ext cx="10675497" cy="410438"/>
          </a:xfrm>
        </p:spPr>
        <p:txBody>
          <a:bodyPr>
            <a:normAutofit/>
          </a:bodyPr>
          <a:lstStyle/>
          <a:p>
            <a:pPr marL="0" indent="0" fontAlgn="base">
              <a:buNone/>
            </a:pPr>
            <a:r>
              <a:rPr lang="en-US" sz="2000" b="1" dirty="0">
                <a:solidFill>
                  <a:schemeClr val="tx1">
                    <a:lumMod val="95000"/>
                    <a:lumOff val="5000"/>
                  </a:schemeClr>
                </a:solidFill>
                <a:latin typeface="Aptos Display" panose="020B0004020202020204" pitchFamily="34" charset="0"/>
              </a:rPr>
              <a:t>3. Goal-Based Agents</a:t>
            </a:r>
          </a:p>
        </p:txBody>
      </p:sp>
      <p:pic>
        <p:nvPicPr>
          <p:cNvPr id="5" name="Picture 4">
            <a:extLst>
              <a:ext uri="{FF2B5EF4-FFF2-40B4-BE49-F238E27FC236}">
                <a16:creationId xmlns:a16="http://schemas.microsoft.com/office/drawing/2014/main" id="{281C0C9D-432B-7C5C-031D-B27B5121678F}"/>
              </a:ext>
            </a:extLst>
          </p:cNvPr>
          <p:cNvPicPr>
            <a:picLocks noChangeAspect="1"/>
          </p:cNvPicPr>
          <p:nvPr/>
        </p:nvPicPr>
        <p:blipFill>
          <a:blip r:embed="rId2"/>
          <a:stretch>
            <a:fillRect/>
          </a:stretch>
        </p:blipFill>
        <p:spPr>
          <a:xfrm>
            <a:off x="1339600" y="2139148"/>
            <a:ext cx="9512799" cy="4463197"/>
          </a:xfrm>
          <a:prstGeom prst="rect">
            <a:avLst/>
          </a:prstGeom>
        </p:spPr>
      </p:pic>
    </p:spTree>
    <p:extLst>
      <p:ext uri="{BB962C8B-B14F-4D97-AF65-F5344CB8AC3E}">
        <p14:creationId xmlns:p14="http://schemas.microsoft.com/office/powerpoint/2010/main" val="3720234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856107"/>
            <a:ext cx="10675497" cy="4758702"/>
          </a:xfrm>
        </p:spPr>
        <p:txBody>
          <a:bodyPr>
            <a:normAutofit/>
          </a:bodyPr>
          <a:lstStyle/>
          <a:p>
            <a:pPr marL="0" indent="0" fontAlgn="base">
              <a:buNone/>
            </a:pPr>
            <a:r>
              <a:rPr lang="en-US" sz="3600" b="1" dirty="0">
                <a:solidFill>
                  <a:schemeClr val="tx1">
                    <a:lumMod val="95000"/>
                    <a:lumOff val="5000"/>
                  </a:schemeClr>
                </a:solidFill>
                <a:highlight>
                  <a:srgbClr val="FFFF00"/>
                </a:highlight>
                <a:latin typeface="Aptos Display" panose="020B0004020202020204" pitchFamily="34" charset="0"/>
              </a:rPr>
              <a:t>4. Utility-based agents </a:t>
            </a:r>
          </a:p>
          <a:p>
            <a:pPr marL="0" indent="0" fontAlgn="base">
              <a:buNone/>
            </a:pPr>
            <a:r>
              <a:rPr lang="en-US" sz="2000" b="0" i="0" dirty="0">
                <a:solidFill>
                  <a:schemeClr val="tx1">
                    <a:lumMod val="95000"/>
                    <a:lumOff val="5000"/>
                  </a:schemeClr>
                </a:solidFill>
                <a:effectLst/>
                <a:latin typeface="Aptos Display" panose="020B0004020202020204" pitchFamily="34" charset="0"/>
              </a:rPr>
              <a:t>Utility-based agents </a:t>
            </a:r>
            <a:r>
              <a:rPr lang="en-US" sz="2000" b="1" i="0" dirty="0">
                <a:solidFill>
                  <a:schemeClr val="tx1">
                    <a:lumMod val="95000"/>
                    <a:lumOff val="5000"/>
                  </a:schemeClr>
                </a:solidFill>
                <a:effectLst/>
                <a:latin typeface="Aptos Display" panose="020B0004020202020204" pitchFamily="34" charset="0"/>
              </a:rPr>
              <a:t>extend goal-based thinking </a:t>
            </a:r>
            <a:r>
              <a:rPr lang="en-US" sz="2000" b="0" i="0" dirty="0">
                <a:solidFill>
                  <a:schemeClr val="tx1">
                    <a:lumMod val="95000"/>
                    <a:lumOff val="5000"/>
                  </a:schemeClr>
                </a:solidFill>
                <a:effectLst/>
                <a:latin typeface="Aptos Display" panose="020B0004020202020204" pitchFamily="34" charset="0"/>
              </a:rPr>
              <a:t>by evaluating actions based on how well they maximize a utility function, essentially a </a:t>
            </a:r>
            <a:r>
              <a:rPr lang="en-US" sz="2000" b="1" i="0" dirty="0">
                <a:solidFill>
                  <a:schemeClr val="tx1">
                    <a:lumMod val="95000"/>
                    <a:lumOff val="5000"/>
                  </a:schemeClr>
                </a:solidFill>
                <a:effectLst/>
                <a:latin typeface="Aptos Display" panose="020B0004020202020204" pitchFamily="34" charset="0"/>
              </a:rPr>
              <a:t>measure of "happiness" or "satisfaction</a:t>
            </a:r>
            <a:r>
              <a:rPr lang="en-US" sz="2000" b="0" i="0" dirty="0">
                <a:solidFill>
                  <a:schemeClr val="tx1">
                    <a:lumMod val="95000"/>
                    <a:lumOff val="5000"/>
                  </a:schemeClr>
                </a:solidFill>
                <a:effectLst/>
                <a:latin typeface="Aptos Display" panose="020B0004020202020204" pitchFamily="34" charset="0"/>
              </a:rPr>
              <a:t>." This approach allows them to make nuanced trade-offs between competing goals or uncertain outcomes.</a:t>
            </a:r>
          </a:p>
          <a:p>
            <a:pPr marL="0" indent="0" algn="l" rtl="0" fontAlgn="base">
              <a:buNone/>
            </a:pPr>
            <a:r>
              <a:rPr lang="en-US" sz="2000" b="1" i="0" dirty="0">
                <a:solidFill>
                  <a:schemeClr val="tx1">
                    <a:lumMod val="95000"/>
                    <a:lumOff val="5000"/>
                  </a:schemeClr>
                </a:solidFill>
                <a:effectLst/>
                <a:latin typeface="Aptos Display" panose="020B0004020202020204" pitchFamily="34" charset="0"/>
              </a:rPr>
              <a:t>Key Features:</a:t>
            </a:r>
            <a:endParaRPr lang="en-US" sz="2000" b="0" i="0" dirty="0">
              <a:solidFill>
                <a:schemeClr val="tx1">
                  <a:lumMod val="95000"/>
                  <a:lumOff val="5000"/>
                </a:schemeClr>
              </a:solidFill>
              <a:effectLst/>
              <a:latin typeface="Aptos Display" panose="020B0004020202020204" pitchFamily="34" charset="0"/>
            </a:endParaRPr>
          </a:p>
          <a:p>
            <a:pPr algn="l" fontAlgn="base">
              <a:buFont typeface="Arial" panose="020B0604020202020204" pitchFamily="34" charset="0"/>
              <a:buChar char="•"/>
            </a:pPr>
            <a:r>
              <a:rPr lang="en-US" sz="2000" b="0" i="0" dirty="0">
                <a:solidFill>
                  <a:schemeClr val="tx1">
                    <a:lumMod val="95000"/>
                    <a:lumOff val="5000"/>
                  </a:schemeClr>
                </a:solidFill>
                <a:effectLst/>
                <a:latin typeface="Aptos Display" panose="020B0004020202020204" pitchFamily="34" charset="0"/>
              </a:rPr>
              <a:t>Balance multiple, sometimes conflicting objectives</a:t>
            </a:r>
          </a:p>
          <a:p>
            <a:pPr algn="l" fontAlgn="base">
              <a:buFont typeface="Arial" panose="020B0604020202020204" pitchFamily="34" charset="0"/>
              <a:buChar char="•"/>
            </a:pPr>
            <a:r>
              <a:rPr lang="en-US" sz="2000" b="0" i="0" dirty="0">
                <a:solidFill>
                  <a:schemeClr val="tx1">
                    <a:lumMod val="95000"/>
                    <a:lumOff val="5000"/>
                  </a:schemeClr>
                </a:solidFill>
                <a:effectLst/>
                <a:latin typeface="Aptos Display" panose="020B0004020202020204" pitchFamily="34" charset="0"/>
              </a:rPr>
              <a:t>Handle probabilistic and uncertain environments</a:t>
            </a:r>
          </a:p>
          <a:p>
            <a:pPr algn="l" fontAlgn="base">
              <a:buFont typeface="Arial" panose="020B0604020202020204" pitchFamily="34" charset="0"/>
              <a:buChar char="•"/>
            </a:pPr>
            <a:r>
              <a:rPr lang="en-US" sz="2000" b="0" i="0" dirty="0">
                <a:solidFill>
                  <a:schemeClr val="tx1">
                    <a:lumMod val="95000"/>
                    <a:lumOff val="5000"/>
                  </a:schemeClr>
                </a:solidFill>
                <a:effectLst/>
                <a:latin typeface="Aptos Display" panose="020B0004020202020204" pitchFamily="34" charset="0"/>
              </a:rPr>
              <a:t>Evaluate actions based on expected utility</a:t>
            </a:r>
          </a:p>
          <a:p>
            <a:pPr algn="l" fontAlgn="base">
              <a:buFont typeface="Arial" panose="020B0604020202020204" pitchFamily="34" charset="0"/>
              <a:buChar char="•"/>
            </a:pPr>
            <a:r>
              <a:rPr lang="en-US" sz="2000" b="0" i="0" dirty="0">
                <a:solidFill>
                  <a:schemeClr val="tx1">
                    <a:lumMod val="95000"/>
                    <a:lumOff val="5000"/>
                  </a:schemeClr>
                </a:solidFill>
                <a:effectLst/>
                <a:latin typeface="Aptos Display" panose="020B0004020202020204" pitchFamily="34" charset="0"/>
              </a:rPr>
              <a:t>Make </a:t>
            </a:r>
            <a:r>
              <a:rPr lang="en-US" sz="2000" b="0" i="0" dirty="0">
                <a:solidFill>
                  <a:schemeClr val="tx1">
                    <a:lumMod val="95000"/>
                    <a:lumOff val="5000"/>
                  </a:schemeClr>
                </a:solidFill>
                <a:effectLst/>
                <a:highlight>
                  <a:srgbClr val="FFFF00"/>
                </a:highlight>
                <a:latin typeface="Aptos Display" panose="020B0004020202020204" pitchFamily="34" charset="0"/>
              </a:rPr>
              <a:t>rational decisions </a:t>
            </a:r>
            <a:r>
              <a:rPr lang="en-US" sz="2000" b="0" i="0" dirty="0">
                <a:solidFill>
                  <a:schemeClr val="tx1">
                    <a:lumMod val="95000"/>
                    <a:lumOff val="5000"/>
                  </a:schemeClr>
                </a:solidFill>
                <a:effectLst/>
                <a:latin typeface="Aptos Display" panose="020B0004020202020204" pitchFamily="34" charset="0"/>
              </a:rPr>
              <a:t>under constraints</a:t>
            </a:r>
          </a:p>
          <a:p>
            <a:pPr algn="l" rtl="0" fontAlgn="base"/>
            <a:r>
              <a:rPr lang="en-US" sz="2000" b="0" i="0" dirty="0">
                <a:solidFill>
                  <a:schemeClr val="tx1">
                    <a:lumMod val="95000"/>
                    <a:lumOff val="5000"/>
                  </a:schemeClr>
                </a:solidFill>
                <a:effectLst/>
                <a:latin typeface="Aptos Display" panose="020B0004020202020204" pitchFamily="34" charset="0"/>
              </a:rPr>
              <a:t>For example, Financial portfolio management agents that evaluate investments based on factors like risk, return and diversification operate by choosing options that provide the most value.</a:t>
            </a:r>
          </a:p>
        </p:txBody>
      </p:sp>
    </p:spTree>
    <p:extLst>
      <p:ext uri="{BB962C8B-B14F-4D97-AF65-F5344CB8AC3E}">
        <p14:creationId xmlns:p14="http://schemas.microsoft.com/office/powerpoint/2010/main" val="10547652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57226" y="1564277"/>
            <a:ext cx="10675497" cy="420165"/>
          </a:xfrm>
        </p:spPr>
        <p:txBody>
          <a:bodyPr>
            <a:normAutofit/>
          </a:bodyPr>
          <a:lstStyle/>
          <a:p>
            <a:pPr marL="0" indent="0" fontAlgn="base">
              <a:buNone/>
            </a:pPr>
            <a:r>
              <a:rPr lang="en-US" sz="2000" b="1" dirty="0">
                <a:solidFill>
                  <a:schemeClr val="tx1">
                    <a:lumMod val="95000"/>
                    <a:lumOff val="5000"/>
                  </a:schemeClr>
                </a:solidFill>
                <a:latin typeface="Aptos Display" panose="020B0004020202020204" pitchFamily="34" charset="0"/>
              </a:rPr>
              <a:t>4. Utility-based agents </a:t>
            </a:r>
          </a:p>
        </p:txBody>
      </p:sp>
      <p:pic>
        <p:nvPicPr>
          <p:cNvPr id="5" name="Picture 4">
            <a:extLst>
              <a:ext uri="{FF2B5EF4-FFF2-40B4-BE49-F238E27FC236}">
                <a16:creationId xmlns:a16="http://schemas.microsoft.com/office/drawing/2014/main" id="{C3788925-C737-D7FE-C2BD-76D036504439}"/>
              </a:ext>
            </a:extLst>
          </p:cNvPr>
          <p:cNvPicPr>
            <a:picLocks noChangeAspect="1"/>
          </p:cNvPicPr>
          <p:nvPr/>
        </p:nvPicPr>
        <p:blipFill>
          <a:blip r:embed="rId2"/>
          <a:stretch>
            <a:fillRect/>
          </a:stretch>
        </p:blipFill>
        <p:spPr>
          <a:xfrm>
            <a:off x="1490400" y="1984442"/>
            <a:ext cx="9211199" cy="4600372"/>
          </a:xfrm>
          <a:prstGeom prst="rect">
            <a:avLst/>
          </a:prstGeom>
        </p:spPr>
      </p:pic>
    </p:spTree>
    <p:extLst>
      <p:ext uri="{BB962C8B-B14F-4D97-AF65-F5344CB8AC3E}">
        <p14:creationId xmlns:p14="http://schemas.microsoft.com/office/powerpoint/2010/main" val="2695612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696137" y="1836651"/>
            <a:ext cx="10675497" cy="4758702"/>
          </a:xfrm>
        </p:spPr>
        <p:txBody>
          <a:bodyPr>
            <a:normAutofit fontScale="92500" lnSpcReduction="20000"/>
          </a:bodyPr>
          <a:lstStyle/>
          <a:p>
            <a:pPr marL="0" indent="0" fontAlgn="base">
              <a:buNone/>
            </a:pPr>
            <a:r>
              <a:rPr lang="en-US" sz="3600" b="1" dirty="0">
                <a:solidFill>
                  <a:schemeClr val="tx1">
                    <a:lumMod val="95000"/>
                    <a:lumOff val="5000"/>
                  </a:schemeClr>
                </a:solidFill>
                <a:highlight>
                  <a:srgbClr val="FFFF00"/>
                </a:highlight>
                <a:latin typeface="Aptos Display" panose="020B0004020202020204" pitchFamily="34" charset="0"/>
              </a:rPr>
              <a:t>5. Learning Agents</a:t>
            </a:r>
          </a:p>
          <a:p>
            <a:pPr marL="0" indent="0" fontAlgn="base">
              <a:buNone/>
            </a:pPr>
            <a:r>
              <a:rPr lang="en-US" sz="2800" b="0" i="0" dirty="0">
                <a:solidFill>
                  <a:schemeClr val="tx1">
                    <a:lumMod val="95000"/>
                    <a:lumOff val="5000"/>
                  </a:schemeClr>
                </a:solidFill>
                <a:effectLst/>
                <a:latin typeface="Aptos Display" panose="020B0004020202020204" pitchFamily="34" charset="0"/>
              </a:rPr>
              <a:t>Learning agents </a:t>
            </a:r>
            <a:r>
              <a:rPr lang="en-US" sz="2800" b="1" i="0" dirty="0">
                <a:solidFill>
                  <a:schemeClr val="tx1">
                    <a:lumMod val="95000"/>
                    <a:lumOff val="5000"/>
                  </a:schemeClr>
                </a:solidFill>
                <a:effectLst/>
                <a:latin typeface="Aptos Display" panose="020B0004020202020204" pitchFamily="34" charset="0"/>
              </a:rPr>
              <a:t>improve their performance over time based on experience</a:t>
            </a:r>
            <a:r>
              <a:rPr lang="en-US" sz="2800" b="0" i="0" dirty="0">
                <a:solidFill>
                  <a:schemeClr val="tx1">
                    <a:lumMod val="95000"/>
                    <a:lumOff val="5000"/>
                  </a:schemeClr>
                </a:solidFill>
                <a:effectLst/>
                <a:latin typeface="Aptos Display" panose="020B0004020202020204" pitchFamily="34" charset="0"/>
              </a:rPr>
              <a:t>. They modify their behavior by observing the </a:t>
            </a:r>
            <a:r>
              <a:rPr lang="en-US" sz="2800" b="1" i="0" dirty="0">
                <a:solidFill>
                  <a:schemeClr val="tx1">
                    <a:lumMod val="95000"/>
                    <a:lumOff val="5000"/>
                  </a:schemeClr>
                </a:solidFill>
                <a:effectLst/>
                <a:latin typeface="Aptos Display" panose="020B0004020202020204" pitchFamily="34" charset="0"/>
              </a:rPr>
              <a:t>consequences of their actions, </a:t>
            </a:r>
            <a:r>
              <a:rPr lang="en-US" sz="2800" b="0" i="0" dirty="0">
                <a:solidFill>
                  <a:schemeClr val="tx1">
                    <a:lumMod val="95000"/>
                    <a:lumOff val="5000"/>
                  </a:schemeClr>
                </a:solidFill>
                <a:effectLst/>
                <a:latin typeface="Aptos Display" panose="020B0004020202020204" pitchFamily="34" charset="0"/>
              </a:rPr>
              <a:t>adjusting their internal models and decision-making approaches to achieve better outcomes in future interactions.</a:t>
            </a:r>
          </a:p>
          <a:p>
            <a:pPr marL="0" indent="0" algn="l" rtl="0" fontAlgn="base">
              <a:buNone/>
            </a:pPr>
            <a:r>
              <a:rPr lang="en-US" sz="2800" b="1" i="0" dirty="0">
                <a:solidFill>
                  <a:schemeClr val="tx1">
                    <a:lumMod val="95000"/>
                    <a:lumOff val="5000"/>
                  </a:schemeClr>
                </a:solidFill>
                <a:effectLst/>
                <a:latin typeface="Aptos Display" panose="020B0004020202020204" pitchFamily="34" charset="0"/>
              </a:rPr>
              <a:t>Key Features:</a:t>
            </a:r>
            <a:endParaRPr lang="en-US" sz="2800" b="0" i="0" dirty="0">
              <a:solidFill>
                <a:schemeClr val="tx1">
                  <a:lumMod val="95000"/>
                  <a:lumOff val="5000"/>
                </a:schemeClr>
              </a:solidFill>
              <a:effectLst/>
              <a:latin typeface="Aptos Display" panose="020B0004020202020204" pitchFamily="34" charset="0"/>
            </a:endParaRPr>
          </a:p>
          <a:p>
            <a:pPr algn="l" fontAlgn="base">
              <a:buFont typeface="Arial" panose="020B0604020202020204" pitchFamily="34" charset="0"/>
              <a:buChar char="•"/>
            </a:pPr>
            <a:r>
              <a:rPr lang="en-US" sz="2800" b="0" i="0" dirty="0">
                <a:solidFill>
                  <a:schemeClr val="tx1">
                    <a:lumMod val="95000"/>
                    <a:lumOff val="5000"/>
                  </a:schemeClr>
                </a:solidFill>
                <a:effectLst/>
                <a:latin typeface="Aptos Display" panose="020B0004020202020204" pitchFamily="34" charset="0"/>
              </a:rPr>
              <a:t>Adapt to changing environments</a:t>
            </a:r>
          </a:p>
          <a:p>
            <a:pPr algn="l" fontAlgn="base">
              <a:buFont typeface="Arial" panose="020B0604020202020204" pitchFamily="34" charset="0"/>
              <a:buChar char="•"/>
            </a:pPr>
            <a:r>
              <a:rPr lang="en-US" sz="2800" b="0" i="0" dirty="0">
                <a:solidFill>
                  <a:schemeClr val="tx1">
                    <a:lumMod val="95000"/>
                    <a:lumOff val="5000"/>
                  </a:schemeClr>
                </a:solidFill>
                <a:effectLst/>
                <a:latin typeface="Aptos Display" panose="020B0004020202020204" pitchFamily="34" charset="0"/>
              </a:rPr>
              <a:t>Improve performance with experience</a:t>
            </a:r>
          </a:p>
          <a:p>
            <a:pPr algn="l" fontAlgn="base">
              <a:buFont typeface="Arial" panose="020B0604020202020204" pitchFamily="34" charset="0"/>
              <a:buChar char="•"/>
            </a:pPr>
            <a:r>
              <a:rPr lang="en-US" sz="2800" b="0" i="0" dirty="0">
                <a:solidFill>
                  <a:schemeClr val="tx1">
                    <a:lumMod val="95000"/>
                    <a:lumOff val="5000"/>
                  </a:schemeClr>
                </a:solidFill>
                <a:effectLst/>
                <a:latin typeface="Aptos Display" panose="020B0004020202020204" pitchFamily="34" charset="0"/>
              </a:rPr>
              <a:t>Contain both a </a:t>
            </a:r>
            <a:r>
              <a:rPr lang="en-US" sz="2800" b="0" i="0" dirty="0">
                <a:solidFill>
                  <a:schemeClr val="tx1">
                    <a:lumMod val="95000"/>
                    <a:lumOff val="5000"/>
                  </a:schemeClr>
                </a:solidFill>
                <a:effectLst/>
                <a:highlight>
                  <a:srgbClr val="FFFF00"/>
                </a:highlight>
                <a:latin typeface="Aptos Display" panose="020B0004020202020204" pitchFamily="34" charset="0"/>
              </a:rPr>
              <a:t>performance element and a learning element</a:t>
            </a:r>
          </a:p>
          <a:p>
            <a:pPr algn="l" fontAlgn="base">
              <a:buFont typeface="Arial" panose="020B0604020202020204" pitchFamily="34" charset="0"/>
              <a:buChar char="•"/>
            </a:pPr>
            <a:r>
              <a:rPr lang="en-US" sz="2800" b="1" i="0" dirty="0">
                <a:solidFill>
                  <a:schemeClr val="tx1">
                    <a:lumMod val="95000"/>
                    <a:lumOff val="5000"/>
                  </a:schemeClr>
                </a:solidFill>
                <a:effectLst/>
                <a:latin typeface="Aptos Display" panose="020B0004020202020204" pitchFamily="34" charset="0"/>
              </a:rPr>
              <a:t>Generate new knowledge</a:t>
            </a:r>
            <a:r>
              <a:rPr lang="en-US" sz="2800" b="0" i="0" dirty="0">
                <a:solidFill>
                  <a:schemeClr val="tx1">
                    <a:lumMod val="95000"/>
                    <a:lumOff val="5000"/>
                  </a:schemeClr>
                </a:solidFill>
                <a:effectLst/>
                <a:latin typeface="Aptos Display" panose="020B0004020202020204" pitchFamily="34" charset="0"/>
              </a:rPr>
              <a:t> rather than simply applying existing rules</a:t>
            </a:r>
          </a:p>
          <a:p>
            <a:pPr algn="l" rtl="0" fontAlgn="base"/>
            <a:r>
              <a:rPr lang="en-US" sz="2800" b="0" i="0" dirty="0">
                <a:solidFill>
                  <a:schemeClr val="tx1">
                    <a:lumMod val="95000"/>
                    <a:lumOff val="5000"/>
                  </a:schemeClr>
                </a:solidFill>
                <a:effectLst/>
                <a:latin typeface="Aptos Display" panose="020B0004020202020204" pitchFamily="34" charset="0"/>
              </a:rPr>
              <a:t>For example, Customer service chatbots can improve response accuracy over time by learning from previous interactions and adapting to user needs.</a:t>
            </a:r>
          </a:p>
        </p:txBody>
      </p:sp>
    </p:spTree>
    <p:extLst>
      <p:ext uri="{BB962C8B-B14F-4D97-AF65-F5344CB8AC3E}">
        <p14:creationId xmlns:p14="http://schemas.microsoft.com/office/powerpoint/2010/main" val="440186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758251" y="1476729"/>
            <a:ext cx="10675497" cy="585536"/>
          </a:xfrm>
        </p:spPr>
        <p:txBody>
          <a:bodyPr>
            <a:normAutofit/>
          </a:bodyPr>
          <a:lstStyle/>
          <a:p>
            <a:pPr marL="0" indent="0" fontAlgn="base">
              <a:buNone/>
            </a:pPr>
            <a:r>
              <a:rPr lang="en-US" sz="2400" b="1" dirty="0">
                <a:solidFill>
                  <a:schemeClr val="tx1">
                    <a:lumMod val="95000"/>
                    <a:lumOff val="5000"/>
                  </a:schemeClr>
                </a:solidFill>
                <a:latin typeface="Aptos" panose="020B0004020202020204" pitchFamily="34" charset="0"/>
              </a:rPr>
              <a:t>5. Learning Agents</a:t>
            </a:r>
          </a:p>
        </p:txBody>
      </p:sp>
      <p:pic>
        <p:nvPicPr>
          <p:cNvPr id="5" name="Picture 4">
            <a:extLst>
              <a:ext uri="{FF2B5EF4-FFF2-40B4-BE49-F238E27FC236}">
                <a16:creationId xmlns:a16="http://schemas.microsoft.com/office/drawing/2014/main" id="{83C4A92E-18B7-946B-F2A9-E81C666CF40B}"/>
              </a:ext>
            </a:extLst>
          </p:cNvPr>
          <p:cNvPicPr>
            <a:picLocks noChangeAspect="1"/>
          </p:cNvPicPr>
          <p:nvPr/>
        </p:nvPicPr>
        <p:blipFill>
          <a:blip r:embed="rId2"/>
          <a:stretch>
            <a:fillRect/>
          </a:stretch>
        </p:blipFill>
        <p:spPr>
          <a:xfrm>
            <a:off x="1399888" y="2062265"/>
            <a:ext cx="9392221" cy="4712138"/>
          </a:xfrm>
          <a:prstGeom prst="rect">
            <a:avLst/>
          </a:prstGeom>
        </p:spPr>
      </p:pic>
    </p:spTree>
    <p:extLst>
      <p:ext uri="{BB962C8B-B14F-4D97-AF65-F5344CB8AC3E}">
        <p14:creationId xmlns:p14="http://schemas.microsoft.com/office/powerpoint/2010/main" val="2720417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758251" y="1574003"/>
            <a:ext cx="10675497" cy="5196447"/>
          </a:xfrm>
        </p:spPr>
        <p:txBody>
          <a:bodyPr>
            <a:normAutofit fontScale="85000" lnSpcReduction="10000"/>
          </a:bodyPr>
          <a:lstStyle/>
          <a:p>
            <a:pPr marL="0" indent="0" fontAlgn="base">
              <a:buNone/>
            </a:pPr>
            <a:r>
              <a:rPr lang="en-US" sz="2800" b="1" dirty="0">
                <a:solidFill>
                  <a:schemeClr val="tx1">
                    <a:lumMod val="95000"/>
                    <a:lumOff val="5000"/>
                  </a:schemeClr>
                </a:solidFill>
                <a:highlight>
                  <a:srgbClr val="FFFF00"/>
                </a:highlight>
                <a:latin typeface="Aptos" panose="020B0004020202020204" pitchFamily="34" charset="0"/>
              </a:rPr>
              <a:t>6. Multi-agent systems </a:t>
            </a:r>
          </a:p>
          <a:p>
            <a:pPr marL="0" indent="0" fontAlgn="base">
              <a:buNone/>
            </a:pPr>
            <a:r>
              <a:rPr lang="en-US" sz="2400" b="1" dirty="0">
                <a:solidFill>
                  <a:schemeClr val="tx1">
                    <a:lumMod val="95000"/>
                    <a:lumOff val="5000"/>
                  </a:schemeClr>
                </a:solidFill>
                <a:latin typeface="Aptos" panose="020B0004020202020204" pitchFamily="34" charset="0"/>
              </a:rPr>
              <a:t>Multi-agent systems </a:t>
            </a:r>
            <a:r>
              <a:rPr lang="en-US" sz="2400" b="0" i="0" dirty="0">
                <a:solidFill>
                  <a:schemeClr val="tx1">
                    <a:lumMod val="95000"/>
                    <a:lumOff val="5000"/>
                  </a:schemeClr>
                </a:solidFill>
                <a:effectLst/>
                <a:latin typeface="Aptos" panose="020B0004020202020204" pitchFamily="34" charset="0"/>
              </a:rPr>
              <a:t>consist of multiple autonomous agents that interact with each other within an environment. These agents may cooperate toward common goals, compete for resources or exhibit a mix of cooperative and competitive behaviors. Types of multi-agent systems:</a:t>
            </a:r>
          </a:p>
          <a:p>
            <a:pPr lvl="1" fontAlgn="base"/>
            <a:r>
              <a:rPr lang="en-US" b="1" i="0" dirty="0">
                <a:solidFill>
                  <a:schemeClr val="tx1">
                    <a:lumMod val="95000"/>
                    <a:lumOff val="5000"/>
                  </a:schemeClr>
                </a:solidFill>
                <a:effectLst/>
                <a:latin typeface="Aptos" panose="020B0004020202020204" pitchFamily="34" charset="0"/>
              </a:rPr>
              <a:t>Cooperative MAS:</a:t>
            </a:r>
            <a:r>
              <a:rPr lang="en-US" b="0" i="0" dirty="0">
                <a:solidFill>
                  <a:schemeClr val="tx1">
                    <a:lumMod val="95000"/>
                    <a:lumOff val="5000"/>
                  </a:schemeClr>
                </a:solidFill>
                <a:effectLst/>
                <a:latin typeface="Aptos" panose="020B0004020202020204" pitchFamily="34" charset="0"/>
              </a:rPr>
              <a:t> Agents work together toward shared objectives.</a:t>
            </a:r>
          </a:p>
          <a:p>
            <a:pPr lvl="1" fontAlgn="base"/>
            <a:r>
              <a:rPr lang="en-US" b="1" i="0" dirty="0">
                <a:solidFill>
                  <a:schemeClr val="tx1">
                    <a:lumMod val="95000"/>
                    <a:lumOff val="5000"/>
                  </a:schemeClr>
                </a:solidFill>
                <a:effectLst/>
                <a:latin typeface="Aptos" panose="020B0004020202020204" pitchFamily="34" charset="0"/>
              </a:rPr>
              <a:t>Competitive MAS:</a:t>
            </a:r>
            <a:r>
              <a:rPr lang="en-US" b="0" i="0" dirty="0">
                <a:solidFill>
                  <a:schemeClr val="tx1">
                    <a:lumMod val="95000"/>
                    <a:lumOff val="5000"/>
                  </a:schemeClr>
                </a:solidFill>
                <a:effectLst/>
                <a:latin typeface="Aptos" panose="020B0004020202020204" pitchFamily="34" charset="0"/>
              </a:rPr>
              <a:t> Agents pursue individual goals that may conflict. Game</a:t>
            </a:r>
          </a:p>
          <a:p>
            <a:pPr lvl="1" fontAlgn="base"/>
            <a:r>
              <a:rPr lang="en-US" b="1" i="0" dirty="0">
                <a:solidFill>
                  <a:schemeClr val="tx1">
                    <a:lumMod val="95000"/>
                    <a:lumOff val="5000"/>
                  </a:schemeClr>
                </a:solidFill>
                <a:effectLst/>
                <a:latin typeface="Aptos" panose="020B0004020202020204" pitchFamily="34" charset="0"/>
              </a:rPr>
              <a:t>Mixed MAS:</a:t>
            </a:r>
            <a:r>
              <a:rPr lang="en-US" b="0" i="0" dirty="0">
                <a:solidFill>
                  <a:schemeClr val="tx1">
                    <a:lumMod val="95000"/>
                    <a:lumOff val="5000"/>
                  </a:schemeClr>
                </a:solidFill>
                <a:effectLst/>
                <a:latin typeface="Aptos" panose="020B0004020202020204" pitchFamily="34" charset="0"/>
              </a:rPr>
              <a:t> Agents cooperate in some scenarios and compete in others.</a:t>
            </a:r>
          </a:p>
          <a:p>
            <a:pPr marL="0" indent="0" algn="l" rtl="0" fontAlgn="base">
              <a:buNone/>
            </a:pPr>
            <a:r>
              <a:rPr lang="en-US" sz="2400" b="1" i="0" dirty="0">
                <a:solidFill>
                  <a:schemeClr val="tx1">
                    <a:lumMod val="95000"/>
                    <a:lumOff val="5000"/>
                  </a:schemeClr>
                </a:solidFill>
                <a:effectLst/>
                <a:latin typeface="Aptos" panose="020B0004020202020204" pitchFamily="34" charset="0"/>
              </a:rPr>
              <a:t>Key Features:</a:t>
            </a:r>
            <a:endParaRPr lang="en-US" sz="2400" b="0" i="0" dirty="0">
              <a:solidFill>
                <a:schemeClr val="tx1">
                  <a:lumMod val="95000"/>
                  <a:lumOff val="5000"/>
                </a:schemeClr>
              </a:solidFill>
              <a:effectLst/>
              <a:latin typeface="Aptos" panose="020B0004020202020204" pitchFamily="34" charset="0"/>
            </a:endParaRP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Agents act independently and control their own state.</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Agents align, collaborate or compete to reach goals.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The system remains resilient if individual agents fail.</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Decisions are distributed; there’s no single controller.</a:t>
            </a:r>
          </a:p>
          <a:p>
            <a:pPr marL="0" indent="0" algn="l" rtl="0" fontAlgn="base">
              <a:buNone/>
            </a:pPr>
            <a:r>
              <a:rPr lang="en-US" sz="2400" b="1" i="0" dirty="0">
                <a:solidFill>
                  <a:schemeClr val="tx1">
                    <a:lumMod val="95000"/>
                    <a:lumOff val="5000"/>
                  </a:schemeClr>
                </a:solidFill>
                <a:effectLst/>
                <a:latin typeface="Aptos" panose="020B0004020202020204" pitchFamily="34" charset="0"/>
              </a:rPr>
              <a:t>For example</a:t>
            </a:r>
            <a:r>
              <a:rPr lang="en-US" sz="2400" b="0" i="0" dirty="0">
                <a:solidFill>
                  <a:schemeClr val="tx1">
                    <a:lumMod val="95000"/>
                    <a:lumOff val="5000"/>
                  </a:schemeClr>
                </a:solidFill>
                <a:effectLst/>
                <a:latin typeface="Aptos" panose="020B0004020202020204" pitchFamily="34" charset="0"/>
              </a:rPr>
              <a:t>, a warehouse robot might use:</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Model-based reflexes for navigation. Goal-based planning for task sequencing. Utility-based decision-making for prioritizing tasks. Learning capabilities for route optimization</a:t>
            </a:r>
          </a:p>
        </p:txBody>
      </p:sp>
    </p:spTree>
    <p:extLst>
      <p:ext uri="{BB962C8B-B14F-4D97-AF65-F5344CB8AC3E}">
        <p14:creationId xmlns:p14="http://schemas.microsoft.com/office/powerpoint/2010/main" val="2034710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758251" y="1661552"/>
            <a:ext cx="10675497" cy="546627"/>
          </a:xfrm>
        </p:spPr>
        <p:txBody>
          <a:bodyPr>
            <a:normAutofit/>
          </a:bodyPr>
          <a:lstStyle/>
          <a:p>
            <a:pPr marL="0" indent="0" fontAlgn="base">
              <a:buNone/>
            </a:pPr>
            <a:r>
              <a:rPr lang="en-US" sz="2800" b="1" dirty="0">
                <a:solidFill>
                  <a:schemeClr val="tx1">
                    <a:lumMod val="95000"/>
                    <a:lumOff val="5000"/>
                  </a:schemeClr>
                </a:solidFill>
                <a:highlight>
                  <a:srgbClr val="FFFF00"/>
                </a:highlight>
                <a:latin typeface="Aptos" panose="020B0004020202020204" pitchFamily="34" charset="0"/>
              </a:rPr>
              <a:t>6. Multi-agent systems </a:t>
            </a:r>
          </a:p>
        </p:txBody>
      </p:sp>
      <p:pic>
        <p:nvPicPr>
          <p:cNvPr id="5" name="Picture 4">
            <a:extLst>
              <a:ext uri="{FF2B5EF4-FFF2-40B4-BE49-F238E27FC236}">
                <a16:creationId xmlns:a16="http://schemas.microsoft.com/office/drawing/2014/main" id="{D75EED1E-082F-CAB2-A61F-BD32E5441B9F}"/>
              </a:ext>
            </a:extLst>
          </p:cNvPr>
          <p:cNvPicPr>
            <a:picLocks noChangeAspect="1"/>
          </p:cNvPicPr>
          <p:nvPr/>
        </p:nvPicPr>
        <p:blipFill>
          <a:blip r:embed="rId2"/>
          <a:srcRect l="5557"/>
          <a:stretch/>
        </p:blipFill>
        <p:spPr>
          <a:xfrm>
            <a:off x="2230066" y="2283016"/>
            <a:ext cx="7731868" cy="4357218"/>
          </a:xfrm>
          <a:prstGeom prst="rect">
            <a:avLst/>
          </a:prstGeom>
        </p:spPr>
      </p:pic>
    </p:spTree>
    <p:extLst>
      <p:ext uri="{BB962C8B-B14F-4D97-AF65-F5344CB8AC3E}">
        <p14:creationId xmlns:p14="http://schemas.microsoft.com/office/powerpoint/2010/main" val="273277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758251" y="1661552"/>
            <a:ext cx="10675497" cy="5196447"/>
          </a:xfrm>
        </p:spPr>
        <p:txBody>
          <a:bodyPr>
            <a:normAutofit/>
          </a:bodyPr>
          <a:lstStyle/>
          <a:p>
            <a:pPr marL="0" indent="0" fontAlgn="base">
              <a:buNone/>
            </a:pPr>
            <a:r>
              <a:rPr lang="en-US" sz="3200" b="1" dirty="0">
                <a:solidFill>
                  <a:schemeClr val="tx1">
                    <a:lumMod val="95000"/>
                    <a:lumOff val="5000"/>
                  </a:schemeClr>
                </a:solidFill>
                <a:highlight>
                  <a:srgbClr val="FFFF00"/>
                </a:highlight>
                <a:latin typeface="Aptos" panose="020B0004020202020204" pitchFamily="34" charset="0"/>
              </a:rPr>
              <a:t>7. Hierarchical agents</a:t>
            </a:r>
          </a:p>
          <a:p>
            <a:pPr marL="0" indent="0" algn="l" rtl="0" fontAlgn="base">
              <a:buNone/>
            </a:pPr>
            <a:r>
              <a:rPr lang="en-US" sz="2400" b="0" i="0" dirty="0">
                <a:solidFill>
                  <a:schemeClr val="tx1">
                    <a:lumMod val="95000"/>
                    <a:lumOff val="5000"/>
                  </a:schemeClr>
                </a:solidFill>
                <a:effectLst/>
                <a:latin typeface="Aptos" panose="020B0004020202020204" pitchFamily="34" charset="0"/>
              </a:rPr>
              <a:t>Hierarchical agents organize decision-making across multiple levels, with high-level agents making strategic decisions and delegating specific tasks to lower-level agents. This structure mirrors many human organizations and allows for managing problems at appropriate levels of abstraction.</a:t>
            </a:r>
          </a:p>
          <a:p>
            <a:pPr marL="0" indent="0" algn="l" rtl="0" fontAlgn="base">
              <a:buNone/>
            </a:pPr>
            <a:r>
              <a:rPr lang="en-US" sz="2400" b="1" i="0" dirty="0">
                <a:solidFill>
                  <a:schemeClr val="tx1">
                    <a:lumMod val="95000"/>
                    <a:lumOff val="5000"/>
                  </a:schemeClr>
                </a:solidFill>
                <a:effectLst/>
                <a:latin typeface="Aptos" panose="020B0004020202020204" pitchFamily="34" charset="0"/>
              </a:rPr>
              <a:t>Key Features:</a:t>
            </a:r>
            <a:endParaRPr lang="en-US" sz="2400" b="0" i="0" dirty="0">
              <a:solidFill>
                <a:schemeClr val="tx1">
                  <a:lumMod val="95000"/>
                  <a:lumOff val="5000"/>
                </a:schemeClr>
              </a:solidFill>
              <a:effectLst/>
              <a:latin typeface="Aptos" panose="020B0004020202020204" pitchFamily="34" charset="0"/>
            </a:endParaRPr>
          </a:p>
          <a:p>
            <a:pPr algn="l" fontAlgn="base">
              <a:buFont typeface="Arial" panose="020B0604020202020204" pitchFamily="34" charset="0"/>
              <a:buChar char="•"/>
            </a:pPr>
            <a:r>
              <a:rPr lang="en-US" sz="2400" b="0" i="0" dirty="0">
                <a:solidFill>
                  <a:schemeClr val="tx1">
                    <a:lumMod val="95000"/>
                    <a:lumOff val="5000"/>
                  </a:schemeClr>
                </a:solidFill>
                <a:effectLst/>
                <a:highlight>
                  <a:srgbClr val="FFFF00"/>
                </a:highlight>
                <a:latin typeface="Aptos" panose="020B0004020202020204" pitchFamily="34" charset="0"/>
              </a:rPr>
              <a:t>Division of responsibilities across multiple levels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Abstract decision-making at higher levels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Detailed execution at lower levels</a:t>
            </a:r>
          </a:p>
          <a:p>
            <a:pPr algn="l" fontAlgn="base">
              <a:buFont typeface="Arial" panose="020B0604020202020204" pitchFamily="34" charset="0"/>
              <a:buChar char="•"/>
            </a:pPr>
            <a:r>
              <a:rPr lang="en-US" sz="2400" b="0" i="0" dirty="0">
                <a:solidFill>
                  <a:schemeClr val="tx1">
                    <a:lumMod val="95000"/>
                    <a:lumOff val="5000"/>
                  </a:schemeClr>
                </a:solidFill>
                <a:effectLst/>
                <a:latin typeface="Aptos" panose="020B0004020202020204" pitchFamily="34" charset="0"/>
              </a:rPr>
              <a:t>Simplified information flow (</a:t>
            </a:r>
            <a:r>
              <a:rPr lang="en-US" sz="2400" b="0" i="0" dirty="0">
                <a:solidFill>
                  <a:schemeClr val="tx1">
                    <a:lumMod val="95000"/>
                    <a:lumOff val="5000"/>
                  </a:schemeClr>
                </a:solidFill>
                <a:effectLst/>
                <a:highlight>
                  <a:srgbClr val="FFFF00"/>
                </a:highlight>
                <a:latin typeface="Aptos" panose="020B0004020202020204" pitchFamily="34" charset="0"/>
              </a:rPr>
              <a:t>higher levels receive summarized data</a:t>
            </a:r>
            <a:r>
              <a:rPr lang="en-US" sz="2400" b="0" i="0" dirty="0">
                <a:solidFill>
                  <a:schemeClr val="tx1">
                    <a:lumMod val="95000"/>
                    <a:lumOff val="5000"/>
                  </a:schemeClr>
                </a:solidFill>
                <a:effectLst/>
                <a:latin typeface="Aptos" panose="020B0004020202020204" pitchFamily="34" charset="0"/>
              </a:rPr>
              <a:t>)</a:t>
            </a:r>
          </a:p>
          <a:p>
            <a:pPr algn="l" rtl="0" fontAlgn="base"/>
            <a:r>
              <a:rPr lang="en-US" sz="2400" b="0" i="0" dirty="0">
                <a:solidFill>
                  <a:schemeClr val="tx1">
                    <a:lumMod val="95000"/>
                    <a:lumOff val="5000"/>
                  </a:schemeClr>
                </a:solidFill>
                <a:effectLst/>
                <a:latin typeface="Aptos" panose="020B0004020202020204" pitchFamily="34" charset="0"/>
              </a:rPr>
              <a:t>For example, Drone delivery systems in which fleet management is done at top level and individual navigation at lower level.</a:t>
            </a:r>
          </a:p>
        </p:txBody>
      </p:sp>
    </p:spTree>
    <p:extLst>
      <p:ext uri="{BB962C8B-B14F-4D97-AF65-F5344CB8AC3E}">
        <p14:creationId xmlns:p14="http://schemas.microsoft.com/office/powerpoint/2010/main" val="3632160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0A8CA-14DD-F38A-4DF4-0F031DD096CB}"/>
              </a:ext>
            </a:extLst>
          </p:cNvPr>
          <p:cNvSpPr>
            <a:spLocks noGrp="1"/>
          </p:cNvSpPr>
          <p:nvPr>
            <p:ph type="title"/>
          </p:nvPr>
        </p:nvSpPr>
        <p:spPr>
          <a:xfrm>
            <a:off x="2632955" y="563079"/>
            <a:ext cx="8610600" cy="1293028"/>
          </a:xfrm>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Types of Agents in AI</a:t>
            </a:r>
          </a:p>
        </p:txBody>
      </p:sp>
      <p:sp>
        <p:nvSpPr>
          <p:cNvPr id="3" name="Content Placeholder 2">
            <a:extLst>
              <a:ext uri="{FF2B5EF4-FFF2-40B4-BE49-F238E27FC236}">
                <a16:creationId xmlns:a16="http://schemas.microsoft.com/office/drawing/2014/main" id="{0E8F0CA0-C263-C0E6-26ED-1F68B0D82BAA}"/>
              </a:ext>
            </a:extLst>
          </p:cNvPr>
          <p:cNvSpPr>
            <a:spLocks noGrp="1"/>
          </p:cNvSpPr>
          <p:nvPr>
            <p:ph sz="quarter" idx="13"/>
          </p:nvPr>
        </p:nvSpPr>
        <p:spPr>
          <a:xfrm>
            <a:off x="758251" y="1661553"/>
            <a:ext cx="10675497" cy="517444"/>
          </a:xfrm>
        </p:spPr>
        <p:txBody>
          <a:bodyPr>
            <a:normAutofit/>
          </a:bodyPr>
          <a:lstStyle/>
          <a:p>
            <a:pPr marL="0" indent="0" fontAlgn="base">
              <a:buNone/>
            </a:pPr>
            <a:r>
              <a:rPr lang="en-US" sz="2400" b="1" dirty="0">
                <a:solidFill>
                  <a:schemeClr val="tx1">
                    <a:lumMod val="95000"/>
                    <a:lumOff val="5000"/>
                  </a:schemeClr>
                </a:solidFill>
                <a:highlight>
                  <a:srgbClr val="FFFF00"/>
                </a:highlight>
                <a:latin typeface="Aptos" panose="020B0004020202020204" pitchFamily="34" charset="0"/>
              </a:rPr>
              <a:t>7. Hierarchical agents</a:t>
            </a:r>
          </a:p>
        </p:txBody>
      </p:sp>
      <p:pic>
        <p:nvPicPr>
          <p:cNvPr id="5" name="Picture 4">
            <a:extLst>
              <a:ext uri="{FF2B5EF4-FFF2-40B4-BE49-F238E27FC236}">
                <a16:creationId xmlns:a16="http://schemas.microsoft.com/office/drawing/2014/main" id="{BA2ABE40-DDE0-C4D3-34AE-1D8EA6F2F250}"/>
              </a:ext>
            </a:extLst>
          </p:cNvPr>
          <p:cNvPicPr>
            <a:picLocks noChangeAspect="1"/>
          </p:cNvPicPr>
          <p:nvPr/>
        </p:nvPicPr>
        <p:blipFill>
          <a:blip r:embed="rId2"/>
          <a:stretch>
            <a:fillRect/>
          </a:stretch>
        </p:blipFill>
        <p:spPr>
          <a:xfrm>
            <a:off x="1359845" y="2178997"/>
            <a:ext cx="9312809" cy="4528832"/>
          </a:xfrm>
          <a:prstGeom prst="rect">
            <a:avLst/>
          </a:prstGeom>
        </p:spPr>
      </p:pic>
    </p:spTree>
    <p:extLst>
      <p:ext uri="{BB962C8B-B14F-4D97-AF65-F5344CB8AC3E}">
        <p14:creationId xmlns:p14="http://schemas.microsoft.com/office/powerpoint/2010/main" val="2432854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80F88-4A71-12CE-8675-D0655E08F80D}"/>
              </a:ext>
            </a:extLst>
          </p:cNvPr>
          <p:cNvSpPr>
            <a:spLocks noGrp="1"/>
          </p:cNvSpPr>
          <p:nvPr>
            <p:ph type="title"/>
          </p:nvPr>
        </p:nvSpPr>
        <p:spPr/>
        <p:txBody>
          <a:bodyPr/>
          <a:lstStyle/>
          <a:p>
            <a:r>
              <a:rPr lang="en-US" b="1" kern="100" cap="none" dirty="0">
                <a:solidFill>
                  <a:srgbClr val="0D0D0D"/>
                </a:solidFill>
                <a:latin typeface="Aptos" panose="020B0004020202020204" pitchFamily="34" charset="0"/>
                <a:ea typeface="Aptos" panose="020B0004020202020204" pitchFamily="34" charset="0"/>
                <a:cs typeface="Times New Roman" panose="02020603050405020304" pitchFamily="18" charset="0"/>
              </a:rPr>
              <a:t>Agents in AI</a:t>
            </a:r>
            <a:endParaRPr lang="en-US" dirty="0"/>
          </a:p>
        </p:txBody>
      </p:sp>
      <p:sp>
        <p:nvSpPr>
          <p:cNvPr id="3" name="Content Placeholder 2">
            <a:extLst>
              <a:ext uri="{FF2B5EF4-FFF2-40B4-BE49-F238E27FC236}">
                <a16:creationId xmlns:a16="http://schemas.microsoft.com/office/drawing/2014/main" id="{A5DE640F-4B79-5ED4-D2C7-1F25FECB80F1}"/>
              </a:ext>
            </a:extLst>
          </p:cNvPr>
          <p:cNvSpPr>
            <a:spLocks noGrp="1"/>
          </p:cNvSpPr>
          <p:nvPr>
            <p:ph sz="quarter" idx="13"/>
          </p:nvPr>
        </p:nvSpPr>
        <p:spPr>
          <a:xfrm>
            <a:off x="452338" y="2516114"/>
            <a:ext cx="5111884" cy="3782927"/>
          </a:xfrm>
        </p:spPr>
        <p:txBody>
          <a:bodyPr>
            <a:normAutofit/>
          </a:bodyPr>
          <a:lstStyle/>
          <a:p>
            <a:pPr marL="0" indent="0" algn="l" fontAlgn="base">
              <a:buNone/>
            </a:pPr>
            <a:r>
              <a:rPr lang="en-US" b="1" i="0" dirty="0">
                <a:solidFill>
                  <a:schemeClr val="tx1">
                    <a:lumMod val="95000"/>
                    <a:lumOff val="5000"/>
                  </a:schemeClr>
                </a:solidFill>
                <a:effectLst/>
                <a:latin typeface="Aptos" panose="020B0004020202020204" pitchFamily="34" charset="0"/>
              </a:rPr>
              <a:t>Benefits of AI Agents</a:t>
            </a:r>
          </a:p>
          <a:p>
            <a:pPr algn="l" fontAlgn="base">
              <a:buFont typeface="Arial" panose="020B0604020202020204" pitchFamily="34" charset="0"/>
              <a:buChar char="•"/>
            </a:pPr>
            <a:r>
              <a:rPr lang="en-US" b="0" i="0" dirty="0">
                <a:solidFill>
                  <a:schemeClr val="tx1">
                    <a:lumMod val="95000"/>
                    <a:lumOff val="5000"/>
                  </a:schemeClr>
                </a:solidFill>
                <a:effectLst/>
                <a:latin typeface="Aptos" panose="020B0004020202020204" pitchFamily="34" charset="0"/>
              </a:rPr>
              <a:t>Fast and efficient operations.</a:t>
            </a:r>
          </a:p>
          <a:p>
            <a:pPr algn="l" fontAlgn="base">
              <a:buFont typeface="Arial" panose="020B0604020202020204" pitchFamily="34" charset="0"/>
              <a:buChar char="•"/>
            </a:pPr>
            <a:r>
              <a:rPr lang="en-US" b="0" i="0" dirty="0">
                <a:solidFill>
                  <a:schemeClr val="tx1">
                    <a:lumMod val="95000"/>
                    <a:lumOff val="5000"/>
                  </a:schemeClr>
                </a:solidFill>
                <a:effectLst/>
                <a:latin typeface="Aptos" panose="020B0004020202020204" pitchFamily="34" charset="0"/>
              </a:rPr>
              <a:t>Adapt and learn from experience.</a:t>
            </a:r>
          </a:p>
          <a:p>
            <a:pPr algn="l" fontAlgn="base">
              <a:buFont typeface="Arial" panose="020B0604020202020204" pitchFamily="34" charset="0"/>
              <a:buChar char="•"/>
            </a:pPr>
            <a:r>
              <a:rPr lang="en-US" b="0" i="0" dirty="0">
                <a:solidFill>
                  <a:schemeClr val="tx1">
                    <a:lumMod val="95000"/>
                    <a:lumOff val="5000"/>
                  </a:schemeClr>
                </a:solidFill>
                <a:effectLst/>
                <a:latin typeface="Aptos" panose="020B0004020202020204" pitchFamily="34" charset="0"/>
              </a:rPr>
              <a:t>Scalable for large or complex problems.</a:t>
            </a:r>
          </a:p>
          <a:p>
            <a:pPr algn="l" fontAlgn="base">
              <a:buFont typeface="Arial" panose="020B0604020202020204" pitchFamily="34" charset="0"/>
              <a:buChar char="•"/>
            </a:pPr>
            <a:r>
              <a:rPr lang="en-US" b="0" i="0" dirty="0">
                <a:solidFill>
                  <a:schemeClr val="tx1">
                    <a:lumMod val="95000"/>
                    <a:lumOff val="5000"/>
                  </a:schemeClr>
                </a:solidFill>
                <a:effectLst/>
                <a:latin typeface="Aptos" panose="020B0004020202020204" pitchFamily="34" charset="0"/>
              </a:rPr>
              <a:t>Operate autonomously with minimal human input.</a:t>
            </a:r>
          </a:p>
          <a:p>
            <a:pPr algn="l" fontAlgn="base">
              <a:buFont typeface="Arial" panose="020B0604020202020204" pitchFamily="34" charset="0"/>
              <a:buChar char="•"/>
            </a:pPr>
            <a:r>
              <a:rPr lang="en-US" b="0" i="0" dirty="0">
                <a:solidFill>
                  <a:schemeClr val="tx1">
                    <a:lumMod val="95000"/>
                    <a:lumOff val="5000"/>
                  </a:schemeClr>
                </a:solidFill>
                <a:effectLst/>
                <a:latin typeface="Aptos" panose="020B0004020202020204" pitchFamily="34" charset="0"/>
              </a:rPr>
              <a:t>Consistent, reliable task performance.</a:t>
            </a:r>
          </a:p>
        </p:txBody>
      </p:sp>
      <p:sp>
        <p:nvSpPr>
          <p:cNvPr id="4" name="Content Placeholder 2">
            <a:extLst>
              <a:ext uri="{FF2B5EF4-FFF2-40B4-BE49-F238E27FC236}">
                <a16:creationId xmlns:a16="http://schemas.microsoft.com/office/drawing/2014/main" id="{B8A84F49-7E41-02CC-F2A8-3A401A64F4FC}"/>
              </a:ext>
            </a:extLst>
          </p:cNvPr>
          <p:cNvSpPr txBox="1">
            <a:spLocks/>
          </p:cNvSpPr>
          <p:nvPr/>
        </p:nvSpPr>
        <p:spPr>
          <a:xfrm>
            <a:off x="6096000" y="2485955"/>
            <a:ext cx="5583677" cy="380000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fontAlgn="base">
              <a:buFont typeface="Arial" panose="020B0604020202020204" pitchFamily="34" charset="0"/>
              <a:buNone/>
            </a:pPr>
            <a:r>
              <a:rPr lang="en-US" b="1" dirty="0">
                <a:solidFill>
                  <a:schemeClr val="tx1">
                    <a:lumMod val="95000"/>
                    <a:lumOff val="5000"/>
                  </a:schemeClr>
                </a:solidFill>
                <a:latin typeface="Aptos" panose="020B0004020202020204" pitchFamily="34" charset="0"/>
              </a:rPr>
              <a:t>Limitations:</a:t>
            </a:r>
          </a:p>
          <a:p>
            <a:pPr fontAlgn="base"/>
            <a:r>
              <a:rPr lang="en-US" dirty="0">
                <a:solidFill>
                  <a:schemeClr val="tx1">
                    <a:lumMod val="95000"/>
                    <a:lumOff val="5000"/>
                  </a:schemeClr>
                </a:solidFill>
                <a:latin typeface="Aptos" panose="020B0004020202020204" pitchFamily="34" charset="0"/>
              </a:rPr>
              <a:t>Struggle with complex or unpredictable environments.</a:t>
            </a:r>
          </a:p>
          <a:p>
            <a:pPr fontAlgn="base"/>
            <a:r>
              <a:rPr lang="en-US" dirty="0">
                <a:solidFill>
                  <a:schemeClr val="tx1">
                    <a:lumMod val="95000"/>
                    <a:lumOff val="5000"/>
                  </a:schemeClr>
                </a:solidFill>
                <a:latin typeface="Aptos" panose="020B0004020202020204" pitchFamily="34" charset="0"/>
              </a:rPr>
              <a:t>High computational needs for learning and planning.</a:t>
            </a:r>
          </a:p>
          <a:p>
            <a:pPr fontAlgn="base"/>
            <a:r>
              <a:rPr lang="en-US" dirty="0">
                <a:solidFill>
                  <a:schemeClr val="tx1">
                    <a:lumMod val="95000"/>
                    <a:lumOff val="5000"/>
                  </a:schemeClr>
                </a:solidFill>
                <a:latin typeface="Aptos" panose="020B0004020202020204" pitchFamily="34" charset="0"/>
              </a:rPr>
              <a:t>Communication issues in multi-agent setups.</a:t>
            </a:r>
          </a:p>
          <a:p>
            <a:pPr fontAlgn="base"/>
            <a:r>
              <a:rPr lang="en-US" dirty="0">
                <a:solidFill>
                  <a:schemeClr val="tx1">
                    <a:lumMod val="95000"/>
                    <a:lumOff val="5000"/>
                  </a:schemeClr>
                </a:solidFill>
                <a:latin typeface="Aptos" panose="020B0004020202020204" pitchFamily="34" charset="0"/>
              </a:rPr>
              <a:t>Risk of bias or unintended actions.</a:t>
            </a:r>
          </a:p>
          <a:p>
            <a:pPr fontAlgn="base"/>
            <a:r>
              <a:rPr lang="en-US" dirty="0">
                <a:solidFill>
                  <a:schemeClr val="tx1">
                    <a:lumMod val="95000"/>
                    <a:lumOff val="5000"/>
                  </a:schemeClr>
                </a:solidFill>
                <a:latin typeface="Aptos" panose="020B0004020202020204" pitchFamily="34" charset="0"/>
              </a:rPr>
              <a:t>Challenges in designing clear goals and utility functions.</a:t>
            </a:r>
          </a:p>
        </p:txBody>
      </p:sp>
    </p:spTree>
    <p:extLst>
      <p:ext uri="{BB962C8B-B14F-4D97-AF65-F5344CB8AC3E}">
        <p14:creationId xmlns:p14="http://schemas.microsoft.com/office/powerpoint/2010/main" val="4211597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9041B-A5F6-6C4B-00BB-6028A49C8A76}"/>
              </a:ext>
            </a:extLst>
          </p:cNvPr>
          <p:cNvSpPr>
            <a:spLocks noGrp="1"/>
          </p:cNvSpPr>
          <p:nvPr>
            <p:ph type="title"/>
          </p:nvPr>
        </p:nvSpPr>
        <p:spPr/>
        <p:txBody>
          <a:bodyPr>
            <a:normAutofit/>
          </a:bodyPr>
          <a:lstStyle/>
          <a:p>
            <a:r>
              <a:rPr lang="en-US" sz="3200" b="1" cap="none" dirty="0">
                <a:latin typeface="Aptos Display" panose="020B0004020202020204" pitchFamily="34" charset="0"/>
              </a:rPr>
              <a:t>Using artificial intelligence in real life</a:t>
            </a:r>
          </a:p>
        </p:txBody>
      </p:sp>
      <p:pic>
        <p:nvPicPr>
          <p:cNvPr id="6" name="Picture 5">
            <a:extLst>
              <a:ext uri="{FF2B5EF4-FFF2-40B4-BE49-F238E27FC236}">
                <a16:creationId xmlns:a16="http://schemas.microsoft.com/office/drawing/2014/main" id="{A86410FB-72EC-C419-B403-3A03E98600C4}"/>
              </a:ext>
            </a:extLst>
          </p:cNvPr>
          <p:cNvPicPr>
            <a:picLocks noChangeAspect="1"/>
          </p:cNvPicPr>
          <p:nvPr/>
        </p:nvPicPr>
        <p:blipFill>
          <a:blip r:embed="rId2"/>
          <a:srcRect t="17664"/>
          <a:stretch/>
        </p:blipFill>
        <p:spPr>
          <a:xfrm>
            <a:off x="452831" y="2057402"/>
            <a:ext cx="11286340" cy="4404097"/>
          </a:xfrm>
          <a:prstGeom prst="rect">
            <a:avLst/>
          </a:prstGeom>
        </p:spPr>
      </p:pic>
    </p:spTree>
    <p:extLst>
      <p:ext uri="{BB962C8B-B14F-4D97-AF65-F5344CB8AC3E}">
        <p14:creationId xmlns:p14="http://schemas.microsoft.com/office/powerpoint/2010/main" val="355006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F86B-0EB2-62F7-50F2-AF0BA0772D52}"/>
              </a:ext>
            </a:extLst>
          </p:cNvPr>
          <p:cNvSpPr>
            <a:spLocks noGrp="1"/>
          </p:cNvSpPr>
          <p:nvPr>
            <p:ph type="title"/>
          </p:nvPr>
        </p:nvSpPr>
        <p:spPr/>
        <p:txBody>
          <a:bodyPr/>
          <a:lstStyle/>
          <a:p>
            <a:r>
              <a:rPr lang="en-US" b="1" cap="none" dirty="0">
                <a:latin typeface="Aptos Display" panose="020B0004020202020204" pitchFamily="34" charset="0"/>
              </a:rPr>
              <a:t>History and evolution of AI</a:t>
            </a:r>
            <a:endParaRPr lang="en-US" cap="none"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B8448991-B6E0-7DC4-D972-56D4E1E040A4}"/>
              </a:ext>
            </a:extLst>
          </p:cNvPr>
          <p:cNvSpPr>
            <a:spLocks noGrp="1"/>
          </p:cNvSpPr>
          <p:nvPr>
            <p:ph sz="quarter" idx="13"/>
          </p:nvPr>
        </p:nvSpPr>
        <p:spPr>
          <a:xfrm>
            <a:off x="685801" y="2063396"/>
            <a:ext cx="10394707" cy="4551413"/>
          </a:xfrm>
        </p:spPr>
        <p:txBody>
          <a:bodyPr>
            <a:normAutofit lnSpcReduction="10000"/>
          </a:bodyPr>
          <a:lstStyle/>
          <a:p>
            <a:pPr>
              <a:buFont typeface="Arial" panose="020B0604020202020204" pitchFamily="34" charset="0"/>
              <a:buChar char="•"/>
            </a:pPr>
            <a:r>
              <a:rPr lang="en-US" sz="2800" b="1" dirty="0">
                <a:solidFill>
                  <a:schemeClr val="tx1">
                    <a:lumMod val="95000"/>
                    <a:lumOff val="5000"/>
                  </a:schemeClr>
                </a:solidFill>
                <a:latin typeface="Aptos Display" panose="020B0004020202020204" pitchFamily="34" charset="0"/>
              </a:rPr>
              <a:t>1950:</a:t>
            </a:r>
            <a:r>
              <a:rPr lang="en-US" sz="2800" dirty="0">
                <a:solidFill>
                  <a:schemeClr val="tx1">
                    <a:lumMod val="95000"/>
                    <a:lumOff val="5000"/>
                  </a:schemeClr>
                </a:solidFill>
                <a:latin typeface="Aptos Display" panose="020B0004020202020204" pitchFamily="34" charset="0"/>
              </a:rPr>
              <a:t> Alan Turing proposed the concept of machine intelligence and the </a:t>
            </a:r>
            <a:r>
              <a:rPr lang="en-US" sz="2800" i="1" dirty="0">
                <a:solidFill>
                  <a:schemeClr val="tx1">
                    <a:lumMod val="95000"/>
                    <a:lumOff val="5000"/>
                  </a:schemeClr>
                </a:solidFill>
                <a:latin typeface="Aptos Display" panose="020B0004020202020204" pitchFamily="34" charset="0"/>
              </a:rPr>
              <a:t>Turing Test</a:t>
            </a:r>
            <a:r>
              <a:rPr lang="en-US" sz="2800" dirty="0">
                <a:solidFill>
                  <a:schemeClr val="tx1">
                    <a:lumMod val="95000"/>
                    <a:lumOff val="5000"/>
                  </a:schemeClr>
                </a:solidFill>
                <a:latin typeface="Aptos Display" panose="020B0004020202020204" pitchFamily="34" charset="0"/>
              </a:rPr>
              <a:t>. “</a:t>
            </a:r>
            <a:r>
              <a:rPr lang="en-US" sz="2800" dirty="0">
                <a:solidFill>
                  <a:schemeClr val="tx1">
                    <a:lumMod val="95000"/>
                    <a:lumOff val="5000"/>
                  </a:schemeClr>
                </a:solidFill>
                <a:highlight>
                  <a:srgbClr val="FFFF00"/>
                </a:highlight>
                <a:latin typeface="Aptos Display" panose="020B0004020202020204" pitchFamily="34" charset="0"/>
              </a:rPr>
              <a:t>can machine think like human</a:t>
            </a:r>
            <a:r>
              <a:rPr lang="en-US" sz="2800" dirty="0">
                <a:solidFill>
                  <a:schemeClr val="tx1">
                    <a:lumMod val="95000"/>
                    <a:lumOff val="5000"/>
                  </a:schemeClr>
                </a:solidFill>
                <a:latin typeface="Aptos Display" panose="020B0004020202020204" pitchFamily="34" charset="0"/>
              </a:rPr>
              <a:t>” (Turing test)</a:t>
            </a:r>
          </a:p>
          <a:p>
            <a:pPr>
              <a:buFont typeface="Arial" panose="020B0604020202020204" pitchFamily="34" charset="0"/>
              <a:buChar char="•"/>
            </a:pPr>
            <a:r>
              <a:rPr lang="en-US" sz="2800" b="1" dirty="0">
                <a:solidFill>
                  <a:schemeClr val="tx1">
                    <a:lumMod val="95000"/>
                    <a:lumOff val="5000"/>
                  </a:schemeClr>
                </a:solidFill>
                <a:latin typeface="Aptos Display" panose="020B0004020202020204" pitchFamily="34" charset="0"/>
              </a:rPr>
              <a:t>1956:</a:t>
            </a:r>
            <a:r>
              <a:rPr lang="en-US" sz="2800" dirty="0">
                <a:solidFill>
                  <a:schemeClr val="tx1">
                    <a:lumMod val="95000"/>
                    <a:lumOff val="5000"/>
                  </a:schemeClr>
                </a:solidFill>
                <a:latin typeface="Aptos Display" panose="020B0004020202020204" pitchFamily="34" charset="0"/>
              </a:rPr>
              <a:t> The term </a:t>
            </a:r>
            <a:r>
              <a:rPr lang="en-US" sz="2800" i="1" dirty="0">
                <a:solidFill>
                  <a:schemeClr val="tx1">
                    <a:lumMod val="95000"/>
                    <a:lumOff val="5000"/>
                  </a:schemeClr>
                </a:solidFill>
                <a:highlight>
                  <a:srgbClr val="FFFF00"/>
                </a:highlight>
                <a:latin typeface="Aptos Display" panose="020B0004020202020204" pitchFamily="34" charset="0"/>
              </a:rPr>
              <a:t>Artificial Intelligence</a:t>
            </a:r>
            <a:r>
              <a:rPr lang="en-US" sz="2800" dirty="0">
                <a:solidFill>
                  <a:schemeClr val="tx1">
                    <a:lumMod val="95000"/>
                    <a:lumOff val="5000"/>
                  </a:schemeClr>
                </a:solidFill>
                <a:highlight>
                  <a:srgbClr val="FFFF00"/>
                </a:highlight>
                <a:latin typeface="Aptos Display" panose="020B0004020202020204" pitchFamily="34" charset="0"/>
              </a:rPr>
              <a:t> </a:t>
            </a:r>
            <a:r>
              <a:rPr lang="en-US" sz="2800" dirty="0">
                <a:solidFill>
                  <a:schemeClr val="tx1">
                    <a:lumMod val="95000"/>
                    <a:lumOff val="5000"/>
                  </a:schemeClr>
                </a:solidFill>
                <a:latin typeface="Aptos Display" panose="020B0004020202020204" pitchFamily="34" charset="0"/>
              </a:rPr>
              <a:t>was coined at the Dartmouth Conference (Dartmouth college). By john </a:t>
            </a:r>
            <a:r>
              <a:rPr lang="en-US" sz="2800" dirty="0" err="1">
                <a:solidFill>
                  <a:schemeClr val="tx1">
                    <a:lumMod val="95000"/>
                    <a:lumOff val="5000"/>
                  </a:schemeClr>
                </a:solidFill>
                <a:latin typeface="Aptos Display" panose="020B0004020202020204" pitchFamily="34" charset="0"/>
              </a:rPr>
              <a:t>mcCarthy</a:t>
            </a:r>
            <a:endParaRPr lang="en-US" sz="2800" dirty="0">
              <a:solidFill>
                <a:schemeClr val="tx1">
                  <a:lumMod val="95000"/>
                  <a:lumOff val="5000"/>
                </a:schemeClr>
              </a:solidFill>
              <a:latin typeface="Aptos Display" panose="020B0004020202020204" pitchFamily="34" charset="0"/>
            </a:endParaRPr>
          </a:p>
          <a:p>
            <a:pPr>
              <a:buFont typeface="Arial" panose="020B0604020202020204" pitchFamily="34" charset="0"/>
              <a:buChar char="•"/>
            </a:pPr>
            <a:r>
              <a:rPr lang="en-US" sz="2800" b="1" dirty="0">
                <a:solidFill>
                  <a:schemeClr val="tx1">
                    <a:lumMod val="95000"/>
                    <a:lumOff val="5000"/>
                  </a:schemeClr>
                </a:solidFill>
                <a:latin typeface="Aptos Display" panose="020B0004020202020204" pitchFamily="34" charset="0"/>
              </a:rPr>
              <a:t>1960s–1970s:</a:t>
            </a:r>
            <a:r>
              <a:rPr lang="en-US" sz="2800" dirty="0">
                <a:solidFill>
                  <a:schemeClr val="tx1">
                    <a:lumMod val="95000"/>
                    <a:lumOff val="5000"/>
                  </a:schemeClr>
                </a:solidFill>
                <a:latin typeface="Aptos Display" panose="020B0004020202020204" pitchFamily="34" charset="0"/>
              </a:rPr>
              <a:t> Development of early AI programs such as </a:t>
            </a:r>
            <a:r>
              <a:rPr lang="en-US" sz="2800" dirty="0">
                <a:solidFill>
                  <a:schemeClr val="tx1">
                    <a:lumMod val="95000"/>
                    <a:lumOff val="5000"/>
                  </a:schemeClr>
                </a:solidFill>
                <a:highlight>
                  <a:srgbClr val="FFFF00"/>
                </a:highlight>
                <a:latin typeface="Aptos Display" panose="020B0004020202020204" pitchFamily="34" charset="0"/>
              </a:rPr>
              <a:t>ELIZA</a:t>
            </a:r>
            <a:r>
              <a:rPr lang="en-US" sz="2800" dirty="0">
                <a:solidFill>
                  <a:schemeClr val="tx1">
                    <a:lumMod val="95000"/>
                    <a:lumOff val="5000"/>
                  </a:schemeClr>
                </a:solidFill>
                <a:latin typeface="Aptos Display" panose="020B0004020202020204" pitchFamily="34" charset="0"/>
              </a:rPr>
              <a:t> (chatbot) and General Problem Solver.</a:t>
            </a:r>
          </a:p>
          <a:p>
            <a:pPr>
              <a:buFont typeface="Arial" panose="020B0604020202020204" pitchFamily="34" charset="0"/>
              <a:buChar char="•"/>
            </a:pPr>
            <a:r>
              <a:rPr lang="en-US" sz="2800" b="1" dirty="0">
                <a:solidFill>
                  <a:schemeClr val="tx1">
                    <a:lumMod val="95000"/>
                    <a:lumOff val="5000"/>
                  </a:schemeClr>
                </a:solidFill>
                <a:latin typeface="Aptos Display" panose="020B0004020202020204" pitchFamily="34" charset="0"/>
              </a:rPr>
              <a:t>1980s:</a:t>
            </a:r>
            <a:r>
              <a:rPr lang="en-US" sz="2800" dirty="0">
                <a:solidFill>
                  <a:schemeClr val="tx1">
                    <a:lumMod val="95000"/>
                    <a:lumOff val="5000"/>
                  </a:schemeClr>
                </a:solidFill>
                <a:latin typeface="Aptos Display" panose="020B0004020202020204" pitchFamily="34" charset="0"/>
              </a:rPr>
              <a:t> Rise of </a:t>
            </a:r>
            <a:r>
              <a:rPr lang="en-US" sz="2800" dirty="0">
                <a:solidFill>
                  <a:schemeClr val="tx1">
                    <a:lumMod val="95000"/>
                    <a:lumOff val="5000"/>
                  </a:schemeClr>
                </a:solidFill>
                <a:highlight>
                  <a:srgbClr val="FFFF00"/>
                </a:highlight>
                <a:latin typeface="Aptos Display" panose="020B0004020202020204" pitchFamily="34" charset="0"/>
              </a:rPr>
              <a:t>expert systems </a:t>
            </a:r>
            <a:r>
              <a:rPr lang="en-US" sz="2800" dirty="0">
                <a:solidFill>
                  <a:schemeClr val="tx1">
                    <a:lumMod val="95000"/>
                    <a:lumOff val="5000"/>
                  </a:schemeClr>
                </a:solidFill>
                <a:latin typeface="Aptos Display" panose="020B0004020202020204" pitchFamily="34" charset="0"/>
              </a:rPr>
              <a:t>and knowledge-based systems.</a:t>
            </a:r>
          </a:p>
          <a:p>
            <a:pPr>
              <a:buFont typeface="Arial" panose="020B0604020202020204" pitchFamily="34" charset="0"/>
              <a:buChar char="•"/>
            </a:pPr>
            <a:r>
              <a:rPr lang="en-US" sz="2800" b="1" dirty="0">
                <a:solidFill>
                  <a:schemeClr val="tx1">
                    <a:lumMod val="95000"/>
                    <a:lumOff val="5000"/>
                  </a:schemeClr>
                </a:solidFill>
                <a:latin typeface="Aptos Display" panose="020B0004020202020204" pitchFamily="34" charset="0"/>
              </a:rPr>
              <a:t>1990s–2000s:</a:t>
            </a:r>
            <a:r>
              <a:rPr lang="en-US" sz="2800" dirty="0">
                <a:solidFill>
                  <a:schemeClr val="tx1">
                    <a:lumMod val="95000"/>
                    <a:lumOff val="5000"/>
                  </a:schemeClr>
                </a:solidFill>
                <a:latin typeface="Aptos Display" panose="020B0004020202020204" pitchFamily="34" charset="0"/>
              </a:rPr>
              <a:t> Growth of </a:t>
            </a:r>
            <a:r>
              <a:rPr lang="en-US" sz="2800" dirty="0">
                <a:solidFill>
                  <a:schemeClr val="tx1">
                    <a:lumMod val="95000"/>
                    <a:lumOff val="5000"/>
                  </a:schemeClr>
                </a:solidFill>
                <a:highlight>
                  <a:srgbClr val="FFFF00"/>
                </a:highlight>
                <a:latin typeface="Aptos Display" panose="020B0004020202020204" pitchFamily="34" charset="0"/>
              </a:rPr>
              <a:t>machine learning </a:t>
            </a:r>
            <a:r>
              <a:rPr lang="en-US" sz="2800" dirty="0">
                <a:solidFill>
                  <a:schemeClr val="tx1">
                    <a:lumMod val="95000"/>
                    <a:lumOff val="5000"/>
                  </a:schemeClr>
                </a:solidFill>
                <a:latin typeface="Aptos Display" panose="020B0004020202020204" pitchFamily="34" charset="0"/>
              </a:rPr>
              <a:t>and data-driven approaches.</a:t>
            </a:r>
          </a:p>
          <a:p>
            <a:pPr>
              <a:buFont typeface="Arial" panose="020B0604020202020204" pitchFamily="34" charset="0"/>
              <a:buChar char="•"/>
            </a:pPr>
            <a:r>
              <a:rPr lang="en-US" sz="2800" b="1" dirty="0">
                <a:solidFill>
                  <a:schemeClr val="tx1">
                    <a:lumMod val="95000"/>
                    <a:lumOff val="5000"/>
                  </a:schemeClr>
                </a:solidFill>
                <a:latin typeface="Aptos Display" panose="020B0004020202020204" pitchFamily="34" charset="0"/>
              </a:rPr>
              <a:t>Recent Years:</a:t>
            </a:r>
            <a:r>
              <a:rPr lang="en-US" sz="2800" dirty="0">
                <a:solidFill>
                  <a:schemeClr val="tx1">
                    <a:lumMod val="95000"/>
                    <a:lumOff val="5000"/>
                  </a:schemeClr>
                </a:solidFill>
                <a:latin typeface="Aptos Display" panose="020B0004020202020204" pitchFamily="34" charset="0"/>
              </a:rPr>
              <a:t> Advances in </a:t>
            </a:r>
            <a:r>
              <a:rPr lang="en-US" sz="2800" dirty="0">
                <a:solidFill>
                  <a:schemeClr val="tx1">
                    <a:lumMod val="95000"/>
                    <a:lumOff val="5000"/>
                  </a:schemeClr>
                </a:solidFill>
                <a:highlight>
                  <a:srgbClr val="FFFF00"/>
                </a:highlight>
                <a:latin typeface="Aptos Display" panose="020B0004020202020204" pitchFamily="34" charset="0"/>
              </a:rPr>
              <a:t>deep learning (NN)</a:t>
            </a:r>
            <a:r>
              <a:rPr lang="en-US" sz="2800" dirty="0">
                <a:solidFill>
                  <a:schemeClr val="tx1">
                    <a:lumMod val="95000"/>
                    <a:lumOff val="5000"/>
                  </a:schemeClr>
                </a:solidFill>
                <a:latin typeface="Aptos Display" panose="020B0004020202020204" pitchFamily="34" charset="0"/>
              </a:rPr>
              <a:t>, natural language processing, and generative AI.</a:t>
            </a:r>
          </a:p>
        </p:txBody>
      </p:sp>
    </p:spTree>
    <p:extLst>
      <p:ext uri="{BB962C8B-B14F-4D97-AF65-F5344CB8AC3E}">
        <p14:creationId xmlns:p14="http://schemas.microsoft.com/office/powerpoint/2010/main" val="38977936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istory of AI - GeeksforGeeks">
            <a:extLst>
              <a:ext uri="{FF2B5EF4-FFF2-40B4-BE49-F238E27FC236}">
                <a16:creationId xmlns:a16="http://schemas.microsoft.com/office/drawing/2014/main" id="{F2661BC3-6CF8-901B-0930-51D7EAB86C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30" t="3688" r="7507" b="3972"/>
          <a:stretch/>
        </p:blipFill>
        <p:spPr bwMode="auto">
          <a:xfrm>
            <a:off x="2500009" y="447472"/>
            <a:ext cx="7976680" cy="6332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263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9ED62-A6C4-08F8-2BFB-C462B8982091}"/>
              </a:ext>
            </a:extLst>
          </p:cNvPr>
          <p:cNvSpPr>
            <a:spLocks noGrp="1"/>
          </p:cNvSpPr>
          <p:nvPr>
            <p:ph type="title"/>
          </p:nvPr>
        </p:nvSpPr>
        <p:spPr>
          <a:xfrm>
            <a:off x="3450078" y="1169129"/>
            <a:ext cx="6656963" cy="1293028"/>
          </a:xfrm>
        </p:spPr>
        <p:txBody>
          <a:bodyPr>
            <a:normAutofit/>
          </a:bodyPr>
          <a:lstStyle/>
          <a:p>
            <a:r>
              <a:rPr lang="en-US" sz="4400" b="1" cap="none" dirty="0">
                <a:latin typeface="Aptos Display" panose="020B0004020202020204" pitchFamily="34" charset="0"/>
              </a:rPr>
              <a:t>Assignment</a:t>
            </a:r>
          </a:p>
        </p:txBody>
      </p:sp>
      <p:sp>
        <p:nvSpPr>
          <p:cNvPr id="3" name="Content Placeholder 2">
            <a:extLst>
              <a:ext uri="{FF2B5EF4-FFF2-40B4-BE49-F238E27FC236}">
                <a16:creationId xmlns:a16="http://schemas.microsoft.com/office/drawing/2014/main" id="{096EE924-A32F-7DEE-579D-50A0BF46C96D}"/>
              </a:ext>
            </a:extLst>
          </p:cNvPr>
          <p:cNvSpPr>
            <a:spLocks noGrp="1"/>
          </p:cNvSpPr>
          <p:nvPr>
            <p:ph sz="quarter" idx="13"/>
          </p:nvPr>
        </p:nvSpPr>
        <p:spPr>
          <a:xfrm>
            <a:off x="666347" y="3088017"/>
            <a:ext cx="9985441" cy="2320100"/>
          </a:xfrm>
        </p:spPr>
        <p:txBody>
          <a:bodyPr>
            <a:normAutofit/>
          </a:bodyPr>
          <a:lstStyle/>
          <a:p>
            <a:pPr marL="457200" indent="-457200" eaLnBrk="1" hangingPunct="1">
              <a:spcBef>
                <a:spcPct val="0"/>
              </a:spcBef>
              <a:buClrTx/>
              <a:buSzTx/>
              <a:buFont typeface="+mj-lt"/>
              <a:buAutoNum type="arabicPeriod"/>
            </a:pPr>
            <a:r>
              <a:rPr lang="en-US" altLang="en-US" sz="2400" dirty="0">
                <a:latin typeface="Aptos" panose="020B0004020202020204" pitchFamily="34" charset="0"/>
              </a:rPr>
              <a:t>Exploring Different Types of AI Agents with PEAS Examples</a:t>
            </a:r>
          </a:p>
          <a:p>
            <a:pPr marL="457200" indent="-457200" eaLnBrk="1" hangingPunct="1">
              <a:spcBef>
                <a:spcPct val="0"/>
              </a:spcBef>
              <a:buClrTx/>
              <a:buSzTx/>
              <a:buFont typeface="+mj-lt"/>
              <a:buAutoNum type="arabicPeriod"/>
            </a:pPr>
            <a:r>
              <a:rPr lang="en-US" altLang="en-US" sz="2400" dirty="0">
                <a:latin typeface="Aptos" panose="020B0004020202020204" pitchFamily="34" charset="0"/>
              </a:rPr>
              <a:t>PEAS Table Challenge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sz="2400" dirty="0">
                <a:latin typeface="Aptos" panose="020B0004020202020204" pitchFamily="34" charset="0"/>
              </a:rPr>
              <a:t>Weak AI or Strong AI? </a:t>
            </a:r>
            <a:r>
              <a:rPr kumimoji="0" lang="en-US" altLang="en-US" sz="2400" b="0" i="0" u="none" strike="noStrike" cap="none" normalizeH="0" baseline="0" dirty="0">
                <a:ln>
                  <a:noFill/>
                </a:ln>
                <a:solidFill>
                  <a:schemeClr val="tx1"/>
                </a:solidFill>
                <a:effectLst/>
                <a:latin typeface="Arial" panose="020B0604020202020204" pitchFamily="34" charset="0"/>
              </a:rPr>
              <a:t>Siri, Calculator</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Chess AI, Self-driving car</a:t>
            </a:r>
            <a:r>
              <a:rPr lang="en-US" altLang="en-US" sz="2400" dirty="0">
                <a:latin typeface="Aptos" panose="020B0004020202020204" pitchFamily="34" charset="0"/>
              </a:rPr>
              <a:t> </a:t>
            </a:r>
          </a:p>
        </p:txBody>
      </p:sp>
      <p:graphicFrame>
        <p:nvGraphicFramePr>
          <p:cNvPr id="4" name="Table 3">
            <a:extLst>
              <a:ext uri="{FF2B5EF4-FFF2-40B4-BE49-F238E27FC236}">
                <a16:creationId xmlns:a16="http://schemas.microsoft.com/office/drawing/2014/main" id="{ED7BDD73-23E7-5096-31CE-91F7348CD495}"/>
              </a:ext>
            </a:extLst>
          </p:cNvPr>
          <p:cNvGraphicFramePr>
            <a:graphicFrameLocks noGrp="1"/>
          </p:cNvGraphicFramePr>
          <p:nvPr>
            <p:extLst>
              <p:ext uri="{D42A27DB-BD31-4B8C-83A1-F6EECF244321}">
                <p14:modId xmlns:p14="http://schemas.microsoft.com/office/powerpoint/2010/main" val="2787408869"/>
              </p:ext>
            </p:extLst>
          </p:nvPr>
        </p:nvGraphicFramePr>
        <p:xfrm>
          <a:off x="4264769" y="3429000"/>
          <a:ext cx="4479585" cy="365760"/>
        </p:xfrm>
        <a:graphic>
          <a:graphicData uri="http://schemas.openxmlformats.org/drawingml/2006/table">
            <a:tbl>
              <a:tblPr/>
              <a:tblGrid>
                <a:gridCol w="1094360">
                  <a:extLst>
                    <a:ext uri="{9D8B030D-6E8A-4147-A177-3AD203B41FA5}">
                      <a16:colId xmlns:a16="http://schemas.microsoft.com/office/drawing/2014/main" val="1234190363"/>
                    </a:ext>
                  </a:extLst>
                </a:gridCol>
                <a:gridCol w="1128408">
                  <a:extLst>
                    <a:ext uri="{9D8B030D-6E8A-4147-A177-3AD203B41FA5}">
                      <a16:colId xmlns:a16="http://schemas.microsoft.com/office/drawing/2014/main" val="870757383"/>
                    </a:ext>
                  </a:extLst>
                </a:gridCol>
                <a:gridCol w="1322962">
                  <a:extLst>
                    <a:ext uri="{9D8B030D-6E8A-4147-A177-3AD203B41FA5}">
                      <a16:colId xmlns:a16="http://schemas.microsoft.com/office/drawing/2014/main" val="1241776172"/>
                    </a:ext>
                  </a:extLst>
                </a:gridCol>
                <a:gridCol w="933855">
                  <a:extLst>
                    <a:ext uri="{9D8B030D-6E8A-4147-A177-3AD203B41FA5}">
                      <a16:colId xmlns:a16="http://schemas.microsoft.com/office/drawing/2014/main" val="185982594"/>
                    </a:ext>
                  </a:extLst>
                </a:gridCol>
              </a:tblGrid>
              <a:tr h="0">
                <a:tc>
                  <a:txBody>
                    <a:bodyPr/>
                    <a:lstStyle/>
                    <a:p>
                      <a:r>
                        <a:rPr lang="en-US" dirty="0"/>
                        <a:t>P</a:t>
                      </a:r>
                    </a:p>
                  </a:txBody>
                  <a:tcPr anchor="ctr">
                    <a:lnL>
                      <a:noFill/>
                    </a:lnL>
                    <a:lnR>
                      <a:noFill/>
                    </a:lnR>
                    <a:lnT>
                      <a:noFill/>
                    </a:lnT>
                    <a:lnB>
                      <a:noFill/>
                    </a:lnB>
                    <a:noFill/>
                  </a:tcPr>
                </a:tc>
                <a:tc>
                  <a:txBody>
                    <a:bodyPr/>
                    <a:lstStyle/>
                    <a:p>
                      <a:r>
                        <a:rPr lang="en-US"/>
                        <a:t>E</a:t>
                      </a:r>
                    </a:p>
                  </a:txBody>
                  <a:tcPr anchor="ctr">
                    <a:lnL>
                      <a:noFill/>
                    </a:lnL>
                    <a:lnR>
                      <a:noFill/>
                    </a:lnR>
                    <a:lnT>
                      <a:noFill/>
                    </a:lnT>
                    <a:lnB>
                      <a:noFill/>
                    </a:lnB>
                    <a:noFill/>
                  </a:tcPr>
                </a:tc>
                <a:tc>
                  <a:txBody>
                    <a:bodyPr/>
                    <a:lstStyle/>
                    <a:p>
                      <a:r>
                        <a:rPr lang="en-US" dirty="0"/>
                        <a:t>A</a:t>
                      </a:r>
                    </a:p>
                  </a:txBody>
                  <a:tcPr anchor="ctr">
                    <a:lnL>
                      <a:noFill/>
                    </a:lnL>
                    <a:lnR>
                      <a:noFill/>
                    </a:lnR>
                    <a:lnT>
                      <a:noFill/>
                    </a:lnT>
                    <a:lnB>
                      <a:noFill/>
                    </a:lnB>
                    <a:noFill/>
                  </a:tcPr>
                </a:tc>
                <a:tc>
                  <a:txBody>
                    <a:bodyPr/>
                    <a:lstStyle/>
                    <a:p>
                      <a:r>
                        <a:rPr lang="en-US" dirty="0"/>
                        <a:t>S</a:t>
                      </a:r>
                    </a:p>
                  </a:txBody>
                  <a:tcPr anchor="ctr">
                    <a:lnL>
                      <a:noFill/>
                    </a:lnL>
                    <a:lnR>
                      <a:noFill/>
                    </a:lnR>
                    <a:lnT>
                      <a:noFill/>
                    </a:lnT>
                    <a:lnB>
                      <a:noFill/>
                    </a:lnB>
                    <a:noFill/>
                  </a:tcPr>
                </a:tc>
                <a:extLst>
                  <a:ext uri="{0D108BD9-81ED-4DB2-BD59-A6C34878D82A}">
                    <a16:rowId xmlns:a16="http://schemas.microsoft.com/office/drawing/2014/main" val="1452257949"/>
                  </a:ext>
                </a:extLst>
              </a:tr>
            </a:tbl>
          </a:graphicData>
        </a:graphic>
      </p:graphicFrame>
    </p:spTree>
    <p:extLst>
      <p:ext uri="{BB962C8B-B14F-4D97-AF65-F5344CB8AC3E}">
        <p14:creationId xmlns:p14="http://schemas.microsoft.com/office/powerpoint/2010/main" val="2907613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4011-0A70-1A01-9F13-E55DA0199092}"/>
              </a:ext>
            </a:extLst>
          </p:cNvPr>
          <p:cNvSpPr>
            <a:spLocks noGrp="1"/>
          </p:cNvSpPr>
          <p:nvPr>
            <p:ph type="title"/>
          </p:nvPr>
        </p:nvSpPr>
        <p:spPr>
          <a:xfrm>
            <a:off x="1790700" y="3137923"/>
            <a:ext cx="8610600" cy="1293028"/>
          </a:xfrm>
        </p:spPr>
        <p:txBody>
          <a:bodyPr/>
          <a:lstStyle/>
          <a:p>
            <a:pPr algn="ctr"/>
            <a:r>
              <a:rPr lang="en-US" b="1" cap="none" dirty="0"/>
              <a:t>Thank You </a:t>
            </a:r>
            <a:r>
              <a:rPr lang="en-US" b="1" cap="none" dirty="0">
                <a:sym typeface="Wingdings" panose="05000000000000000000" pitchFamily="2" charset="2"/>
              </a:rPr>
              <a:t></a:t>
            </a:r>
            <a:endParaRPr lang="en-US" b="1" cap="none" dirty="0"/>
          </a:p>
        </p:txBody>
      </p:sp>
    </p:spTree>
    <p:extLst>
      <p:ext uri="{BB962C8B-B14F-4D97-AF65-F5344CB8AC3E}">
        <p14:creationId xmlns:p14="http://schemas.microsoft.com/office/powerpoint/2010/main" val="264901922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690</TotalTime>
  <Words>3626</Words>
  <Application>Microsoft Office PowerPoint</Application>
  <PresentationFormat>Widescreen</PresentationFormat>
  <Paragraphs>332</Paragraphs>
  <Slides>51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Aptos Display</vt:lpstr>
      <vt:lpstr>Arial</vt:lpstr>
      <vt:lpstr>Century Gothic</vt:lpstr>
      <vt:lpstr>Wingdings</vt:lpstr>
      <vt:lpstr>Vapor Trail</vt:lpstr>
      <vt:lpstr>Introduction to Artificial Intelligence (AI)</vt:lpstr>
      <vt:lpstr>What is Intelligence?</vt:lpstr>
      <vt:lpstr>PowerPoint Presentation</vt:lpstr>
      <vt:lpstr>What is Artificial Intelligence?</vt:lpstr>
      <vt:lpstr>What is Artificial Intelligence?</vt:lpstr>
      <vt:lpstr>What is Artificial Intelligence?</vt:lpstr>
      <vt:lpstr>What is Artificial Intelligence?</vt:lpstr>
      <vt:lpstr>What is Artificial Intelligence?</vt:lpstr>
      <vt:lpstr>Acting humanly: Turing test</vt:lpstr>
      <vt:lpstr>Thinking humanly: cognitive modeling</vt:lpstr>
      <vt:lpstr>Thinking rationally: "laws of thought"</vt:lpstr>
      <vt:lpstr>Acting rationally: rational agent</vt:lpstr>
      <vt:lpstr>Schools of Thought</vt:lpstr>
      <vt:lpstr>Schools of Thought</vt:lpstr>
      <vt:lpstr>Schools of Thought</vt:lpstr>
      <vt:lpstr>Agents in AI</vt:lpstr>
      <vt:lpstr>PowerPoint Presentation</vt:lpstr>
      <vt:lpstr>Agents in AI</vt:lpstr>
      <vt:lpstr>Agents in AI</vt:lpstr>
      <vt:lpstr>Agents in AI</vt:lpstr>
      <vt:lpstr>Agents in AI</vt:lpstr>
      <vt:lpstr>Environment in AI</vt:lpstr>
      <vt:lpstr>Environment in AI</vt:lpstr>
      <vt:lpstr>Types of environments</vt:lpstr>
      <vt:lpstr>Types of environments</vt:lpstr>
      <vt:lpstr>Types of environments</vt:lpstr>
      <vt:lpstr>Types of environments</vt:lpstr>
      <vt:lpstr>Types of environments</vt:lpstr>
      <vt:lpstr>Types of environments</vt:lpstr>
      <vt:lpstr>Types of environments</vt:lpstr>
      <vt:lpstr>PEAS Description of an Agent</vt:lpstr>
      <vt:lpstr>Types of Agents in AI</vt:lpstr>
      <vt:lpstr>PowerPoint Presentation</vt:lpstr>
      <vt:lpstr>Types of Agents in AI</vt:lpstr>
      <vt:lpstr>Types of Agents in AI</vt:lpstr>
      <vt:lpstr>Types of Agents in AI</vt:lpstr>
      <vt:lpstr>Types of Agents in AI</vt:lpstr>
      <vt:lpstr>Types of Agents in AI</vt:lpstr>
      <vt:lpstr>Types of Agents in AI</vt:lpstr>
      <vt:lpstr>Types of Agents in AI</vt:lpstr>
      <vt:lpstr>Types of Agents in AI</vt:lpstr>
      <vt:lpstr>Types of Agents in AI</vt:lpstr>
      <vt:lpstr>Types of Agents in AI</vt:lpstr>
      <vt:lpstr>Types of Agents in AI</vt:lpstr>
      <vt:lpstr>Types of Agents in AI</vt:lpstr>
      <vt:lpstr>Agents in AI</vt:lpstr>
      <vt:lpstr>Using artificial intelligence in real life</vt:lpstr>
      <vt:lpstr>History and evolution of AI</vt:lpstr>
      <vt:lpstr>PowerPoint Presentation</vt:lpstr>
      <vt:lpstr>Assignment</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umme aeman</dc:creator>
  <cp:lastModifiedBy>umme aeman</cp:lastModifiedBy>
  <cp:revision>159</cp:revision>
  <dcterms:created xsi:type="dcterms:W3CDTF">2026-01-23T10:38:02Z</dcterms:created>
  <dcterms:modified xsi:type="dcterms:W3CDTF">2026-02-18T06:56:15Z</dcterms:modified>
</cp:coreProperties>
</file>